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31"/>
  </p:notesMasterIdLst>
  <p:handoutMasterIdLst>
    <p:handoutMasterId r:id="rId32"/>
  </p:handoutMasterIdLst>
  <p:sldIdLst>
    <p:sldId id="256" r:id="rId8"/>
    <p:sldId id="257" r:id="rId9"/>
    <p:sldId id="258" r:id="rId10"/>
    <p:sldId id="272" r:id="rId11"/>
    <p:sldId id="274" r:id="rId12"/>
    <p:sldId id="273" r:id="rId13"/>
    <p:sldId id="275" r:id="rId14"/>
    <p:sldId id="276" r:id="rId15"/>
    <p:sldId id="279" r:id="rId16"/>
    <p:sldId id="280" r:id="rId17"/>
    <p:sldId id="281" r:id="rId18"/>
    <p:sldId id="283" r:id="rId19"/>
    <p:sldId id="284" r:id="rId20"/>
    <p:sldId id="285" r:id="rId21"/>
    <p:sldId id="282" r:id="rId22"/>
    <p:sldId id="277" r:id="rId23"/>
    <p:sldId id="278" r:id="rId24"/>
    <p:sldId id="286" r:id="rId25"/>
    <p:sldId id="287" r:id="rId26"/>
    <p:sldId id="288" r:id="rId27"/>
    <p:sldId id="289" r:id="rId28"/>
    <p:sldId id="290" r:id="rId29"/>
    <p:sldId id="291" r:id="rId30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83E"/>
    <a:srgbClr val="2CA02C"/>
    <a:srgbClr val="0000FF"/>
    <a:srgbClr val="1F77B4"/>
    <a:srgbClr val="FF7F0E"/>
    <a:srgbClr val="4F81BD"/>
    <a:srgbClr val="FF0000"/>
    <a:srgbClr val="019901"/>
    <a:srgbClr val="E7D4E6"/>
    <a:srgbClr val="8EB4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02" autoAdjust="0"/>
    <p:restoredTop sz="96501" autoAdjust="0"/>
  </p:normalViewPr>
  <p:slideViewPr>
    <p:cSldViewPr>
      <p:cViewPr varScale="1">
        <p:scale>
          <a:sx n="117" d="100"/>
          <a:sy n="117" d="100"/>
        </p:scale>
        <p:origin x="2040" y="86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34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handoutMaster" Target="handoutMasters/handout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tableStyles" Target="tableStyle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theme" Target="theme/theme1.xml"/><Relationship Id="rId8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OMPUTER\Desktop\project2\noise\noise_data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OMPUTER\Desktop\project2\noise\noise_data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OMPUTER\Desktop\project2\noise\noise_data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OMPUTER\Desktop\project2\noise\noise_data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altLang="zh-TW">
                <a:solidFill>
                  <a:schemeClr val="tx1"/>
                </a:solidFill>
              </a:rPr>
              <a:t>Noise</a:t>
            </a:r>
            <a:r>
              <a:rPr lang="en-US" altLang="zh-TW" baseline="0">
                <a:solidFill>
                  <a:schemeClr val="tx1"/>
                </a:solidFill>
              </a:rPr>
              <a:t>-Aware Training (MNIST)</a:t>
            </a:r>
            <a:endParaRPr lang="zh-TW" altLang="en-US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0.17717974564967265"/>
          <c:y val="4.7161478903987178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2548381452318461"/>
          <c:y val="0.17171296296296296"/>
          <c:w val="0.81665376202974627"/>
          <c:h val="0.5867804541500436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Sheet1!$A$69</c:f>
              <c:strCache>
                <c:ptCount val="1"/>
                <c:pt idx="0">
                  <c:v>Baseline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Sheet1!$B$53:$L$53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Sheet1!$B$69:$L$69</c:f>
              <c:numCache>
                <c:formatCode>General</c:formatCode>
                <c:ptCount val="11"/>
                <c:pt idx="0">
                  <c:v>94.37</c:v>
                </c:pt>
                <c:pt idx="1">
                  <c:v>93.51</c:v>
                </c:pt>
                <c:pt idx="2">
                  <c:v>92.54</c:v>
                </c:pt>
                <c:pt idx="3">
                  <c:v>91.3</c:v>
                </c:pt>
                <c:pt idx="4">
                  <c:v>89.92</c:v>
                </c:pt>
                <c:pt idx="5">
                  <c:v>88.44</c:v>
                </c:pt>
                <c:pt idx="6">
                  <c:v>86.86</c:v>
                </c:pt>
                <c:pt idx="7">
                  <c:v>85.09</c:v>
                </c:pt>
                <c:pt idx="8">
                  <c:v>83.26</c:v>
                </c:pt>
                <c:pt idx="9">
                  <c:v>81.42</c:v>
                </c:pt>
                <c:pt idx="10">
                  <c:v>79.569999999999993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CE2-49C2-B001-B9B6CE2EEAB7}"/>
            </c:ext>
          </c:extLst>
        </c:ser>
        <c:ser>
          <c:idx val="1"/>
          <c:order val="1"/>
          <c:tx>
            <c:strRef>
              <c:f>Sheet1!$A$70</c:f>
              <c:strCache>
                <c:ptCount val="1"/>
                <c:pt idx="0">
                  <c:v>Noise Aware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Sheet1!$B$53:$L$53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Sheet1!$B$70:$L$70</c:f>
              <c:numCache>
                <c:formatCode>General</c:formatCode>
                <c:ptCount val="11"/>
                <c:pt idx="0">
                  <c:v>89.04</c:v>
                </c:pt>
                <c:pt idx="1">
                  <c:v>89.18</c:v>
                </c:pt>
                <c:pt idx="2">
                  <c:v>89.09</c:v>
                </c:pt>
                <c:pt idx="3">
                  <c:v>89.17</c:v>
                </c:pt>
                <c:pt idx="4">
                  <c:v>89.16</c:v>
                </c:pt>
                <c:pt idx="5">
                  <c:v>89.14</c:v>
                </c:pt>
                <c:pt idx="6">
                  <c:v>89.09</c:v>
                </c:pt>
                <c:pt idx="7">
                  <c:v>89.1</c:v>
                </c:pt>
                <c:pt idx="8">
                  <c:v>89.09</c:v>
                </c:pt>
                <c:pt idx="9">
                  <c:v>89.11</c:v>
                </c:pt>
                <c:pt idx="10">
                  <c:v>89.13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CE2-49C2-B001-B9B6CE2EEAB7}"/>
            </c:ext>
          </c:extLst>
        </c:ser>
        <c:ser>
          <c:idx val="2"/>
          <c:order val="2"/>
          <c:tx>
            <c:strRef>
              <c:f>Sheet1!$A$71</c:f>
              <c:strCache>
                <c:ptCount val="1"/>
                <c:pt idx="0">
                  <c:v>Bayesian NN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Sheet1!$B$53:$L$53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Sheet1!$B$71:$L$71</c:f>
              <c:numCache>
                <c:formatCode>General</c:formatCode>
                <c:ptCount val="11"/>
                <c:pt idx="0">
                  <c:v>90.7</c:v>
                </c:pt>
                <c:pt idx="1">
                  <c:v>90.92</c:v>
                </c:pt>
                <c:pt idx="2">
                  <c:v>91.02</c:v>
                </c:pt>
                <c:pt idx="3">
                  <c:v>90.97</c:v>
                </c:pt>
                <c:pt idx="4">
                  <c:v>90.99</c:v>
                </c:pt>
                <c:pt idx="5">
                  <c:v>90.98</c:v>
                </c:pt>
                <c:pt idx="6">
                  <c:v>90.93</c:v>
                </c:pt>
                <c:pt idx="7">
                  <c:v>90.88</c:v>
                </c:pt>
                <c:pt idx="8">
                  <c:v>90.83</c:v>
                </c:pt>
                <c:pt idx="9">
                  <c:v>90.79</c:v>
                </c:pt>
                <c:pt idx="10">
                  <c:v>90.76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7CE2-49C2-B001-B9B6CE2EEA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61947296"/>
        <c:axId val="561947776"/>
      </c:scatterChart>
      <c:valAx>
        <c:axId val="561947296"/>
        <c:scaling>
          <c:orientation val="minMax"/>
          <c:max val="1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STDEV</a:t>
                </a:r>
                <a:r>
                  <a:rPr lang="zh-TW" altLang="en-US" b="1"/>
                  <a:t> </a:t>
                </a:r>
                <a:r>
                  <a:rPr lang="en-US" altLang="zh-TW" b="1"/>
                  <a:t>of Noise</a:t>
                </a:r>
                <a:endParaRPr lang="zh-TW" alt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561947776"/>
        <c:crosses val="autoZero"/>
        <c:crossBetween val="midCat"/>
      </c:valAx>
      <c:valAx>
        <c:axId val="561947776"/>
        <c:scaling>
          <c:orientation val="minMax"/>
          <c:min val="78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Accuracy</a:t>
                </a:r>
                <a:endParaRPr lang="zh-TW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56194729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5040602698057726"/>
          <c:y val="0.50533496870899752"/>
          <c:w val="0.34179803804995479"/>
          <c:h val="0.23437664041994752"/>
        </c:manualLayout>
      </c:layout>
      <c:overlay val="0"/>
      <c:spPr>
        <a:noFill/>
        <a:ln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altLang="zh-TW">
                <a:solidFill>
                  <a:schemeClr val="tx1"/>
                </a:solidFill>
              </a:rPr>
              <a:t>Noise</a:t>
            </a:r>
            <a:r>
              <a:rPr lang="en-US" altLang="zh-TW" baseline="0">
                <a:solidFill>
                  <a:schemeClr val="tx1"/>
                </a:solidFill>
              </a:rPr>
              <a:t>-Aware Training (Omniglot)</a:t>
            </a:r>
            <a:endParaRPr lang="zh-TW" altLang="en-US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0.15584758701592544"/>
          <c:y val="5.4038470191351091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2548381452318461"/>
          <c:y val="0.17171296296296296"/>
          <c:w val="0.81665376202974627"/>
          <c:h val="0.58678012819693837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Sheet1!$A$64</c:f>
              <c:strCache>
                <c:ptCount val="1"/>
                <c:pt idx="0">
                  <c:v>Baseline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Sheet1!$B$53:$L$53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Sheet1!$B$64:$L$64</c:f>
              <c:numCache>
                <c:formatCode>General</c:formatCode>
                <c:ptCount val="11"/>
                <c:pt idx="0">
                  <c:v>89.24</c:v>
                </c:pt>
                <c:pt idx="1">
                  <c:v>87.55</c:v>
                </c:pt>
                <c:pt idx="2">
                  <c:v>85.72</c:v>
                </c:pt>
                <c:pt idx="3">
                  <c:v>84.05</c:v>
                </c:pt>
                <c:pt idx="4">
                  <c:v>82.36</c:v>
                </c:pt>
                <c:pt idx="5">
                  <c:v>80.75</c:v>
                </c:pt>
                <c:pt idx="6">
                  <c:v>79.23</c:v>
                </c:pt>
                <c:pt idx="7">
                  <c:v>77.69</c:v>
                </c:pt>
                <c:pt idx="8">
                  <c:v>76.16</c:v>
                </c:pt>
                <c:pt idx="9">
                  <c:v>74.69</c:v>
                </c:pt>
                <c:pt idx="10">
                  <c:v>73.319999999999993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2AF-4A43-A71F-27CE3F7892B2}"/>
            </c:ext>
          </c:extLst>
        </c:ser>
        <c:ser>
          <c:idx val="1"/>
          <c:order val="1"/>
          <c:tx>
            <c:strRef>
              <c:f>Sheet1!$A$65</c:f>
              <c:strCache>
                <c:ptCount val="1"/>
                <c:pt idx="0">
                  <c:v>Noise Aware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Sheet1!$B$53:$L$53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Sheet1!$B$65:$L$65</c:f>
              <c:numCache>
                <c:formatCode>General</c:formatCode>
                <c:ptCount val="11"/>
                <c:pt idx="0">
                  <c:v>86.74</c:v>
                </c:pt>
                <c:pt idx="1">
                  <c:v>86.69</c:v>
                </c:pt>
                <c:pt idx="2">
                  <c:v>86.76</c:v>
                </c:pt>
                <c:pt idx="3">
                  <c:v>86.75</c:v>
                </c:pt>
                <c:pt idx="4">
                  <c:v>86.72</c:v>
                </c:pt>
                <c:pt idx="5">
                  <c:v>86.69</c:v>
                </c:pt>
                <c:pt idx="6">
                  <c:v>86.69</c:v>
                </c:pt>
                <c:pt idx="7">
                  <c:v>86.69</c:v>
                </c:pt>
                <c:pt idx="8">
                  <c:v>86.7</c:v>
                </c:pt>
                <c:pt idx="9">
                  <c:v>86.73</c:v>
                </c:pt>
                <c:pt idx="10">
                  <c:v>86.72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2AF-4A43-A71F-27CE3F7892B2}"/>
            </c:ext>
          </c:extLst>
        </c:ser>
        <c:ser>
          <c:idx val="2"/>
          <c:order val="2"/>
          <c:tx>
            <c:strRef>
              <c:f>Sheet1!$A$66</c:f>
              <c:strCache>
                <c:ptCount val="1"/>
                <c:pt idx="0">
                  <c:v>Bayesian NN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Sheet1!$B$53:$L$53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Sheet1!$B$66:$L$66</c:f>
              <c:numCache>
                <c:formatCode>General</c:formatCode>
                <c:ptCount val="11"/>
                <c:pt idx="0">
                  <c:v>84.29</c:v>
                </c:pt>
                <c:pt idx="1">
                  <c:v>84.3</c:v>
                </c:pt>
                <c:pt idx="2">
                  <c:v>84.22</c:v>
                </c:pt>
                <c:pt idx="3">
                  <c:v>84.23</c:v>
                </c:pt>
                <c:pt idx="4">
                  <c:v>84.23</c:v>
                </c:pt>
                <c:pt idx="5">
                  <c:v>84.21</c:v>
                </c:pt>
                <c:pt idx="6">
                  <c:v>84.16</c:v>
                </c:pt>
                <c:pt idx="7">
                  <c:v>84.06</c:v>
                </c:pt>
                <c:pt idx="8">
                  <c:v>84.07</c:v>
                </c:pt>
                <c:pt idx="9">
                  <c:v>84.03</c:v>
                </c:pt>
                <c:pt idx="10">
                  <c:v>84.04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72AF-4A43-A71F-27CE3F7892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61947296"/>
        <c:axId val="561947776"/>
      </c:scatterChart>
      <c:valAx>
        <c:axId val="561947296"/>
        <c:scaling>
          <c:orientation val="minMax"/>
          <c:max val="1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/>
                  <a:t>STDEV</a:t>
                </a:r>
                <a:r>
                  <a:rPr lang="zh-TW" altLang="en-US"/>
                  <a:t> </a:t>
                </a:r>
                <a:r>
                  <a:rPr lang="en-US" altLang="zh-TW"/>
                  <a:t>of Noise</a:t>
                </a:r>
                <a:endParaRPr lang="zh-TW" altLang="en-US"/>
              </a:p>
            </c:rich>
          </c:tx>
          <c:layout>
            <c:manualLayout>
              <c:xMode val="edge"/>
              <c:yMode val="edge"/>
              <c:x val="0.40313605132665492"/>
              <c:y val="0.8934435525682331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561947776"/>
        <c:crosses val="autoZero"/>
        <c:crossBetween val="midCat"/>
      </c:valAx>
      <c:valAx>
        <c:axId val="561947776"/>
        <c:scaling>
          <c:orientation val="minMax"/>
          <c:max val="90"/>
          <c:min val="7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Accuracy</a:t>
                </a:r>
                <a:endParaRPr lang="zh-TW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56194729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3412636273458489"/>
          <c:y val="0.48654065467206675"/>
          <c:w val="0.28093197725284341"/>
          <c:h val="0.23437664041994752"/>
        </c:manualLayout>
      </c:layout>
      <c:overlay val="0"/>
      <c:spPr>
        <a:noFill/>
        <a:ln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ysClr val="windowText" lastClr="000000"/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altLang="zh-TW" dirty="0">
                <a:solidFill>
                  <a:schemeClr val="tx1"/>
                </a:solidFill>
              </a:rPr>
              <a:t>Effect</a:t>
            </a:r>
            <a:r>
              <a:rPr lang="en-US" altLang="zh-TW" baseline="0" dirty="0">
                <a:solidFill>
                  <a:schemeClr val="tx1"/>
                </a:solidFill>
              </a:rPr>
              <a:t> of Different </a:t>
            </a:r>
            <a:r>
              <a:rPr lang="en-US" altLang="zh-TW" dirty="0">
                <a:solidFill>
                  <a:schemeClr val="tx1"/>
                </a:solidFill>
              </a:rPr>
              <a:t>Noise STDEV</a:t>
            </a:r>
            <a:endParaRPr lang="zh-TW" altLang="en-US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0.19344622843560014"/>
          <c:y val="6.385631825586773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3575840845120604"/>
          <c:y val="0.16688272049979469"/>
          <c:w val="0.83581964584743651"/>
          <c:h val="0.6546396006106367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Sheet1!$P$1</c:f>
              <c:strCache>
                <c:ptCount val="1"/>
                <c:pt idx="0">
                  <c:v>σ 0.00</c:v>
                </c:pt>
              </c:strCache>
            </c:strRef>
          </c:tx>
          <c:spPr>
            <a:ln w="19050" cap="rnd">
              <a:solidFill>
                <a:schemeClr val="accent2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  <a:lumOff val="40000"/>
                </a:schemeClr>
              </a:solidFill>
              <a:ln w="9525">
                <a:solidFill>
                  <a:schemeClr val="accent2">
                    <a:lumMod val="60000"/>
                    <a:lumOff val="40000"/>
                  </a:schemeClr>
                </a:solidFill>
              </a:ln>
              <a:effectLst/>
            </c:spPr>
          </c:marker>
          <c:xVal>
            <c:numRef>
              <c:f>Sheet1!$O$2:$O$12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Sheet1!$P$2:$P$12</c:f>
              <c:numCache>
                <c:formatCode>General</c:formatCode>
                <c:ptCount val="11"/>
                <c:pt idx="0">
                  <c:v>82.78</c:v>
                </c:pt>
                <c:pt idx="1">
                  <c:v>79.92</c:v>
                </c:pt>
                <c:pt idx="2">
                  <c:v>76.599999999999994</c:v>
                </c:pt>
                <c:pt idx="3">
                  <c:v>73.489999999999995</c:v>
                </c:pt>
                <c:pt idx="4">
                  <c:v>70.650000000000006</c:v>
                </c:pt>
                <c:pt idx="5">
                  <c:v>68.11</c:v>
                </c:pt>
                <c:pt idx="6">
                  <c:v>65.88</c:v>
                </c:pt>
                <c:pt idx="7">
                  <c:v>63.91</c:v>
                </c:pt>
                <c:pt idx="8">
                  <c:v>62.1</c:v>
                </c:pt>
                <c:pt idx="9">
                  <c:v>60.5</c:v>
                </c:pt>
                <c:pt idx="10">
                  <c:v>59.05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851-4ABF-B9E7-1106A790500F}"/>
            </c:ext>
          </c:extLst>
        </c:ser>
        <c:ser>
          <c:idx val="2"/>
          <c:order val="1"/>
          <c:tx>
            <c:strRef>
              <c:f>Sheet1!$R$1</c:f>
              <c:strCache>
                <c:ptCount val="1"/>
                <c:pt idx="0">
                  <c:v>σ 0.02</c:v>
                </c:pt>
              </c:strCache>
            </c:strRef>
          </c:tx>
          <c:spPr>
            <a:ln w="19050" cap="rnd">
              <a:solidFill>
                <a:schemeClr val="accent2">
                  <a:lumMod val="7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75000"/>
                </a:schemeClr>
              </a:solidFill>
              <a:ln w="9525">
                <a:solidFill>
                  <a:schemeClr val="accent2">
                    <a:lumMod val="75000"/>
                  </a:schemeClr>
                </a:solidFill>
              </a:ln>
              <a:effectLst/>
            </c:spPr>
          </c:marker>
          <c:xVal>
            <c:numRef>
              <c:f>Sheet1!$O$2:$O$12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Sheet1!$R$2:$R$12</c:f>
              <c:numCache>
                <c:formatCode>General</c:formatCode>
                <c:ptCount val="11"/>
                <c:pt idx="0">
                  <c:v>81.69</c:v>
                </c:pt>
                <c:pt idx="1">
                  <c:v>81.33</c:v>
                </c:pt>
                <c:pt idx="2">
                  <c:v>80.900000000000006</c:v>
                </c:pt>
                <c:pt idx="3">
                  <c:v>80.25</c:v>
                </c:pt>
                <c:pt idx="4">
                  <c:v>79.489999999999995</c:v>
                </c:pt>
                <c:pt idx="5">
                  <c:v>78.75</c:v>
                </c:pt>
                <c:pt idx="6">
                  <c:v>77.98</c:v>
                </c:pt>
                <c:pt idx="7">
                  <c:v>77.239999999999995</c:v>
                </c:pt>
                <c:pt idx="8">
                  <c:v>76.52</c:v>
                </c:pt>
                <c:pt idx="9">
                  <c:v>75.83</c:v>
                </c:pt>
                <c:pt idx="10">
                  <c:v>75.13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6851-4ABF-B9E7-1106A790500F}"/>
            </c:ext>
          </c:extLst>
        </c:ser>
        <c:ser>
          <c:idx val="10"/>
          <c:order val="2"/>
          <c:tx>
            <c:strRef>
              <c:f>Sheet1!$Z$1</c:f>
              <c:strCache>
                <c:ptCount val="1"/>
                <c:pt idx="0">
                  <c:v>σ 0.10</c:v>
                </c:pt>
              </c:strCache>
            </c:strRef>
          </c:tx>
          <c:spPr>
            <a:ln w="19050" cap="rnd">
              <a:solidFill>
                <a:srgbClr val="FF0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xVal>
            <c:numRef>
              <c:f>Sheet1!$O$2:$O$12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Sheet1!$Z$2:$Z$12</c:f>
              <c:numCache>
                <c:formatCode>General</c:formatCode>
                <c:ptCount val="11"/>
                <c:pt idx="0">
                  <c:v>78.63</c:v>
                </c:pt>
                <c:pt idx="1">
                  <c:v>78.819999999999993</c:v>
                </c:pt>
                <c:pt idx="2">
                  <c:v>78.849999999999994</c:v>
                </c:pt>
                <c:pt idx="3">
                  <c:v>78.819999999999993</c:v>
                </c:pt>
                <c:pt idx="4">
                  <c:v>78.81</c:v>
                </c:pt>
                <c:pt idx="5">
                  <c:v>78.709999999999994</c:v>
                </c:pt>
                <c:pt idx="6">
                  <c:v>78.61</c:v>
                </c:pt>
                <c:pt idx="7">
                  <c:v>78.52</c:v>
                </c:pt>
                <c:pt idx="8">
                  <c:v>78.430000000000007</c:v>
                </c:pt>
                <c:pt idx="9">
                  <c:v>78.27</c:v>
                </c:pt>
                <c:pt idx="10">
                  <c:v>78.150000000000006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6851-4ABF-B9E7-1106A79050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51056704"/>
        <c:axId val="1851053344"/>
      </c:scatterChart>
      <c:valAx>
        <c:axId val="1851056704"/>
        <c:scaling>
          <c:orientation val="minMax"/>
          <c:max val="1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STDEV</a:t>
                </a:r>
                <a:r>
                  <a:rPr lang="en-US" altLang="zh-TW" b="1" baseline="0"/>
                  <a:t> of Noise</a:t>
                </a:r>
                <a:endParaRPr lang="zh-TW" alt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851053344"/>
        <c:crosses val="autoZero"/>
        <c:crossBetween val="midCat"/>
      </c:valAx>
      <c:valAx>
        <c:axId val="1851053344"/>
        <c:scaling>
          <c:orientation val="minMax"/>
          <c:min val="56.5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Accuracy</a:t>
                </a:r>
                <a:endParaRPr lang="zh-TW" alt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85105670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3264857440436398"/>
          <c:y val="0.57533989662315732"/>
          <c:w val="0.24904480054156197"/>
          <c:h val="0.23985539309346152"/>
        </c:manualLayout>
      </c:layout>
      <c:overlay val="0"/>
      <c:spPr>
        <a:noFill/>
        <a:ln>
          <a:solidFill>
            <a:sysClr val="windowText" lastClr="000000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TW" dirty="0"/>
              <a:t>Effect</a:t>
            </a:r>
            <a:r>
              <a:rPr lang="en-US" altLang="zh-TW" baseline="0" dirty="0"/>
              <a:t> of Different </a:t>
            </a:r>
            <a:r>
              <a:rPr lang="en-US" altLang="zh-TW" dirty="0"/>
              <a:t>Noise STDEV</a:t>
            </a:r>
            <a:endParaRPr lang="zh-TW" altLang="en-US" dirty="0"/>
          </a:p>
        </c:rich>
      </c:tx>
      <c:layout>
        <c:manualLayout>
          <c:xMode val="edge"/>
          <c:yMode val="edge"/>
          <c:x val="0.19344622843560014"/>
          <c:y val="7.803926849963362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 alt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3575840845120604"/>
          <c:y val="0.16688272049979469"/>
          <c:w val="0.83581964584743651"/>
          <c:h val="0.6091164613185871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Sheet1!$P$1</c:f>
              <c:strCache>
                <c:ptCount val="1"/>
                <c:pt idx="0">
                  <c:v>σ 0.00</c:v>
                </c:pt>
              </c:strCache>
            </c:strRef>
          </c:tx>
          <c:spPr>
            <a:ln w="19050" cap="rnd">
              <a:solidFill>
                <a:schemeClr val="accent2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  <a:lumOff val="40000"/>
                </a:schemeClr>
              </a:solidFill>
              <a:ln w="9525">
                <a:solidFill>
                  <a:schemeClr val="accent2">
                    <a:lumMod val="60000"/>
                    <a:lumOff val="40000"/>
                  </a:schemeClr>
                </a:solidFill>
              </a:ln>
              <a:effectLst/>
            </c:spPr>
          </c:marker>
          <c:xVal>
            <c:numRef>
              <c:f>Sheet1!$O$2:$O$12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Sheet1!$P$2:$P$12</c:f>
              <c:numCache>
                <c:formatCode>General</c:formatCode>
                <c:ptCount val="11"/>
                <c:pt idx="0">
                  <c:v>82.78</c:v>
                </c:pt>
                <c:pt idx="1">
                  <c:v>79.92</c:v>
                </c:pt>
                <c:pt idx="2">
                  <c:v>76.599999999999994</c:v>
                </c:pt>
                <c:pt idx="3">
                  <c:v>73.489999999999995</c:v>
                </c:pt>
                <c:pt idx="4">
                  <c:v>70.650000000000006</c:v>
                </c:pt>
                <c:pt idx="5">
                  <c:v>68.11</c:v>
                </c:pt>
                <c:pt idx="6">
                  <c:v>65.88</c:v>
                </c:pt>
                <c:pt idx="7">
                  <c:v>63.91</c:v>
                </c:pt>
                <c:pt idx="8">
                  <c:v>62.1</c:v>
                </c:pt>
                <c:pt idx="9">
                  <c:v>60.5</c:v>
                </c:pt>
                <c:pt idx="10">
                  <c:v>59.05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3A3-46D4-BFD3-3496FAEBC3E0}"/>
            </c:ext>
          </c:extLst>
        </c:ser>
        <c:ser>
          <c:idx val="2"/>
          <c:order val="1"/>
          <c:tx>
            <c:strRef>
              <c:f>Sheet1!$R$1</c:f>
              <c:strCache>
                <c:ptCount val="1"/>
                <c:pt idx="0">
                  <c:v>σ 0.02</c:v>
                </c:pt>
              </c:strCache>
            </c:strRef>
          </c:tx>
          <c:spPr>
            <a:ln w="19050" cap="rnd">
              <a:solidFill>
                <a:schemeClr val="accent2">
                  <a:lumMod val="7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75000"/>
                </a:schemeClr>
              </a:solidFill>
              <a:ln w="9525">
                <a:solidFill>
                  <a:schemeClr val="accent2">
                    <a:lumMod val="75000"/>
                  </a:schemeClr>
                </a:solidFill>
              </a:ln>
              <a:effectLst/>
            </c:spPr>
          </c:marker>
          <c:xVal>
            <c:numRef>
              <c:f>Sheet1!$O$2:$O$12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Sheet1!$R$2:$R$12</c:f>
              <c:numCache>
                <c:formatCode>General</c:formatCode>
                <c:ptCount val="11"/>
                <c:pt idx="0">
                  <c:v>81.69</c:v>
                </c:pt>
                <c:pt idx="1">
                  <c:v>81.33</c:v>
                </c:pt>
                <c:pt idx="2">
                  <c:v>80.900000000000006</c:v>
                </c:pt>
                <c:pt idx="3">
                  <c:v>80.25</c:v>
                </c:pt>
                <c:pt idx="4">
                  <c:v>79.489999999999995</c:v>
                </c:pt>
                <c:pt idx="5">
                  <c:v>78.75</c:v>
                </c:pt>
                <c:pt idx="6">
                  <c:v>77.98</c:v>
                </c:pt>
                <c:pt idx="7">
                  <c:v>77.239999999999995</c:v>
                </c:pt>
                <c:pt idx="8">
                  <c:v>76.52</c:v>
                </c:pt>
                <c:pt idx="9">
                  <c:v>75.83</c:v>
                </c:pt>
                <c:pt idx="10">
                  <c:v>75.13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33A3-46D4-BFD3-3496FAEBC3E0}"/>
            </c:ext>
          </c:extLst>
        </c:ser>
        <c:ser>
          <c:idx val="10"/>
          <c:order val="2"/>
          <c:tx>
            <c:strRef>
              <c:f>Sheet1!$Z$1</c:f>
              <c:strCache>
                <c:ptCount val="1"/>
                <c:pt idx="0">
                  <c:v>σ 0.10</c:v>
                </c:pt>
              </c:strCache>
            </c:strRef>
          </c:tx>
          <c:spPr>
            <a:ln w="19050" cap="rnd">
              <a:solidFill>
                <a:srgbClr val="FF0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xVal>
            <c:numRef>
              <c:f>Sheet1!$O$2:$O$12</c:f>
              <c:numCache>
                <c:formatCode>General</c:formatCode>
                <c:ptCount val="1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</c:numCache>
            </c:numRef>
          </c:xVal>
          <c:yVal>
            <c:numRef>
              <c:f>Sheet1!$Z$2:$Z$12</c:f>
              <c:numCache>
                <c:formatCode>General</c:formatCode>
                <c:ptCount val="11"/>
                <c:pt idx="0">
                  <c:v>78.63</c:v>
                </c:pt>
                <c:pt idx="1">
                  <c:v>78.819999999999993</c:v>
                </c:pt>
                <c:pt idx="2">
                  <c:v>78.849999999999994</c:v>
                </c:pt>
                <c:pt idx="3">
                  <c:v>78.819999999999993</c:v>
                </c:pt>
                <c:pt idx="4">
                  <c:v>78.81</c:v>
                </c:pt>
                <c:pt idx="5">
                  <c:v>78.709999999999994</c:v>
                </c:pt>
                <c:pt idx="6">
                  <c:v>78.61</c:v>
                </c:pt>
                <c:pt idx="7">
                  <c:v>78.52</c:v>
                </c:pt>
                <c:pt idx="8">
                  <c:v>78.430000000000007</c:v>
                </c:pt>
                <c:pt idx="9">
                  <c:v>78.27</c:v>
                </c:pt>
                <c:pt idx="10">
                  <c:v>78.150000000000006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33A3-46D4-BFD3-3496FAEBC3E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851056704"/>
        <c:axId val="1851053344"/>
      </c:scatterChart>
      <c:valAx>
        <c:axId val="1851056704"/>
        <c:scaling>
          <c:orientation val="minMax"/>
          <c:max val="1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STDEV</a:t>
                </a:r>
                <a:r>
                  <a:rPr lang="en-US" altLang="zh-TW" b="1" baseline="0"/>
                  <a:t> of Noise</a:t>
                </a:r>
                <a:endParaRPr lang="zh-TW" altLang="en-US" b="1"/>
              </a:p>
            </c:rich>
          </c:tx>
          <c:layout>
            <c:manualLayout>
              <c:xMode val="edge"/>
              <c:yMode val="edge"/>
              <c:x val="0.42248150397948137"/>
              <c:y val="0.899431245304970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851053344"/>
        <c:crosses val="autoZero"/>
        <c:crossBetween val="midCat"/>
      </c:valAx>
      <c:valAx>
        <c:axId val="1851053344"/>
        <c:scaling>
          <c:orientation val="minMax"/>
          <c:min val="56.5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zh-TW" b="1"/>
                  <a:t>Accuracy</a:t>
                </a:r>
                <a:endParaRPr lang="zh-TW" alt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TW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85105670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13264857440436398"/>
          <c:y val="0.52905554562711266"/>
          <c:w val="0.24904480054156197"/>
          <c:h val="0.24712025369931223"/>
        </c:manualLayout>
      </c:layout>
      <c:overlay val="0"/>
      <c:spPr>
        <a:noFill/>
        <a:ln>
          <a:solidFill>
            <a:sysClr val="windowText" lastClr="000000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5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2025/6/16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1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5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5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2025/6/16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6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1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5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97821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0733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75871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4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7" Type="http://schemas.openxmlformats.org/officeDocument/2006/relationships/image" Target="../media/image22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45.png"/><Relationship Id="rId4" Type="http://schemas.openxmlformats.org/officeDocument/2006/relationships/image" Target="../media/image41.png"/><Relationship Id="rId9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33600"/>
            <a:ext cx="9144000" cy="1214438"/>
          </a:xfrm>
        </p:spPr>
        <p:txBody>
          <a:bodyPr/>
          <a:lstStyle/>
          <a:p>
            <a:r>
              <a:rPr lang="en-US" altLang="zh-TW" sz="3200" dirty="0"/>
              <a:t>Handling Noise and Metric Issue in Few-Shot Learning Tasks with In-Memory Search</a:t>
            </a:r>
            <a:endParaRPr lang="zh-TW" altLang="en-US" sz="32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Speaker : B11901027 </a:t>
            </a:r>
            <a:r>
              <a:rPr lang="zh-TW" altLang="en-US" dirty="0"/>
              <a:t>王仁軒</a:t>
            </a:r>
            <a:endParaRPr lang="en-US" altLang="zh-TW" dirty="0"/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</a:p>
          <a:p>
            <a:r>
              <a:rPr lang="en-US" altLang="zh-TW" dirty="0"/>
              <a:t>Date : 2025/06/??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BA6BC60-41E9-4227-115F-7FA9171D5863}"/>
              </a:ext>
            </a:extLst>
          </p:cNvPr>
          <p:cNvSpPr/>
          <p:nvPr/>
        </p:nvSpPr>
        <p:spPr bwMode="auto">
          <a:xfrm>
            <a:off x="467544" y="1772816"/>
            <a:ext cx="3456384" cy="1224136"/>
          </a:xfrm>
          <a:prstGeom prst="roundRect">
            <a:avLst>
              <a:gd name="adj" fmla="val 20817"/>
            </a:avLst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1313" marR="0" lvl="0" indent="-341313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3333CC"/>
              </a:buClr>
              <a:buSzTx/>
              <a:buFont typeface="Wingdings" pitchFamily="2" charset="2"/>
              <a:buChar char="v"/>
              <a:tabLst/>
              <a:defRPr/>
            </a:pPr>
            <a:r>
              <a:rPr kumimoji="1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</a:rPr>
              <a:t>Method to tackle analog non-idealities in IMS</a:t>
            </a:r>
            <a:r>
              <a:rPr kumimoji="1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</a:rPr>
              <a:t> </a:t>
            </a:r>
            <a:r>
              <a:rPr kumimoji="1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</a:rPr>
              <a:t>architecture</a:t>
            </a:r>
          </a:p>
          <a:p>
            <a:pPr marL="625475" marR="0" lvl="1" indent="-284163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Tx/>
              <a:buFont typeface="Wingdings" pitchFamily="2" charset="2"/>
              <a:buChar char="v"/>
              <a:tabLst/>
              <a:defRPr/>
            </a:pPr>
            <a:r>
              <a:rPr kumimoji="1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</a:rPr>
              <a:t>Noise-aware training</a:t>
            </a:r>
          </a:p>
          <a:p>
            <a:pPr marL="625475" marR="0" lvl="1" indent="-284163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Tx/>
              <a:buFont typeface="Wingdings" pitchFamily="2" charset="2"/>
              <a:buChar char="v"/>
              <a:tabLst/>
              <a:defRPr/>
            </a:pPr>
            <a:r>
              <a:rPr kumimoji="1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</a:rPr>
              <a:t>Bayesian neural network</a:t>
            </a:r>
            <a:endParaRPr kumimoji="1" lang="zh-TW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: 圓角 4">
                <a:extLst>
                  <a:ext uri="{FF2B5EF4-FFF2-40B4-BE49-F238E27FC236}">
                    <a16:creationId xmlns:a16="http://schemas.microsoft.com/office/drawing/2014/main" id="{5DB18868-2E7F-BA65-B209-C02D3876A216}"/>
                  </a:ext>
                </a:extLst>
              </p:cNvPr>
              <p:cNvSpPr/>
              <p:nvPr/>
            </p:nvSpPr>
            <p:spPr bwMode="auto">
              <a:xfrm>
                <a:off x="5220074" y="1772816"/>
                <a:ext cx="3456384" cy="1224136"/>
              </a:xfrm>
              <a:prstGeom prst="roundRect">
                <a:avLst>
                  <a:gd name="adj" fmla="val 20817"/>
                </a:avLst>
              </a:prstGeom>
              <a:noFill/>
              <a:ln w="1905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42900" lvl="0" indent="-342900" fontAlgn="base">
                  <a:spcBef>
                    <a:spcPct val="20000"/>
                  </a:spcBef>
                  <a:spcAft>
                    <a:spcPct val="0"/>
                  </a:spcAft>
                  <a:buClr>
                    <a:srgbClr val="3333CC"/>
                  </a:buClr>
                  <a:buFont typeface="Wingdings" pitchFamily="2" charset="2"/>
                  <a:buChar char="v"/>
                  <a:defRPr/>
                </a:pPr>
                <a:r>
                  <a:rPr kumimoji="1" lang="en-US" altLang="zh-TW" sz="1600" kern="0" dirty="0">
                    <a:solidFill>
                      <a:prstClr val="black"/>
                    </a:solidFill>
                    <a:latin typeface="Arial"/>
                    <a:ea typeface="標楷體" pitchFamily="65" charset="-120"/>
                  </a:rPr>
                  <a:t>Comparison between metrics</a:t>
                </a:r>
              </a:p>
              <a:p>
                <a:pPr marL="684212" lvl="1" indent="-342900" fontAlgn="base">
                  <a:spcBef>
                    <a:spcPct val="20000"/>
                  </a:spcBef>
                  <a:spcAft>
                    <a:spcPct val="0"/>
                  </a:spcAft>
                  <a:buClr>
                    <a:srgbClr val="FF0000"/>
                  </a:buClr>
                  <a:buFont typeface="Wingdings" pitchFamily="2" charset="2"/>
                  <a:buChar char="v"/>
                  <a:defRPr/>
                </a:pPr>
                <a:r>
                  <a:rPr kumimoji="1" lang="en-US" altLang="zh-TW" sz="1400" kern="0" dirty="0">
                    <a:solidFill>
                      <a:prstClr val="black"/>
                    </a:solidFill>
                    <a:latin typeface="Arial"/>
                    <a:ea typeface="標楷體" pitchFamily="65" charset="-120"/>
                  </a:rPr>
                  <a:t>Angular metric</a:t>
                </a:r>
                <a:r>
                  <a:rPr kumimoji="1" lang="zh-TW" altLang="en-US" sz="1400" kern="0" dirty="0">
                    <a:solidFill>
                      <a:prstClr val="black"/>
                    </a:solidFill>
                    <a:latin typeface="Arial"/>
                    <a:ea typeface="標楷體" pitchFamily="65" charset="-120"/>
                  </a:rPr>
                  <a:t> </a:t>
                </a:r>
                <a:r>
                  <a:rPr kumimoji="1" lang="en-US" altLang="zh-TW" sz="1400" kern="0" dirty="0">
                    <a:solidFill>
                      <a:prstClr val="black"/>
                    </a:solidFill>
                    <a:latin typeface="Arial"/>
                    <a:ea typeface="標楷體" pitchFamily="65" charset="-120"/>
                  </a:rPr>
                  <a:t>(Cosine)</a:t>
                </a:r>
              </a:p>
              <a:p>
                <a:pPr marL="684212" lvl="1" indent="-342900" fontAlgn="base">
                  <a:spcBef>
                    <a:spcPct val="20000"/>
                  </a:spcBef>
                  <a:spcAft>
                    <a:spcPct val="0"/>
                  </a:spcAft>
                  <a:buClr>
                    <a:srgbClr val="FF0000"/>
                  </a:buClr>
                  <a:buFont typeface="Wingdings" pitchFamily="2" charset="2"/>
                  <a:buChar char="v"/>
                  <a:defRPr/>
                </a:pPr>
                <a:r>
                  <a:rPr kumimoji="1" lang="en-US" altLang="zh-TW" sz="1400" kern="0" dirty="0">
                    <a:solidFill>
                      <a:prstClr val="black"/>
                    </a:solidFill>
                    <a:latin typeface="Arial"/>
                    <a:ea typeface="標楷體" pitchFamily="65" charset="-120"/>
                  </a:rPr>
                  <a:t>Spatial metric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4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400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400" b="0" i="0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4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kumimoji="1" lang="en-US" altLang="zh-TW" sz="1400" kern="0" dirty="0">
                    <a:solidFill>
                      <a:prstClr val="black"/>
                    </a:solidFill>
                    <a:latin typeface="Arial"/>
                    <a:ea typeface="標楷體" pitchFamily="65" charset="-120"/>
                  </a:rPr>
                  <a:t>)</a:t>
                </a:r>
              </a:p>
            </p:txBody>
          </p:sp>
        </mc:Choice>
        <mc:Fallback xmlns="">
          <p:sp>
            <p:nvSpPr>
              <p:cNvPr id="5" name="矩形: 圓角 4">
                <a:extLst>
                  <a:ext uri="{FF2B5EF4-FFF2-40B4-BE49-F238E27FC236}">
                    <a16:creationId xmlns:a16="http://schemas.microsoft.com/office/drawing/2014/main" id="{5DB18868-2E7F-BA65-B209-C02D3876A2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20074" y="1772816"/>
                <a:ext cx="3456384" cy="1224136"/>
              </a:xfrm>
              <a:prstGeom prst="roundRect">
                <a:avLst>
                  <a:gd name="adj" fmla="val 20817"/>
                </a:avLst>
              </a:prstGeom>
              <a:blipFill>
                <a:blip r:embed="rId2"/>
                <a:stretch>
                  <a:fillRect/>
                </a:stretch>
              </a:blipFill>
              <a:ln w="1905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矩形: 圓角 5">
            <a:extLst>
              <a:ext uri="{FF2B5EF4-FFF2-40B4-BE49-F238E27FC236}">
                <a16:creationId xmlns:a16="http://schemas.microsoft.com/office/drawing/2014/main" id="{C23A02B5-8D4D-C007-642C-983C429EE58D}"/>
              </a:ext>
            </a:extLst>
          </p:cNvPr>
          <p:cNvSpPr/>
          <p:nvPr/>
        </p:nvSpPr>
        <p:spPr bwMode="auto">
          <a:xfrm>
            <a:off x="2717794" y="3429000"/>
            <a:ext cx="3708412" cy="1224136"/>
          </a:xfrm>
          <a:prstGeom prst="roundRect">
            <a:avLst>
              <a:gd name="adj" fmla="val 20817"/>
            </a:avLst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2900" lvl="0" indent="-342900" fontAlgn="base">
              <a:spcBef>
                <a:spcPct val="20000"/>
              </a:spcBef>
              <a:spcAft>
                <a:spcPct val="0"/>
              </a:spcAft>
              <a:buClr>
                <a:srgbClr val="3333CC"/>
              </a:buClr>
              <a:buFont typeface="Wingdings" pitchFamily="2" charset="2"/>
              <a:buChar char="v"/>
              <a:defRPr/>
            </a:pPr>
            <a:r>
              <a:rPr kumimoji="1" lang="en-US" altLang="zh-TW" sz="1600" kern="0" dirty="0">
                <a:solidFill>
                  <a:prstClr val="black"/>
                </a:solidFill>
                <a:latin typeface="Arial"/>
                <a:ea typeface="標楷體" pitchFamily="65" charset="-120"/>
              </a:rPr>
              <a:t>Locality sensitive hashing</a:t>
            </a:r>
          </a:p>
          <a:p>
            <a:pPr marL="684212" lvl="1" indent="-342900" fontAlgn="base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itchFamily="2" charset="2"/>
              <a:buChar char="v"/>
              <a:defRPr/>
            </a:pPr>
            <a:r>
              <a:rPr kumimoji="1" lang="en-US" altLang="zh-TW" sz="1400" kern="0" dirty="0">
                <a:solidFill>
                  <a:prstClr val="black"/>
                </a:solidFill>
                <a:latin typeface="Arial"/>
                <a:ea typeface="標楷體" pitchFamily="65" charset="-120"/>
              </a:rPr>
              <a:t>Approximation of cosine similarity</a:t>
            </a:r>
          </a:p>
          <a:p>
            <a:pPr marL="684212" lvl="1" indent="-342900" fontAlgn="base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itchFamily="2" charset="2"/>
              <a:buChar char="v"/>
              <a:defRPr/>
            </a:pPr>
            <a:r>
              <a:rPr kumimoji="1" lang="en-US" altLang="zh-TW" sz="1400" kern="0" dirty="0">
                <a:solidFill>
                  <a:prstClr val="black"/>
                </a:solidFill>
                <a:ea typeface="標楷體" pitchFamily="65" charset="-120"/>
              </a:rPr>
              <a:t>2-D projection of high-dimensional embedding with t-SNE</a:t>
            </a:r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4BDA9B04-A1FA-CAF2-54E5-71C75E9E0CFF}"/>
              </a:ext>
            </a:extLst>
          </p:cNvPr>
          <p:cNvCxnSpPr>
            <a:cxnSpLocks/>
            <a:stCxn id="4" idx="2"/>
          </p:cNvCxnSpPr>
          <p:nvPr/>
        </p:nvCxnSpPr>
        <p:spPr bwMode="auto">
          <a:xfrm>
            <a:off x="2195736" y="2996952"/>
            <a:ext cx="576064" cy="504056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537BEC07-B4E5-D659-9030-AC13EC96561D}"/>
              </a:ext>
            </a:extLst>
          </p:cNvPr>
          <p:cNvCxnSpPr>
            <a:cxnSpLocks/>
            <a:stCxn id="5" idx="2"/>
          </p:cNvCxnSpPr>
          <p:nvPr/>
        </p:nvCxnSpPr>
        <p:spPr bwMode="auto">
          <a:xfrm flipH="1">
            <a:off x="6372202" y="2996952"/>
            <a:ext cx="576064" cy="504056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F80B85C-B711-A568-6E39-0677EC1162E3}"/>
              </a:ext>
            </a:extLst>
          </p:cNvPr>
          <p:cNvSpPr/>
          <p:nvPr/>
        </p:nvSpPr>
        <p:spPr bwMode="auto">
          <a:xfrm>
            <a:off x="2714242" y="5085184"/>
            <a:ext cx="3708412" cy="1224136"/>
          </a:xfrm>
          <a:prstGeom prst="roundRect">
            <a:avLst>
              <a:gd name="adj" fmla="val 20817"/>
            </a:avLst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342900" lvl="0" indent="-342900" fontAlgn="base">
              <a:spcBef>
                <a:spcPct val="20000"/>
              </a:spcBef>
              <a:spcAft>
                <a:spcPct val="0"/>
              </a:spcAft>
              <a:buClr>
                <a:srgbClr val="3333CC"/>
              </a:buClr>
              <a:buFont typeface="Wingdings" pitchFamily="2" charset="2"/>
              <a:buChar char="v"/>
              <a:defRPr/>
            </a:pPr>
            <a:r>
              <a:rPr kumimoji="1" lang="en-US" altLang="zh-TW" sz="1600" kern="0" dirty="0">
                <a:solidFill>
                  <a:prstClr val="black"/>
                </a:solidFill>
                <a:latin typeface="Arial"/>
                <a:ea typeface="標楷體" pitchFamily="65" charset="-120"/>
              </a:rPr>
              <a:t>View metric difference as noise</a:t>
            </a:r>
          </a:p>
          <a:p>
            <a:pPr marL="684212" lvl="1" indent="-342900" fontAlgn="base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itchFamily="2" charset="2"/>
              <a:buChar char="v"/>
              <a:defRPr/>
            </a:pPr>
            <a:r>
              <a:rPr kumimoji="1" lang="en-US" altLang="zh-TW" sz="1400" kern="0" dirty="0">
                <a:solidFill>
                  <a:prstClr val="black"/>
                </a:solidFill>
                <a:latin typeface="Arial"/>
                <a:ea typeface="標楷體" pitchFamily="65" charset="-120"/>
              </a:rPr>
              <a:t>Approximation of cosine similarity</a:t>
            </a:r>
          </a:p>
          <a:p>
            <a:pPr marL="684212" lvl="1" indent="-342900" fontAlgn="base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itchFamily="2" charset="2"/>
              <a:buChar char="v"/>
              <a:defRPr/>
            </a:pPr>
            <a:r>
              <a:rPr kumimoji="1" lang="en-US" altLang="zh-TW" sz="1400" kern="0" dirty="0">
                <a:solidFill>
                  <a:prstClr val="black"/>
                </a:solidFill>
                <a:ea typeface="標楷體" pitchFamily="65" charset="-120"/>
              </a:rPr>
              <a:t>2-D projection of high-dimensional embedding with t-SNE</a:t>
            </a:r>
          </a:p>
        </p:txBody>
      </p:sp>
      <p:cxnSp>
        <p:nvCxnSpPr>
          <p:cNvPr id="20" name="接點: 弧形 19">
            <a:extLst>
              <a:ext uri="{FF2B5EF4-FFF2-40B4-BE49-F238E27FC236}">
                <a16:creationId xmlns:a16="http://schemas.microsoft.com/office/drawing/2014/main" id="{83650E9B-7151-5A1A-3EC4-B8C64A951BC9}"/>
              </a:ext>
            </a:extLst>
          </p:cNvPr>
          <p:cNvCxnSpPr>
            <a:cxnSpLocks/>
            <a:stCxn id="4" idx="2"/>
            <a:endCxn id="15" idx="1"/>
          </p:cNvCxnSpPr>
          <p:nvPr/>
        </p:nvCxnSpPr>
        <p:spPr bwMode="auto">
          <a:xfrm rot="16200000" flipH="1">
            <a:off x="1104839" y="4087849"/>
            <a:ext cx="2700300" cy="518506"/>
          </a:xfrm>
          <a:prstGeom prst="curvedConnector2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接點: 弧形 21">
            <a:extLst>
              <a:ext uri="{FF2B5EF4-FFF2-40B4-BE49-F238E27FC236}">
                <a16:creationId xmlns:a16="http://schemas.microsoft.com/office/drawing/2014/main" id="{A180942A-CC19-98F7-F1B7-3D107392D871}"/>
              </a:ext>
            </a:extLst>
          </p:cNvPr>
          <p:cNvCxnSpPr>
            <a:cxnSpLocks/>
            <a:stCxn id="5" idx="2"/>
            <a:endCxn id="15" idx="3"/>
          </p:cNvCxnSpPr>
          <p:nvPr/>
        </p:nvCxnSpPr>
        <p:spPr bwMode="auto">
          <a:xfrm rot="5400000">
            <a:off x="5335310" y="4084296"/>
            <a:ext cx="2700300" cy="525612"/>
          </a:xfrm>
          <a:prstGeom prst="curvedConnector2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8DE80D7-C88E-A72E-E2D7-730679BC03EA}"/>
              </a:ext>
            </a:extLst>
          </p:cNvPr>
          <p:cNvCxnSpPr>
            <a:stCxn id="6" idx="2"/>
            <a:endCxn id="15" idx="0"/>
          </p:cNvCxnSpPr>
          <p:nvPr/>
        </p:nvCxnSpPr>
        <p:spPr bwMode="auto">
          <a:xfrm flipH="1">
            <a:off x="4568448" y="4653136"/>
            <a:ext cx="3552" cy="432048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8AB7EA0-6046-E0B6-FBE3-243B66CC0804}"/>
              </a:ext>
            </a:extLst>
          </p:cNvPr>
          <p:cNvSpPr txBox="1"/>
          <p:nvPr/>
        </p:nvSpPr>
        <p:spPr>
          <a:xfrm>
            <a:off x="3242921" y="2730990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1</a:t>
            </a:r>
            <a:endParaRPr lang="zh-TW" altLang="en-US" sz="14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E334A88B-6979-B1C0-16D2-07E4E002EB29}"/>
              </a:ext>
            </a:extLst>
          </p:cNvPr>
          <p:cNvSpPr txBox="1"/>
          <p:nvPr/>
        </p:nvSpPr>
        <p:spPr>
          <a:xfrm>
            <a:off x="8006830" y="2730990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2</a:t>
            </a:r>
            <a:endParaRPr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A9CAD99-8295-06AF-69B3-9138193EC868}"/>
              </a:ext>
            </a:extLst>
          </p:cNvPr>
          <p:cNvSpPr txBox="1"/>
          <p:nvPr/>
        </p:nvSpPr>
        <p:spPr>
          <a:xfrm>
            <a:off x="5756578" y="4378542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3</a:t>
            </a:r>
            <a:endParaRPr lang="zh-TW" altLang="en-US" sz="1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5C972C9-8F14-6B76-DE00-07CCC2545AA6}"/>
              </a:ext>
            </a:extLst>
          </p:cNvPr>
          <p:cNvSpPr txBox="1"/>
          <p:nvPr/>
        </p:nvSpPr>
        <p:spPr>
          <a:xfrm>
            <a:off x="5757929" y="6048830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4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C16938-A350-CA59-D9FA-D0E3A5422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Analog Non-Ideal Effects of TCAM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C898D5-ED33-64EA-8A99-A09E6B2C85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TCAM : </a:t>
            </a:r>
            <a:r>
              <a:rPr lang="en-US" altLang="zh-TW" b="0" dirty="0"/>
              <a:t>Ternary content addressable memory</a:t>
            </a:r>
            <a:endParaRPr lang="en-US" altLang="zh-TW" dirty="0"/>
          </a:p>
          <a:p>
            <a:r>
              <a:rPr lang="en-US" altLang="zh-TW" dirty="0"/>
              <a:t>Analog non-ideal effects of in-memory-search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EAFAFA18-2F6F-40FD-BCB3-F564479154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61"/>
          <a:stretch/>
        </p:blipFill>
        <p:spPr>
          <a:xfrm>
            <a:off x="1043608" y="2575530"/>
            <a:ext cx="4345718" cy="1684035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8F27393C-5909-27AB-1709-CA55680372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607" y="4411965"/>
            <a:ext cx="4348979" cy="1825347"/>
          </a:xfrm>
          <a:prstGeom prst="rect">
            <a:avLst/>
          </a:prstGeom>
        </p:spPr>
      </p:pic>
      <p:sp>
        <p:nvSpPr>
          <p:cNvPr id="30" name="文字方塊 29">
            <a:extLst>
              <a:ext uri="{FF2B5EF4-FFF2-40B4-BE49-F238E27FC236}">
                <a16:creationId xmlns:a16="http://schemas.microsoft.com/office/drawing/2014/main" id="{799B1974-C27D-D4B8-FE5C-65764A63CB5B}"/>
              </a:ext>
            </a:extLst>
          </p:cNvPr>
          <p:cNvSpPr txBox="1"/>
          <p:nvPr/>
        </p:nvSpPr>
        <p:spPr>
          <a:xfrm>
            <a:off x="5527700" y="2924944"/>
            <a:ext cx="32403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Noise from memory device</a:t>
            </a:r>
          </a:p>
          <a:p>
            <a:pPr marL="285750" indent="-285750">
              <a:buFontTx/>
              <a:buChar char="-"/>
            </a:pPr>
            <a:r>
              <a:rPr lang="en-US" altLang="zh-TW" dirty="0"/>
              <a:t>Thermal noise</a:t>
            </a:r>
          </a:p>
          <a:p>
            <a:pPr marL="285750" indent="-285750">
              <a:buFontTx/>
              <a:buChar char="-"/>
            </a:pPr>
            <a:r>
              <a:rPr lang="en-US" altLang="zh-TW" dirty="0"/>
              <a:t>Flicker noise </a:t>
            </a:r>
          </a:p>
          <a:p>
            <a:pPr marL="285750" indent="-285750">
              <a:buFontTx/>
              <a:buChar char="-"/>
            </a:pPr>
            <a:r>
              <a:rPr lang="en-US" altLang="zh-TW" dirty="0"/>
              <a:t>Leakage current</a:t>
            </a:r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20BCA46C-3FDA-73B3-8BDA-911BD1D01528}"/>
              </a:ext>
            </a:extLst>
          </p:cNvPr>
          <p:cNvSpPr txBox="1"/>
          <p:nvPr/>
        </p:nvSpPr>
        <p:spPr>
          <a:xfrm>
            <a:off x="5527700" y="4874426"/>
            <a:ext cx="3600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Parasitic effects of lump elements</a:t>
            </a:r>
          </a:p>
          <a:p>
            <a:pPr marL="285750" indent="-285750">
              <a:buFontTx/>
              <a:buChar char="-"/>
            </a:pPr>
            <a:r>
              <a:rPr lang="en-US" altLang="zh-TW" dirty="0"/>
              <a:t>Resistance</a:t>
            </a:r>
          </a:p>
          <a:p>
            <a:pPr marL="285750" indent="-285750">
              <a:buFontTx/>
              <a:buChar char="-"/>
            </a:pPr>
            <a:r>
              <a:rPr lang="en-US" altLang="zh-TW" dirty="0"/>
              <a:t>Capacitance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2503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雲朵形 83">
            <a:extLst>
              <a:ext uri="{FF2B5EF4-FFF2-40B4-BE49-F238E27FC236}">
                <a16:creationId xmlns:a16="http://schemas.microsoft.com/office/drawing/2014/main" id="{E2A91BF3-CE76-5551-D601-9B4CC7C7647D}"/>
              </a:ext>
            </a:extLst>
          </p:cNvPr>
          <p:cNvSpPr/>
          <p:nvPr/>
        </p:nvSpPr>
        <p:spPr bwMode="auto">
          <a:xfrm rot="11029671">
            <a:off x="805344" y="2667772"/>
            <a:ext cx="4404844" cy="2002126"/>
          </a:xfrm>
          <a:prstGeom prst="cloud">
            <a:avLst/>
          </a:prstGeom>
          <a:solidFill>
            <a:schemeClr val="bg1"/>
          </a:solidFill>
          <a:ln w="28575" cap="flat" cmpd="sng" algn="ctr">
            <a:solidFill>
              <a:srgbClr val="4F81BD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B57F65F-6635-8A36-75D4-BA97BEE80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Noise-Aware Training</a:t>
            </a:r>
          </a:p>
          <a:p>
            <a:pPr lvl="1"/>
            <a:r>
              <a:rPr lang="en-US" altLang="zh-TW" dirty="0"/>
              <a:t>Inject simulated noise into embeddings while training the model</a:t>
            </a:r>
          </a:p>
          <a:p>
            <a:pPr lvl="1"/>
            <a:r>
              <a:rPr lang="en-US" altLang="zh-TW" dirty="0"/>
              <a:t>Evaluate the Trained model on different noise levels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lvl="2"/>
            <a:endParaRPr lang="en-US" altLang="zh-TW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390F5A1F-50EF-4133-C0F4-ACDFD8EAC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Method 1 : Noise-Aware Training</a:t>
            </a:r>
            <a:endParaRPr lang="zh-TW" altLang="en-US" dirty="0"/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9CE67F8E-570F-F7FE-AD35-0A34C10B2EC8}"/>
              </a:ext>
            </a:extLst>
          </p:cNvPr>
          <p:cNvGrpSpPr/>
          <p:nvPr/>
        </p:nvGrpSpPr>
        <p:grpSpPr>
          <a:xfrm>
            <a:off x="1228155" y="2874441"/>
            <a:ext cx="3516501" cy="1645319"/>
            <a:chOff x="912235" y="2724621"/>
            <a:chExt cx="3516501" cy="1645319"/>
          </a:xfrm>
        </p:grpSpPr>
        <p:grpSp>
          <p:nvGrpSpPr>
            <p:cNvPr id="15" name="群組 14">
              <a:extLst>
                <a:ext uri="{FF2B5EF4-FFF2-40B4-BE49-F238E27FC236}">
                  <a16:creationId xmlns:a16="http://schemas.microsoft.com/office/drawing/2014/main" id="{A5A2C532-AAB0-2FA3-03C9-65E904CE9BBF}"/>
                </a:ext>
              </a:extLst>
            </p:cNvPr>
            <p:cNvGrpSpPr/>
            <p:nvPr/>
          </p:nvGrpSpPr>
          <p:grpSpPr>
            <a:xfrm>
              <a:off x="912235" y="2724621"/>
              <a:ext cx="3516501" cy="1645319"/>
              <a:chOff x="1592498" y="2884043"/>
              <a:chExt cx="3516501" cy="1645319"/>
            </a:xfrm>
          </p:grpSpPr>
          <p:grpSp>
            <p:nvGrpSpPr>
              <p:cNvPr id="11" name="群組 10">
                <a:extLst>
                  <a:ext uri="{FF2B5EF4-FFF2-40B4-BE49-F238E27FC236}">
                    <a16:creationId xmlns:a16="http://schemas.microsoft.com/office/drawing/2014/main" id="{11E2E8DF-878B-F5B7-8C66-800204F4D141}"/>
                  </a:ext>
                </a:extLst>
              </p:cNvPr>
              <p:cNvGrpSpPr/>
              <p:nvPr/>
            </p:nvGrpSpPr>
            <p:grpSpPr>
              <a:xfrm>
                <a:off x="1619671" y="2914820"/>
                <a:ext cx="3489328" cy="1614542"/>
                <a:chOff x="1043607" y="2697446"/>
                <a:chExt cx="4138505" cy="1830129"/>
              </a:xfrm>
            </p:grpSpPr>
            <p:sp>
              <p:nvSpPr>
                <p:cNvPr id="10" name="矩形: 圓角 9">
                  <a:extLst>
                    <a:ext uri="{FF2B5EF4-FFF2-40B4-BE49-F238E27FC236}">
                      <a16:creationId xmlns:a16="http://schemas.microsoft.com/office/drawing/2014/main" id="{31943683-0170-D5B2-98BD-30927C1FDBAA}"/>
                    </a:ext>
                  </a:extLst>
                </p:cNvPr>
                <p:cNvSpPr/>
                <p:nvPr/>
              </p:nvSpPr>
              <p:spPr bwMode="auto">
                <a:xfrm>
                  <a:off x="1043607" y="2708920"/>
                  <a:ext cx="4138505" cy="1781956"/>
                </a:xfrm>
                <a:prstGeom prst="roundRect">
                  <a:avLst/>
                </a:prstGeom>
                <a:solidFill>
                  <a:schemeClr val="bg1"/>
                </a:solidFill>
                <a:ln w="38100" cap="flat" cmpd="sng" algn="ctr">
                  <a:solidFill>
                    <a:srgbClr val="0000FF"/>
                  </a:solidFill>
                  <a:prstDash val="sysDot"/>
                  <a:round/>
                  <a:headEnd type="none" w="med" len="med"/>
                  <a:tailEnd type="triangl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zh-TW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ea typeface="新細明體" charset="-120"/>
                  </a:endParaRPr>
                </a:p>
              </p:txBody>
            </p:sp>
            <p:grpSp>
              <p:nvGrpSpPr>
                <p:cNvPr id="9" name="群組 8">
                  <a:extLst>
                    <a:ext uri="{FF2B5EF4-FFF2-40B4-BE49-F238E27FC236}">
                      <a16:creationId xmlns:a16="http://schemas.microsoft.com/office/drawing/2014/main" id="{7C9DCCAE-8C1E-3551-C1BB-8D7F5C4E415E}"/>
                    </a:ext>
                  </a:extLst>
                </p:cNvPr>
                <p:cNvGrpSpPr/>
                <p:nvPr/>
              </p:nvGrpSpPr>
              <p:grpSpPr>
                <a:xfrm>
                  <a:off x="1187624" y="2697446"/>
                  <a:ext cx="3449805" cy="1830129"/>
                  <a:chOff x="1547664" y="2697446"/>
                  <a:chExt cx="3449805" cy="1830129"/>
                </a:xfrm>
              </p:grpSpPr>
              <p:sp>
                <p:nvSpPr>
                  <p:cNvPr id="7" name="文字方塊 6">
                    <a:extLst>
                      <a:ext uri="{FF2B5EF4-FFF2-40B4-BE49-F238E27FC236}">
                        <a16:creationId xmlns:a16="http://schemas.microsoft.com/office/drawing/2014/main" id="{3FBA8268-0007-EA94-FA93-CDAD5FBDCA6F}"/>
                      </a:ext>
                    </a:extLst>
                  </p:cNvPr>
                  <p:cNvSpPr txBox="1"/>
                  <p:nvPr/>
                </p:nvSpPr>
                <p:spPr>
                  <a:xfrm>
                    <a:off x="3482121" y="4143815"/>
                    <a:ext cx="1515348" cy="38376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TW" sz="1600" dirty="0"/>
                      <a:t>Embedding</a:t>
                    </a:r>
                    <a:endParaRPr lang="zh-TW" altLang="en-US" sz="1600" dirty="0"/>
                  </a:p>
                </p:txBody>
              </p:sp>
              <p:grpSp>
                <p:nvGrpSpPr>
                  <p:cNvPr id="8" name="群組 7">
                    <a:extLst>
                      <a:ext uri="{FF2B5EF4-FFF2-40B4-BE49-F238E27FC236}">
                        <a16:creationId xmlns:a16="http://schemas.microsoft.com/office/drawing/2014/main" id="{5EBD3EF7-9CD0-FE17-B7B2-37BB7FC61AE3}"/>
                      </a:ext>
                    </a:extLst>
                  </p:cNvPr>
                  <p:cNvGrpSpPr/>
                  <p:nvPr/>
                </p:nvGrpSpPr>
                <p:grpSpPr>
                  <a:xfrm>
                    <a:off x="1547664" y="2697446"/>
                    <a:ext cx="3024336" cy="1523642"/>
                    <a:chOff x="1547664" y="2697446"/>
                    <a:chExt cx="3024336" cy="1523642"/>
                  </a:xfrm>
                </p:grpSpPr>
                <p:pic>
                  <p:nvPicPr>
                    <p:cNvPr id="4" name="圖片 3">
                      <a:extLst>
                        <a:ext uri="{FF2B5EF4-FFF2-40B4-BE49-F238E27FC236}">
                          <a16:creationId xmlns:a16="http://schemas.microsoft.com/office/drawing/2014/main" id="{E2E39F1C-EAFF-33A0-71F2-8ECD56ABD00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BEBA8EAE-BF5A-486C-A8C5-ECC9F3942E4B}">
                          <a14:imgProps xmlns:a14="http://schemas.microsoft.com/office/drawing/2010/main">
                            <a14:imgLayer r:embed="rId3">
                              <a14:imgEffect>
                                <a14:backgroundRemoval t="2400" b="96000" l="0" r="99727">
                                  <a14:foregroundMark x1="66393" y1="76800" x2="42350" y2="91600"/>
                                  <a14:foregroundMark x1="42350" y1="91600" x2="27322" y2="43200"/>
                                  <a14:foregroundMark x1="27322" y1="43200" x2="75956" y2="46400"/>
                                  <a14:foregroundMark x1="75956" y1="46400" x2="59290" y2="74000"/>
                                  <a14:foregroundMark x1="59290" y1="74000" x2="57923" y2="74800"/>
                                  <a14:foregroundMark x1="56557" y1="90800" x2="37158" y2="88800"/>
                                  <a14:foregroundMark x1="37158" y1="88800" x2="3005" y2="54000"/>
                                  <a14:foregroundMark x1="3005" y1="54000" x2="22404" y2="18400"/>
                                  <a14:foregroundMark x1="22404" y1="18400" x2="23224" y2="65600"/>
                                  <a14:foregroundMark x1="23224" y1="65600" x2="20492" y2="69600"/>
                                  <a14:foregroundMark x1="39071" y1="93200" x2="20219" y2="89200"/>
                                  <a14:foregroundMark x1="20219" y1="89200" x2="36339" y2="93600"/>
                                  <a14:foregroundMark x1="15301" y1="89600" x2="22951" y2="90800"/>
                                  <a14:foregroundMark x1="9563" y1="90400" x2="42077" y2="96000"/>
                                  <a14:foregroundMark x1="32610" y1="24467" x2="9836" y2="20000"/>
                                  <a14:foregroundMark x1="66940" y1="31200" x2="33617" y2="24664"/>
                                  <a14:foregroundMark x1="9836" y1="20000" x2="3552" y2="40000"/>
                                  <a14:foregroundMark x1="49454" y1="12400" x2="2186" y2="7600"/>
                                  <a14:foregroundMark x1="60929" y1="14400" x2="18306" y2="400"/>
                                  <a14:foregroundMark x1="18306" y1="400" x2="546" y2="2800"/>
                                  <a14:foregroundMark x1="546" y1="2800" x2="546" y2="2800"/>
                                  <a14:foregroundMark x1="60109" y1="8000" x2="37705" y2="8800"/>
                                  <a14:foregroundMark x1="50000" y1="44800" x2="50820" y2="76400"/>
                                  <a14:foregroundMark x1="69209" y1="83134" x2="83060" y2="63200"/>
                                  <a14:foregroundMark x1="66940" y1="86400" x2="67562" y2="85504"/>
                                  <a14:foregroundMark x1="83060" y1="63200" x2="91803" y2="22800"/>
                                  <a14:foregroundMark x1="91803" y1="22800" x2="91530" y2="21600"/>
                                  <a14:foregroundMark x1="81421" y1="76400" x2="99727" y2="55200"/>
                                  <a14:foregroundMark x1="99727" y1="55200" x2="99727" y2="55200"/>
                                  <a14:foregroundMark x1="33333" y1="76800" x2="34973" y2="78400"/>
                                  <a14:foregroundMark x1="32514" y1="71200" x2="38525" y2="76400"/>
                                  <a14:foregroundMark x1="31148" y1="72000" x2="26230" y2="84800"/>
                                  <a14:backgroundMark x1="88525" y1="92400" x2="82787" y2="94400"/>
                                  <a14:backgroundMark x1="92350" y1="88400" x2="81421" y2="90000"/>
                                  <a14:backgroundMark x1="85792" y1="86400" x2="81967" y2="91600"/>
                                  <a14:backgroundMark x1="78415" y1="89600" x2="72131" y2="90400"/>
                                  <a14:backgroundMark x1="72131" y1="87200" x2="70219" y2="89200"/>
                                  <a14:backgroundMark x1="29508" y1="32800" x2="29508" y2="40000"/>
                                  <a14:backgroundMark x1="30601" y1="32000" x2="30601" y2="40000"/>
                                  <a14:backgroundMark x1="29508" y1="32800" x2="30055" y2="39600"/>
                                  <a14:backgroundMark x1="29235" y1="31600" x2="30601" y2="32000"/>
                                  <a14:backgroundMark x1="29508" y1="31600" x2="30601" y2="31600"/>
                                </a14:backgroundRemoval>
                              </a14:imgEffect>
                            </a14:imgLayer>
                          </a14:imgProps>
                        </a:ext>
                      </a:extLst>
                    </a:blip>
                    <a:srcRect l="-1" r="44970" b="59718"/>
                    <a:stretch/>
                  </p:blipFill>
                  <p:spPr>
                    <a:xfrm>
                      <a:off x="1547664" y="2708920"/>
                      <a:ext cx="3024336" cy="1512168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6" name="文字方塊 5">
                      <a:extLst>
                        <a:ext uri="{FF2B5EF4-FFF2-40B4-BE49-F238E27FC236}">
                          <a16:creationId xmlns:a16="http://schemas.microsoft.com/office/drawing/2014/main" id="{A322EBC8-E33C-4B9F-B508-4015E0B5F6E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68963" y="2697446"/>
                      <a:ext cx="1728192" cy="34887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zh-TW" sz="1400" dirty="0"/>
                        <a:t>     Model</a:t>
                      </a:r>
                      <a:endParaRPr lang="zh-TW" altLang="en-US" sz="1400" dirty="0"/>
                    </a:p>
                  </p:txBody>
                </p:sp>
              </p:grpSp>
            </p:grpSp>
          </p:grpSp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0AB897F-F95C-3DE5-7FA5-918D48978A12}"/>
                  </a:ext>
                </a:extLst>
              </p:cNvPr>
              <p:cNvSpPr txBox="1"/>
              <p:nvPr/>
            </p:nvSpPr>
            <p:spPr>
              <a:xfrm>
                <a:off x="1592498" y="2884043"/>
                <a:ext cx="1000786" cy="369332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Training</a:t>
                </a:r>
                <a:endParaRPr lang="zh-TW" altLang="en-US" dirty="0"/>
              </a:p>
            </p:txBody>
          </p:sp>
        </p:grpSp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646E3870-DC35-44D3-D565-49BF47451AC0}"/>
                </a:ext>
              </a:extLst>
            </p:cNvPr>
            <p:cNvGrpSpPr/>
            <p:nvPr/>
          </p:nvGrpSpPr>
          <p:grpSpPr>
            <a:xfrm>
              <a:off x="3635896" y="2725686"/>
              <a:ext cx="558319" cy="369332"/>
              <a:chOff x="3667846" y="2739328"/>
              <a:chExt cx="558319" cy="369332"/>
            </a:xfrm>
          </p:grpSpPr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C94D9746-05DA-DB44-87EB-2EDC86CECBC2}"/>
                  </a:ext>
                </a:extLst>
              </p:cNvPr>
              <p:cNvSpPr txBox="1"/>
              <p:nvPr/>
            </p:nvSpPr>
            <p:spPr>
              <a:xfrm>
                <a:off x="3667846" y="2739328"/>
                <a:ext cx="313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+</a:t>
                </a:r>
                <a:endParaRPr lang="zh-TW" altLang="en-US" dirty="0"/>
              </a:p>
            </p:txBody>
          </p:sp>
          <p:pic>
            <p:nvPicPr>
              <p:cNvPr id="17" name="圖形 16" descr="聲波 以實心填滿">
                <a:extLst>
                  <a:ext uri="{FF2B5EF4-FFF2-40B4-BE49-F238E27FC236}">
                    <a16:creationId xmlns:a16="http://schemas.microsoft.com/office/drawing/2014/main" id="{7FC315CF-A4B8-DEB6-C876-9410FA5F5B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912981" y="2781177"/>
                <a:ext cx="313184" cy="313184"/>
              </a:xfrm>
              <a:prstGeom prst="rect">
                <a:avLst/>
              </a:prstGeom>
            </p:spPr>
          </p:pic>
        </p:grp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1C8E41AC-8B7B-BC24-09A5-0897B6CD4472}"/>
                </a:ext>
              </a:extLst>
            </p:cNvPr>
            <p:cNvGrpSpPr/>
            <p:nvPr/>
          </p:nvGrpSpPr>
          <p:grpSpPr>
            <a:xfrm>
              <a:off x="3635896" y="2958982"/>
              <a:ext cx="558319" cy="369332"/>
              <a:chOff x="3667846" y="2739328"/>
              <a:chExt cx="558319" cy="369332"/>
            </a:xfrm>
          </p:grpSpPr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0CAF598-5858-E47F-B9F2-BFED19506A35}"/>
                  </a:ext>
                </a:extLst>
              </p:cNvPr>
              <p:cNvSpPr txBox="1"/>
              <p:nvPr/>
            </p:nvSpPr>
            <p:spPr>
              <a:xfrm>
                <a:off x="3667846" y="2739328"/>
                <a:ext cx="313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+</a:t>
                </a:r>
                <a:endParaRPr lang="zh-TW" altLang="en-US" dirty="0"/>
              </a:p>
            </p:txBody>
          </p:sp>
          <p:pic>
            <p:nvPicPr>
              <p:cNvPr id="21" name="圖形 20" descr="聲波 以實心填滿">
                <a:extLst>
                  <a:ext uri="{FF2B5EF4-FFF2-40B4-BE49-F238E27FC236}">
                    <a16:creationId xmlns:a16="http://schemas.microsoft.com/office/drawing/2014/main" id="{CFED5EC5-550F-268A-B003-5C4FF36C3C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912981" y="2781177"/>
                <a:ext cx="313184" cy="313184"/>
              </a:xfrm>
              <a:prstGeom prst="rect">
                <a:avLst/>
              </a:prstGeom>
            </p:spPr>
          </p:pic>
        </p:grp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35327BAB-68C9-0663-B6D1-BD560959EAF4}"/>
                </a:ext>
              </a:extLst>
            </p:cNvPr>
            <p:cNvGrpSpPr/>
            <p:nvPr/>
          </p:nvGrpSpPr>
          <p:grpSpPr>
            <a:xfrm>
              <a:off x="3635896" y="3181519"/>
              <a:ext cx="558319" cy="369332"/>
              <a:chOff x="3667846" y="2739328"/>
              <a:chExt cx="558319" cy="369332"/>
            </a:xfrm>
          </p:grpSpPr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1E4668EE-FF00-D667-5E2A-F820404EECDD}"/>
                  </a:ext>
                </a:extLst>
              </p:cNvPr>
              <p:cNvSpPr txBox="1"/>
              <p:nvPr/>
            </p:nvSpPr>
            <p:spPr>
              <a:xfrm>
                <a:off x="3667846" y="2739328"/>
                <a:ext cx="313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+</a:t>
                </a:r>
                <a:endParaRPr lang="zh-TW" altLang="en-US" dirty="0"/>
              </a:p>
            </p:txBody>
          </p:sp>
          <p:pic>
            <p:nvPicPr>
              <p:cNvPr id="24" name="圖形 23" descr="聲波 以實心填滿">
                <a:extLst>
                  <a:ext uri="{FF2B5EF4-FFF2-40B4-BE49-F238E27FC236}">
                    <a16:creationId xmlns:a16="http://schemas.microsoft.com/office/drawing/2014/main" id="{73EC905E-A8FE-E1AA-53F0-642B39E9F5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912981" y="2781177"/>
                <a:ext cx="313184" cy="313184"/>
              </a:xfrm>
              <a:prstGeom prst="rect">
                <a:avLst/>
              </a:prstGeom>
            </p:spPr>
          </p:pic>
        </p:grpSp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9855BF8D-1EB6-3B2D-C98E-0D662C279686}"/>
                </a:ext>
              </a:extLst>
            </p:cNvPr>
            <p:cNvGrpSpPr/>
            <p:nvPr/>
          </p:nvGrpSpPr>
          <p:grpSpPr>
            <a:xfrm>
              <a:off x="3633170" y="3756004"/>
              <a:ext cx="558319" cy="369332"/>
              <a:chOff x="3667846" y="2739328"/>
              <a:chExt cx="558319" cy="369332"/>
            </a:xfrm>
          </p:grpSpPr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5841523A-D787-2E26-09C2-75E5D135AB53}"/>
                  </a:ext>
                </a:extLst>
              </p:cNvPr>
              <p:cNvSpPr txBox="1"/>
              <p:nvPr/>
            </p:nvSpPr>
            <p:spPr>
              <a:xfrm>
                <a:off x="3667846" y="2739328"/>
                <a:ext cx="313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+</a:t>
                </a:r>
                <a:endParaRPr lang="zh-TW" altLang="en-US" dirty="0"/>
              </a:p>
            </p:txBody>
          </p:sp>
          <p:pic>
            <p:nvPicPr>
              <p:cNvPr id="27" name="圖形 26" descr="聲波 以實心填滿">
                <a:extLst>
                  <a:ext uri="{FF2B5EF4-FFF2-40B4-BE49-F238E27FC236}">
                    <a16:creationId xmlns:a16="http://schemas.microsoft.com/office/drawing/2014/main" id="{29F8220F-82F8-D7A6-AB1C-E2E94D04C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912981" y="2781177"/>
                <a:ext cx="313184" cy="313184"/>
              </a:xfrm>
              <a:prstGeom prst="rect">
                <a:avLst/>
              </a:prstGeom>
            </p:spPr>
          </p:pic>
        </p:grp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68D315B6-4DC1-99C2-05A0-A155A05B80BF}"/>
              </a:ext>
            </a:extLst>
          </p:cNvPr>
          <p:cNvGrpSpPr/>
          <p:nvPr/>
        </p:nvGrpSpPr>
        <p:grpSpPr>
          <a:xfrm>
            <a:off x="1212472" y="4824876"/>
            <a:ext cx="3532184" cy="1612943"/>
            <a:chOff x="4776217" y="2786387"/>
            <a:chExt cx="3532184" cy="1612943"/>
          </a:xfrm>
        </p:grpSpPr>
        <p:grpSp>
          <p:nvGrpSpPr>
            <p:cNvPr id="30" name="群組 29">
              <a:extLst>
                <a:ext uri="{FF2B5EF4-FFF2-40B4-BE49-F238E27FC236}">
                  <a16:creationId xmlns:a16="http://schemas.microsoft.com/office/drawing/2014/main" id="{4CC1DF4A-BFD7-259D-7442-B4A3BE2FE204}"/>
                </a:ext>
              </a:extLst>
            </p:cNvPr>
            <p:cNvGrpSpPr/>
            <p:nvPr/>
          </p:nvGrpSpPr>
          <p:grpSpPr>
            <a:xfrm>
              <a:off x="4776217" y="2786387"/>
              <a:ext cx="3532184" cy="1612943"/>
              <a:chOff x="1592498" y="2884043"/>
              <a:chExt cx="3532184" cy="1612943"/>
            </a:xfrm>
          </p:grpSpPr>
          <p:grpSp>
            <p:nvGrpSpPr>
              <p:cNvPr id="43" name="群組 42">
                <a:extLst>
                  <a:ext uri="{FF2B5EF4-FFF2-40B4-BE49-F238E27FC236}">
                    <a16:creationId xmlns:a16="http://schemas.microsoft.com/office/drawing/2014/main" id="{346A3A01-1912-D099-B25D-58F30581599D}"/>
                  </a:ext>
                </a:extLst>
              </p:cNvPr>
              <p:cNvGrpSpPr/>
              <p:nvPr/>
            </p:nvGrpSpPr>
            <p:grpSpPr>
              <a:xfrm>
                <a:off x="1619671" y="2914820"/>
                <a:ext cx="3505011" cy="1582166"/>
                <a:chOff x="1043607" y="2697446"/>
                <a:chExt cx="4157106" cy="1793430"/>
              </a:xfrm>
            </p:grpSpPr>
            <p:grpSp>
              <p:nvGrpSpPr>
                <p:cNvPr id="45" name="群組 44">
                  <a:extLst>
                    <a:ext uri="{FF2B5EF4-FFF2-40B4-BE49-F238E27FC236}">
                      <a16:creationId xmlns:a16="http://schemas.microsoft.com/office/drawing/2014/main" id="{025F1CBE-362C-F66C-B0CD-7408890FE861}"/>
                    </a:ext>
                  </a:extLst>
                </p:cNvPr>
                <p:cNvGrpSpPr/>
                <p:nvPr/>
              </p:nvGrpSpPr>
              <p:grpSpPr>
                <a:xfrm>
                  <a:off x="1187624" y="2697446"/>
                  <a:ext cx="3994488" cy="1782209"/>
                  <a:chOff x="1547664" y="2697446"/>
                  <a:chExt cx="3994488" cy="1782209"/>
                </a:xfrm>
              </p:grpSpPr>
              <p:grpSp>
                <p:nvGrpSpPr>
                  <p:cNvPr id="47" name="群組 46">
                    <a:extLst>
                      <a:ext uri="{FF2B5EF4-FFF2-40B4-BE49-F238E27FC236}">
                        <a16:creationId xmlns:a16="http://schemas.microsoft.com/office/drawing/2014/main" id="{BEB1F553-2E6B-74FB-A70C-B10FA5407493}"/>
                      </a:ext>
                    </a:extLst>
                  </p:cNvPr>
                  <p:cNvGrpSpPr/>
                  <p:nvPr/>
                </p:nvGrpSpPr>
                <p:grpSpPr>
                  <a:xfrm>
                    <a:off x="1547664" y="2697446"/>
                    <a:ext cx="3024336" cy="1523642"/>
                    <a:chOff x="1547664" y="2697446"/>
                    <a:chExt cx="3024336" cy="1523642"/>
                  </a:xfrm>
                </p:grpSpPr>
                <p:pic>
                  <p:nvPicPr>
                    <p:cNvPr id="49" name="圖片 48">
                      <a:extLst>
                        <a:ext uri="{FF2B5EF4-FFF2-40B4-BE49-F238E27FC236}">
                          <a16:creationId xmlns:a16="http://schemas.microsoft.com/office/drawing/2014/main" id="{DF011722-C47F-CB6C-1A77-AA0FDA75CF7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BEBA8EAE-BF5A-486C-A8C5-ECC9F3942E4B}">
                          <a14:imgProps xmlns:a14="http://schemas.microsoft.com/office/drawing/2010/main">
                            <a14:imgLayer r:embed="rId3">
                              <a14:imgEffect>
                                <a14:backgroundRemoval t="2400" b="96000" l="0" r="99727">
                                  <a14:foregroundMark x1="66393" y1="76800" x2="42350" y2="91600"/>
                                  <a14:foregroundMark x1="42350" y1="91600" x2="27322" y2="43200"/>
                                  <a14:foregroundMark x1="27322" y1="43200" x2="75956" y2="46400"/>
                                  <a14:foregroundMark x1="75956" y1="46400" x2="59290" y2="74000"/>
                                  <a14:foregroundMark x1="59290" y1="74000" x2="57923" y2="74800"/>
                                  <a14:foregroundMark x1="56557" y1="90800" x2="37158" y2="88800"/>
                                  <a14:foregroundMark x1="37158" y1="88800" x2="3005" y2="54000"/>
                                  <a14:foregroundMark x1="3005" y1="54000" x2="22404" y2="18400"/>
                                  <a14:foregroundMark x1="22404" y1="18400" x2="23224" y2="65600"/>
                                  <a14:foregroundMark x1="23224" y1="65600" x2="20492" y2="69600"/>
                                  <a14:foregroundMark x1="39071" y1="93200" x2="20219" y2="89200"/>
                                  <a14:foregroundMark x1="20219" y1="89200" x2="36339" y2="93600"/>
                                  <a14:foregroundMark x1="15301" y1="89600" x2="22951" y2="90800"/>
                                  <a14:foregroundMark x1="9563" y1="90400" x2="42077" y2="96000"/>
                                  <a14:foregroundMark x1="66940" y1="31200" x2="9836" y2="20000"/>
                                  <a14:foregroundMark x1="9836" y1="20000" x2="3552" y2="40000"/>
                                  <a14:foregroundMark x1="49454" y1="12400" x2="2186" y2="7600"/>
                                  <a14:foregroundMark x1="60929" y1="14400" x2="18306" y2="400"/>
                                  <a14:foregroundMark x1="18306" y1="400" x2="546" y2="2800"/>
                                  <a14:foregroundMark x1="546" y1="2800" x2="546" y2="2800"/>
                                  <a14:foregroundMark x1="60109" y1="8000" x2="37705" y2="8800"/>
                                  <a14:foregroundMark x1="50000" y1="44800" x2="50820" y2="76400"/>
                                  <a14:foregroundMark x1="69209" y1="83134" x2="83060" y2="63200"/>
                                  <a14:foregroundMark x1="66940" y1="86400" x2="67562" y2="85504"/>
                                  <a14:foregroundMark x1="83060" y1="63200" x2="91803" y2="22800"/>
                                  <a14:foregroundMark x1="91803" y1="22800" x2="91530" y2="21600"/>
                                  <a14:foregroundMark x1="81421" y1="76400" x2="99727" y2="55200"/>
                                  <a14:foregroundMark x1="99727" y1="55200" x2="99727" y2="55200"/>
                                  <a14:foregroundMark x1="33333" y1="76800" x2="34973" y2="78400"/>
                                  <a14:foregroundMark x1="32514" y1="71200" x2="38525" y2="76400"/>
                                  <a14:foregroundMark x1="31148" y1="72000" x2="26230" y2="84800"/>
                                  <a14:backgroundMark x1="88525" y1="92400" x2="82787" y2="94400"/>
                                  <a14:backgroundMark x1="92350" y1="88400" x2="81421" y2="90000"/>
                                  <a14:backgroundMark x1="85792" y1="86400" x2="81967" y2="91600"/>
                                  <a14:backgroundMark x1="78415" y1="89600" x2="72131" y2="90400"/>
                                  <a14:backgroundMark x1="72131" y1="87200" x2="70219" y2="89200"/>
                                  <a14:backgroundMark x1="29508" y1="31600" x2="29508" y2="41600"/>
                                  <a14:backgroundMark x1="30055" y1="31200" x2="29508" y2="42800"/>
                                  <a14:backgroundMark x1="30328" y1="35200" x2="29781" y2="42000"/>
                                  <a14:backgroundMark x1="28689" y1="31200" x2="30601" y2="32000"/>
                                </a14:backgroundRemoval>
                              </a14:imgEffect>
                            </a14:imgLayer>
                          </a14:imgProps>
                        </a:ext>
                      </a:extLst>
                    </a:blip>
                    <a:srcRect l="-1" r="44970" b="59718"/>
                    <a:stretch/>
                  </p:blipFill>
                  <p:spPr>
                    <a:xfrm>
                      <a:off x="1547664" y="2708920"/>
                      <a:ext cx="3024336" cy="1512168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50" name="文字方塊 49">
                      <a:extLst>
                        <a:ext uri="{FF2B5EF4-FFF2-40B4-BE49-F238E27FC236}">
                          <a16:creationId xmlns:a16="http://schemas.microsoft.com/office/drawing/2014/main" id="{6AD4C13D-A9A1-8E3E-1DFD-C1A258C073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68963" y="2697446"/>
                      <a:ext cx="1728192" cy="34887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zh-TW" sz="1400" dirty="0"/>
                        <a:t>     Model</a:t>
                      </a:r>
                      <a:endParaRPr lang="zh-TW" altLang="en-US" sz="1400" dirty="0"/>
                    </a:p>
                  </p:txBody>
                </p:sp>
              </p:grpSp>
              <p:sp>
                <p:nvSpPr>
                  <p:cNvPr id="48" name="文字方塊 47">
                    <a:extLst>
                      <a:ext uri="{FF2B5EF4-FFF2-40B4-BE49-F238E27FC236}">
                        <a16:creationId xmlns:a16="http://schemas.microsoft.com/office/drawing/2014/main" id="{42C4291D-0965-8334-7E49-5011F8482213}"/>
                      </a:ext>
                    </a:extLst>
                  </p:cNvPr>
                  <p:cNvSpPr txBox="1"/>
                  <p:nvPr/>
                </p:nvSpPr>
                <p:spPr>
                  <a:xfrm>
                    <a:off x="3437846" y="4095896"/>
                    <a:ext cx="2104306" cy="383759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TW" sz="1600" dirty="0"/>
                      <a:t>Noisy Embedding</a:t>
                    </a:r>
                    <a:endParaRPr lang="zh-TW" altLang="en-US" sz="1600" dirty="0"/>
                  </a:p>
                </p:txBody>
              </p:sp>
            </p:grpSp>
            <p:sp>
              <p:nvSpPr>
                <p:cNvPr id="46" name="矩形: 圓角 45">
                  <a:extLst>
                    <a:ext uri="{FF2B5EF4-FFF2-40B4-BE49-F238E27FC236}">
                      <a16:creationId xmlns:a16="http://schemas.microsoft.com/office/drawing/2014/main" id="{82EC3553-4BCA-D592-FBDF-6BA95F4828F8}"/>
                    </a:ext>
                  </a:extLst>
                </p:cNvPr>
                <p:cNvSpPr/>
                <p:nvPr/>
              </p:nvSpPr>
              <p:spPr bwMode="auto">
                <a:xfrm>
                  <a:off x="1043607" y="2708920"/>
                  <a:ext cx="4157106" cy="1781956"/>
                </a:xfrm>
                <a:prstGeom prst="roundRect">
                  <a:avLst/>
                </a:prstGeom>
                <a:noFill/>
                <a:ln w="38100" cap="flat" cmpd="sng" algn="ctr">
                  <a:solidFill>
                    <a:srgbClr val="0000FF"/>
                  </a:solidFill>
                  <a:prstDash val="sysDot"/>
                  <a:round/>
                  <a:headEnd type="none" w="med" len="med"/>
                  <a:tailEnd type="triangl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zh-TW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ea typeface="新細明體" charset="-120"/>
                  </a:endParaRPr>
                </a:p>
              </p:txBody>
            </p:sp>
          </p:grpSp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E80662E8-A718-2C58-6E4F-10969991860D}"/>
                  </a:ext>
                </a:extLst>
              </p:cNvPr>
              <p:cNvSpPr txBox="1"/>
              <p:nvPr/>
            </p:nvSpPr>
            <p:spPr>
              <a:xfrm>
                <a:off x="1592498" y="2884043"/>
                <a:ext cx="925381" cy="369332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Testing</a:t>
                </a:r>
                <a:endParaRPr lang="zh-TW" altLang="en-US" dirty="0"/>
              </a:p>
            </p:txBody>
          </p:sp>
        </p:grp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34B1CFA-538F-CD15-6EA0-2E4001F4E441}"/>
                </a:ext>
              </a:extLst>
            </p:cNvPr>
            <p:cNvSpPr/>
            <p:nvPr/>
          </p:nvSpPr>
          <p:spPr bwMode="auto">
            <a:xfrm>
              <a:off x="7185874" y="2858690"/>
              <a:ext cx="275286" cy="1233490"/>
            </a:xfrm>
            <a:prstGeom prst="rect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4B85E9A1-789D-1FBA-4E80-2D5327F88F4E}"/>
              </a:ext>
            </a:extLst>
          </p:cNvPr>
          <p:cNvSpPr txBox="1"/>
          <p:nvPr/>
        </p:nvSpPr>
        <p:spPr>
          <a:xfrm>
            <a:off x="5685979" y="3257876"/>
            <a:ext cx="34394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Train on cloud server</a:t>
            </a:r>
          </a:p>
          <a:p>
            <a:r>
              <a:rPr lang="en-US" altLang="zh-TW" dirty="0"/>
              <a:t>Simulate noisy device by injecting noise to embeddings</a:t>
            </a:r>
            <a:endParaRPr lang="zh-TW" altLang="en-US" dirty="0"/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CA3D416D-EF02-B092-8A06-BEF5D504A587}"/>
              </a:ext>
            </a:extLst>
          </p:cNvPr>
          <p:cNvCxnSpPr>
            <a:cxnSpLocks/>
            <a:stCxn id="10" idx="3"/>
            <a:endCxn id="86" idx="1"/>
          </p:cNvCxnSpPr>
          <p:nvPr/>
        </p:nvCxnSpPr>
        <p:spPr bwMode="auto">
          <a:xfrm>
            <a:off x="4744656" y="3701362"/>
            <a:ext cx="941323" cy="18179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9B66C3C2-6C79-2F8F-97D7-2C6697434E52}"/>
              </a:ext>
            </a:extLst>
          </p:cNvPr>
          <p:cNvSpPr txBox="1"/>
          <p:nvPr/>
        </p:nvSpPr>
        <p:spPr>
          <a:xfrm>
            <a:off x="5685979" y="5328631"/>
            <a:ext cx="34580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trike="sngStrike" dirty="0"/>
              <a:t>Deploy the model to device</a:t>
            </a:r>
          </a:p>
          <a:p>
            <a:r>
              <a:rPr lang="en-US" altLang="zh-TW" dirty="0"/>
              <a:t>Simulate the device on server </a:t>
            </a: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80A04BB1-A13D-9B8A-E370-4E515A41D142}"/>
              </a:ext>
            </a:extLst>
          </p:cNvPr>
          <p:cNvCxnSpPr>
            <a:cxnSpLocks/>
            <a:stCxn id="46" idx="3"/>
            <a:endCxn id="89" idx="1"/>
          </p:cNvCxnSpPr>
          <p:nvPr/>
        </p:nvCxnSpPr>
        <p:spPr bwMode="auto">
          <a:xfrm>
            <a:off x="4744656" y="5651797"/>
            <a:ext cx="941323" cy="0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398068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1F3A6-88A6-897C-A783-A9AA6AB03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068C5A-4BD4-9755-57D7-085A6C163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Method 2 : Bayesian Neural Network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0689AB-6463-F0F6-4672-B155453FD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Bayesian Neural Network</a:t>
            </a:r>
            <a:r>
              <a:rPr lang="zh-TW" altLang="en-US" dirty="0"/>
              <a:t> </a:t>
            </a:r>
            <a:r>
              <a:rPr lang="en-US" altLang="zh-TW" dirty="0"/>
              <a:t>(BNN)</a:t>
            </a:r>
          </a:p>
          <a:p>
            <a:pPr lvl="1"/>
            <a:r>
              <a:rPr lang="en-US" altLang="zh-TW" dirty="0"/>
              <a:t>Train a robust model that </a:t>
            </a:r>
            <a:r>
              <a:rPr lang="en-US" altLang="zh-TW" b="1" dirty="0"/>
              <a:t>embraces noise</a:t>
            </a:r>
          </a:p>
          <a:p>
            <a:pPr lvl="1"/>
            <a:r>
              <a:rPr lang="en-US" altLang="zh-TW" dirty="0"/>
              <a:t>BNN minimizes KL-divergence (maximize Evidence Lower Bound, ELBO)</a:t>
            </a:r>
          </a:p>
        </p:txBody>
      </p: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2A9E0745-6037-2FF5-5879-08762E427C79}"/>
              </a:ext>
            </a:extLst>
          </p:cNvPr>
          <p:cNvGrpSpPr/>
          <p:nvPr/>
        </p:nvGrpSpPr>
        <p:grpSpPr>
          <a:xfrm>
            <a:off x="827515" y="3094088"/>
            <a:ext cx="3371732" cy="1412668"/>
            <a:chOff x="4776217" y="4892818"/>
            <a:chExt cx="3371732" cy="1412668"/>
          </a:xfrm>
          <a:noFill/>
        </p:grpSpPr>
        <p:pic>
          <p:nvPicPr>
            <p:cNvPr id="53" name="圖片 52">
              <a:extLst>
                <a:ext uri="{FF2B5EF4-FFF2-40B4-BE49-F238E27FC236}">
                  <a16:creationId xmlns:a16="http://schemas.microsoft.com/office/drawing/2014/main" id="{972E34B0-11D9-F4C9-BE90-CA6A26A847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 t="1965" r="1623" b="27033"/>
            <a:stretch/>
          </p:blipFill>
          <p:spPr>
            <a:xfrm>
              <a:off x="6090266" y="4957369"/>
              <a:ext cx="1775144" cy="1312016"/>
            </a:xfrm>
            <a:prstGeom prst="rect">
              <a:avLst/>
            </a:prstGeom>
            <a:grpFill/>
          </p:spPr>
        </p:pic>
        <p:pic>
          <p:nvPicPr>
            <p:cNvPr id="54" name="圖片 53">
              <a:extLst>
                <a:ext uri="{FF2B5EF4-FFF2-40B4-BE49-F238E27FC236}">
                  <a16:creationId xmlns:a16="http://schemas.microsoft.com/office/drawing/2014/main" id="{DBF037C1-0303-6151-9BF3-F750C0D1D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 l="19177" t="73476" r="24954"/>
            <a:stretch/>
          </p:blipFill>
          <p:spPr>
            <a:xfrm>
              <a:off x="4965665" y="5537255"/>
              <a:ext cx="1008112" cy="490119"/>
            </a:xfrm>
            <a:prstGeom prst="rect">
              <a:avLst/>
            </a:prstGeom>
            <a:grpFill/>
          </p:spPr>
        </p:pic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B376A744-8AE6-C526-3203-086AE7D43A07}"/>
                </a:ext>
              </a:extLst>
            </p:cNvPr>
            <p:cNvGrpSpPr/>
            <p:nvPr/>
          </p:nvGrpSpPr>
          <p:grpSpPr>
            <a:xfrm>
              <a:off x="4776217" y="4892818"/>
              <a:ext cx="3371732" cy="1412668"/>
              <a:chOff x="1592498" y="2884043"/>
              <a:chExt cx="3371732" cy="1412668"/>
            </a:xfrm>
            <a:grpFill/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BD1D798F-9E82-36A5-746D-F13A777EC421}"/>
                  </a:ext>
                </a:extLst>
              </p:cNvPr>
              <p:cNvSpPr/>
              <p:nvPr/>
            </p:nvSpPr>
            <p:spPr bwMode="auto">
              <a:xfrm>
                <a:off x="1619671" y="2924943"/>
                <a:ext cx="3344559" cy="1371768"/>
              </a:xfrm>
              <a:prstGeom prst="roundRect">
                <a:avLst/>
              </a:prstGeom>
              <a:grpFill/>
              <a:ln w="38100" cap="flat" cmpd="sng" algn="ctr">
                <a:solidFill>
                  <a:srgbClr val="4F81BD"/>
                </a:solidFill>
                <a:prstDash val="sysDot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6BC2A7D7-4E8F-C7C1-F68F-99881CB73849}"/>
                  </a:ext>
                </a:extLst>
              </p:cNvPr>
              <p:cNvSpPr txBox="1"/>
              <p:nvPr/>
            </p:nvSpPr>
            <p:spPr>
              <a:xfrm>
                <a:off x="1592498" y="2884043"/>
                <a:ext cx="10007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4F81BD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/>
                  <a:t>CNN</a:t>
                </a:r>
                <a:endParaRPr lang="zh-TW" altLang="en-US" dirty="0"/>
              </a:p>
            </p:txBody>
          </p:sp>
        </p:grpSp>
      </p:grp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FF61A927-AF04-3757-1A4B-71550BBBE7B0}"/>
              </a:ext>
            </a:extLst>
          </p:cNvPr>
          <p:cNvGrpSpPr/>
          <p:nvPr/>
        </p:nvGrpSpPr>
        <p:grpSpPr>
          <a:xfrm>
            <a:off x="4755305" y="3134772"/>
            <a:ext cx="3371732" cy="1412668"/>
            <a:chOff x="4744283" y="5185058"/>
            <a:chExt cx="3371732" cy="1412668"/>
          </a:xfrm>
        </p:grpSpPr>
        <p:grpSp>
          <p:nvGrpSpPr>
            <p:cNvPr id="64" name="群組 63">
              <a:extLst>
                <a:ext uri="{FF2B5EF4-FFF2-40B4-BE49-F238E27FC236}">
                  <a16:creationId xmlns:a16="http://schemas.microsoft.com/office/drawing/2014/main" id="{301F207A-194C-A00B-97A9-EAB7753B1A9A}"/>
                </a:ext>
              </a:extLst>
            </p:cNvPr>
            <p:cNvGrpSpPr/>
            <p:nvPr/>
          </p:nvGrpSpPr>
          <p:grpSpPr>
            <a:xfrm>
              <a:off x="4744283" y="5185058"/>
              <a:ext cx="3371732" cy="1412668"/>
              <a:chOff x="1592498" y="2884043"/>
              <a:chExt cx="3371732" cy="1412668"/>
            </a:xfrm>
          </p:grpSpPr>
          <p:sp>
            <p:nvSpPr>
              <p:cNvPr id="65" name="矩形: 圓角 64">
                <a:extLst>
                  <a:ext uri="{FF2B5EF4-FFF2-40B4-BE49-F238E27FC236}">
                    <a16:creationId xmlns:a16="http://schemas.microsoft.com/office/drawing/2014/main" id="{6E266B03-C475-31B7-96B3-796B01EDC3B1}"/>
                  </a:ext>
                </a:extLst>
              </p:cNvPr>
              <p:cNvSpPr/>
              <p:nvPr/>
            </p:nvSpPr>
            <p:spPr bwMode="auto">
              <a:xfrm>
                <a:off x="1619671" y="2924943"/>
                <a:ext cx="3344559" cy="1371768"/>
              </a:xfrm>
              <a:prstGeom prst="roundRect">
                <a:avLst/>
              </a:prstGeom>
              <a:noFill/>
              <a:ln w="38100" cap="flat" cmpd="sng" algn="ctr">
                <a:solidFill>
                  <a:srgbClr val="4F81BD"/>
                </a:solidFill>
                <a:prstDash val="sysDot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BEF07B47-7B4B-A386-D1A0-59C478B1D0B8}"/>
                  </a:ext>
                </a:extLst>
              </p:cNvPr>
              <p:cNvSpPr txBox="1"/>
              <p:nvPr/>
            </p:nvSpPr>
            <p:spPr>
              <a:xfrm>
                <a:off x="1592498" y="2884043"/>
                <a:ext cx="1000786" cy="369332"/>
              </a:xfrm>
              <a:prstGeom prst="rect">
                <a:avLst/>
              </a:prstGeom>
              <a:ln>
                <a:solidFill>
                  <a:srgbClr val="4F81BD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/>
                  <a:t>BNN</a:t>
                </a:r>
                <a:endParaRPr lang="zh-TW" altLang="en-US" dirty="0"/>
              </a:p>
            </p:txBody>
          </p:sp>
        </p:grpSp>
        <p:pic>
          <p:nvPicPr>
            <p:cNvPr id="68" name="圖片 67">
              <a:extLst>
                <a:ext uri="{FF2B5EF4-FFF2-40B4-BE49-F238E27FC236}">
                  <a16:creationId xmlns:a16="http://schemas.microsoft.com/office/drawing/2014/main" id="{4E7BA2C1-7C25-1847-DBA2-77793E221A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 l="9702" t="75730" r="17861"/>
            <a:stretch/>
          </p:blipFill>
          <p:spPr>
            <a:xfrm>
              <a:off x="4924816" y="5887011"/>
              <a:ext cx="1361545" cy="442015"/>
            </a:xfrm>
            <a:prstGeom prst="rect">
              <a:avLst/>
            </a:prstGeom>
          </p:spPr>
        </p:pic>
        <p:pic>
          <p:nvPicPr>
            <p:cNvPr id="69" name="圖片 68">
              <a:extLst>
                <a:ext uri="{FF2B5EF4-FFF2-40B4-BE49-F238E27FC236}">
                  <a16:creationId xmlns:a16="http://schemas.microsoft.com/office/drawing/2014/main" id="{06F0BDDF-4933-897E-6DC3-CC5D35231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496" b="75219" l="565" r="89831">
                          <a14:foregroundMark x1="84746" y1="30612" x2="27684" y2="14869"/>
                          <a14:foregroundMark x1="27684" y1="14869" x2="7062" y2="38484"/>
                          <a14:foregroundMark x1="7062" y1="38484" x2="26836" y2="63557"/>
                          <a14:foregroundMark x1="26836" y1="63557" x2="68079" y2="52770"/>
                          <a14:foregroundMark x1="68079" y1="52770" x2="72316" y2="30029"/>
                          <a14:foregroundMark x1="72316" y1="30029" x2="70621" y2="24490"/>
                          <a14:foregroundMark x1="81638" y1="30029" x2="58192" y2="24198"/>
                          <a14:foregroundMark x1="58192" y1="24198" x2="22599" y2="46647"/>
                          <a14:foregroundMark x1="22599" y1="46647" x2="70904" y2="59475"/>
                          <a14:foregroundMark x1="70904" y1="59475" x2="80791" y2="33236"/>
                          <a14:foregroundMark x1="67514" y1="22741" x2="47458" y2="32945"/>
                          <a14:foregroundMark x1="47458" y1="32945" x2="63277" y2="47522"/>
                          <a14:foregroundMark x1="63277" y1="47522" x2="68362" y2="34694"/>
                          <a14:foregroundMark x1="41525" y1="27114" x2="51412" y2="53353"/>
                          <a14:foregroundMark x1="51412" y1="53353" x2="56780" y2="46064"/>
                          <a14:foregroundMark x1="53390" y1="31778" x2="51977" y2="57143"/>
                          <a14:foregroundMark x1="51977" y1="57143" x2="64972" y2="51603"/>
                          <a14:foregroundMark x1="67797" y1="27988" x2="68362" y2="46356"/>
                          <a14:foregroundMark x1="61017" y1="36443" x2="38983" y2="38192"/>
                          <a14:foregroundMark x1="38983" y1="38192" x2="51130" y2="45481"/>
                          <a14:foregroundMark x1="31921" y1="23907" x2="48305" y2="38192"/>
                          <a14:foregroundMark x1="48305" y1="38192" x2="48870" y2="36443"/>
                          <a14:foregroundMark x1="28249" y1="25364" x2="46610" y2="28863"/>
                          <a14:foregroundMark x1="30791" y1="29738" x2="41525" y2="40816"/>
                          <a14:foregroundMark x1="22599" y1="27405" x2="24294" y2="27988"/>
                          <a14:foregroundMark x1="25424" y1="30029" x2="26836" y2="34111"/>
                          <a14:foregroundMark x1="24576" y1="25948" x2="20621" y2="44023"/>
                          <a14:foregroundMark x1="29661" y1="42566" x2="44915" y2="62682"/>
                          <a14:foregroundMark x1="9887" y1="57434" x2="23446" y2="74344"/>
                          <a14:foregroundMark x1="32486" y1="65015" x2="50565" y2="71429"/>
                          <a14:foregroundMark x1="76836" y1="59475" x2="56780" y2="68222"/>
                          <a14:foregroundMark x1="77119" y1="60350" x2="60734" y2="69388"/>
                          <a14:foregroundMark x1="75424" y1="67347" x2="56215" y2="70262"/>
                          <a14:foregroundMark x1="80226" y1="65306" x2="64407" y2="73761"/>
                          <a14:foregroundMark x1="75989" y1="63848" x2="48305" y2="69388"/>
                          <a14:foregroundMark x1="54520" y1="66472" x2="42655" y2="69679"/>
                          <a14:foregroundMark x1="29944" y1="71137" x2="57345" y2="73178"/>
                          <a14:foregroundMark x1="20056" y1="67638" x2="43785" y2="72595"/>
                          <a14:foregroundMark x1="12429" y1="62682" x2="26836" y2="71720"/>
                          <a14:foregroundMark x1="5085" y1="62391" x2="24294" y2="73469"/>
                          <a14:foregroundMark x1="6497" y1="64431" x2="39831" y2="75510"/>
                          <a14:foregroundMark x1="35593" y1="69096" x2="63277" y2="74927"/>
                          <a14:foregroundMark x1="4237" y1="39650" x2="4802" y2="65306"/>
                          <a14:foregroundMark x1="4802" y1="17784" x2="5932" y2="47813"/>
                          <a14:foregroundMark x1="1977" y1="25656" x2="1130" y2="47230"/>
                          <a14:foregroundMark x1="4520" y1="26531" x2="6497" y2="57726"/>
                          <a14:foregroundMark x1="1130" y1="38192" x2="5650" y2="62974"/>
                          <a14:foregroundMark x1="2825" y1="38192" x2="847" y2="71137"/>
                          <a14:foregroundMark x1="847" y1="71137" x2="1977" y2="72886"/>
                          <a14:foregroundMark x1="2542" y1="22157" x2="19492" y2="21866"/>
                          <a14:foregroundMark x1="6497" y1="16035" x2="27966" y2="17784"/>
                          <a14:foregroundMark x1="8475" y1="11079" x2="40113" y2="16035"/>
                          <a14:foregroundMark x1="31073" y1="13411" x2="65514" y2="15517"/>
                          <a14:foregroundMark x1="32203" y1="10496" x2="58475" y2="11079"/>
                          <a14:foregroundMark x1="78249" y1="44023" x2="85593" y2="61516"/>
                          <a14:foregroundMark x1="82768" y1="34402" x2="78531" y2="53061"/>
                          <a14:foregroundMark x1="85876" y1="36735" x2="82768" y2="53061"/>
                          <a14:foregroundMark x1="88701" y1="39650" x2="83333" y2="58601"/>
                          <a14:foregroundMark x1="87288" y1="48688" x2="81356" y2="58601"/>
                          <a14:foregroundMark x1="86158" y1="49563" x2="85593" y2="63557"/>
                          <a14:backgroundMark x1="69209" y1="14869" x2="67232" y2="16910"/>
                        </a14:backgroundRemoval>
                      </a14:imgEffect>
                    </a14:imgLayer>
                  </a14:imgProps>
                </a:ext>
              </a:extLst>
            </a:blip>
            <a:srcRect t="6678" r="12459" b="24862"/>
            <a:stretch/>
          </p:blipFill>
          <p:spPr>
            <a:xfrm>
              <a:off x="6318183" y="5269341"/>
              <a:ext cx="1710201" cy="1295882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A0A5C08F-9390-49C6-7EFA-A70EC55642D2}"/>
                  </a:ext>
                </a:extLst>
              </p:cNvPr>
              <p:cNvSpPr txBox="1"/>
              <p:nvPr/>
            </p:nvSpPr>
            <p:spPr>
              <a:xfrm>
                <a:off x="1374839" y="4685669"/>
                <a:ext cx="2304256" cy="1040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Loss : Cross Entropy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d>
                            <m:d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</m:d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altLang="zh-TW" i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m:rPr>
                              <m:sty m:val="p"/>
                            </m:rPr>
                            <a:rPr lang="en-US" altLang="zh-TW" i="0">
                              <a:latin typeface="Cambria Math" panose="02040503050406030204" pitchFamily="18" charset="0"/>
                            </a:rPr>
                            <m:t>og</m:t>
                          </m:r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d>
                            <m:d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A0A5C08F-9390-49C6-7EFA-A70EC55642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839" y="4685669"/>
                <a:ext cx="2304256" cy="1040093"/>
              </a:xfrm>
              <a:prstGeom prst="rect">
                <a:avLst/>
              </a:prstGeom>
              <a:blipFill>
                <a:blip r:embed="rId7"/>
                <a:stretch>
                  <a:fillRect l="-2381" t="-3529" r="-21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468F1E5E-4AE9-AE94-BB5A-1280FD3B8ECC}"/>
                  </a:ext>
                </a:extLst>
              </p:cNvPr>
              <p:cNvSpPr txBox="1"/>
              <p:nvPr/>
            </p:nvSpPr>
            <p:spPr>
              <a:xfrm>
                <a:off x="4233058" y="4674898"/>
                <a:ext cx="4443398" cy="10616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/>
                  <a:t>Loss : KL-divergence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</m:d>
                              <m: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ES" altLang="zh-TW" sz="160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og</m:t>
                              </m:r>
                              <m: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</m:e>
                              </m:d>
                            </m:e>
                          </m:nary>
                        </m:e>
                      </m:nary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𝐾𝐿</m:t>
                      </m:r>
                      <m:d>
                        <m:d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Normal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468F1E5E-4AE9-AE94-BB5A-1280FD3B8E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3058" y="4674898"/>
                <a:ext cx="4443398" cy="1061637"/>
              </a:xfrm>
              <a:prstGeom prst="rect">
                <a:avLst/>
              </a:prstGeom>
              <a:blipFill>
                <a:blip r:embed="rId8"/>
                <a:stretch>
                  <a:fillRect t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左大括弧 30">
            <a:extLst>
              <a:ext uri="{FF2B5EF4-FFF2-40B4-BE49-F238E27FC236}">
                <a16:creationId xmlns:a16="http://schemas.microsoft.com/office/drawing/2014/main" id="{3E0AE073-EA43-0BC4-241C-E8572F8A57E8}"/>
              </a:ext>
            </a:extLst>
          </p:cNvPr>
          <p:cNvSpPr/>
          <p:nvPr/>
        </p:nvSpPr>
        <p:spPr bwMode="auto">
          <a:xfrm rot="16200000">
            <a:off x="5373386" y="4783885"/>
            <a:ext cx="197007" cy="2062006"/>
          </a:xfrm>
          <a:prstGeom prst="leftBrace">
            <a:avLst>
              <a:gd name="adj1" fmla="val 138435"/>
              <a:gd name="adj2" fmla="val 50336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38CD3AB-72A9-6FAC-0C77-8AC8FF9B755C}"/>
              </a:ext>
            </a:extLst>
          </p:cNvPr>
          <p:cNvSpPr txBox="1"/>
          <p:nvPr/>
        </p:nvSpPr>
        <p:spPr>
          <a:xfrm>
            <a:off x="4303521" y="5917827"/>
            <a:ext cx="22326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Mean of cross entropy</a:t>
            </a:r>
            <a:r>
              <a:rPr lang="zh-TW" altLang="en-US" sz="1600" dirty="0"/>
              <a:t> </a:t>
            </a:r>
            <a:r>
              <a:rPr lang="en-US" altLang="zh-TW" sz="1600" dirty="0"/>
              <a:t>loss </a:t>
            </a:r>
            <a:r>
              <a:rPr lang="en-US" altLang="zh-TW" sz="1600" dirty="0" err="1"/>
              <a:t>acorss</a:t>
            </a:r>
            <a:r>
              <a:rPr lang="en-US" altLang="zh-TW" sz="1600" dirty="0"/>
              <a:t> samples</a:t>
            </a:r>
            <a:endParaRPr lang="zh-TW" altLang="en-US" sz="1600" dirty="0"/>
          </a:p>
        </p:txBody>
      </p:sp>
      <p:sp>
        <p:nvSpPr>
          <p:cNvPr id="34" name="左大括弧 33">
            <a:extLst>
              <a:ext uri="{FF2B5EF4-FFF2-40B4-BE49-F238E27FC236}">
                <a16:creationId xmlns:a16="http://schemas.microsoft.com/office/drawing/2014/main" id="{A3F14981-8036-FAA4-8B12-7E908F47424B}"/>
              </a:ext>
            </a:extLst>
          </p:cNvPr>
          <p:cNvSpPr/>
          <p:nvPr/>
        </p:nvSpPr>
        <p:spPr bwMode="auto">
          <a:xfrm rot="16200000">
            <a:off x="7631560" y="5002436"/>
            <a:ext cx="217583" cy="1584176"/>
          </a:xfrm>
          <a:prstGeom prst="leftBrace">
            <a:avLst>
              <a:gd name="adj1" fmla="val 138435"/>
              <a:gd name="adj2" fmla="val 50336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C0A3CA0-BCCE-6E8E-50E5-ED622F3454BD}"/>
              </a:ext>
            </a:extLst>
          </p:cNvPr>
          <p:cNvSpPr txBox="1"/>
          <p:nvPr/>
        </p:nvSpPr>
        <p:spPr>
          <a:xfrm>
            <a:off x="6673556" y="5897771"/>
            <a:ext cx="21585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Ensure robustness against noise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4983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70D2C057-9E99-1743-DCDF-EFE279B45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2" t="7829" r="9589" b="3532"/>
          <a:stretch/>
        </p:blipFill>
        <p:spPr>
          <a:xfrm>
            <a:off x="4534218" y="4221088"/>
            <a:ext cx="3421370" cy="264538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3C78D61E-4C16-8C9E-35C9-84F9C75EC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Robustness Against Noise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7A739D-EE7C-1DF0-64DA-AB004F526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Both method works well on different datasets</a:t>
            </a:r>
          </a:p>
          <a:p>
            <a:pPr lvl="1"/>
            <a:r>
              <a:rPr lang="en-US" altLang="zh-TW" dirty="0"/>
              <a:t>Trade-off between accuracy on clean data &amp; noise tolerance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marL="341312" lvl="1" indent="0">
              <a:buNone/>
            </a:pPr>
            <a:endParaRPr lang="en-US" altLang="zh-TW" dirty="0"/>
          </a:p>
          <a:p>
            <a:pPr marL="341312" lvl="1" indent="0">
              <a:buNone/>
            </a:pPr>
            <a:endParaRPr lang="en-US" altLang="zh-TW" sz="600" dirty="0"/>
          </a:p>
          <a:p>
            <a:r>
              <a:rPr lang="en-US" altLang="zh-TW" dirty="0"/>
              <a:t>Tolerance against large noise</a:t>
            </a:r>
          </a:p>
          <a:p>
            <a:pPr lvl="1"/>
            <a:r>
              <a:rPr lang="en-US" altLang="zh-TW" dirty="0"/>
              <a:t>Little noise has great effect</a:t>
            </a:r>
            <a:endParaRPr lang="zh-TW" altLang="en-US" dirty="0"/>
          </a:p>
        </p:txBody>
      </p:sp>
      <p:graphicFrame>
        <p:nvGraphicFramePr>
          <p:cNvPr id="4" name="圖表 3">
            <a:extLst>
              <a:ext uri="{FF2B5EF4-FFF2-40B4-BE49-F238E27FC236}">
                <a16:creationId xmlns:a16="http://schemas.microsoft.com/office/drawing/2014/main" id="{AAF6AC29-5B24-4C0C-A2E5-DB4EA857BA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4202010"/>
              </p:ext>
            </p:extLst>
          </p:nvPr>
        </p:nvGraphicFramePr>
        <p:xfrm>
          <a:off x="4420731" y="2420889"/>
          <a:ext cx="3732018" cy="18001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圖表 4">
            <a:extLst>
              <a:ext uri="{FF2B5EF4-FFF2-40B4-BE49-F238E27FC236}">
                <a16:creationId xmlns:a16="http://schemas.microsoft.com/office/drawing/2014/main" id="{D92E1BF8-B303-43DE-BC90-ADF7BF3DEA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7993945"/>
              </p:ext>
            </p:extLst>
          </p:nvPr>
        </p:nvGraphicFramePr>
        <p:xfrm>
          <a:off x="683568" y="2420888"/>
          <a:ext cx="3732018" cy="18001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圖表 5">
            <a:extLst>
              <a:ext uri="{FF2B5EF4-FFF2-40B4-BE49-F238E27FC236}">
                <a16:creationId xmlns:a16="http://schemas.microsoft.com/office/drawing/2014/main" id="{CBA30B92-9874-4502-CBBF-79F76A8C051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5142762"/>
              </p:ext>
            </p:extLst>
          </p:nvPr>
        </p:nvGraphicFramePr>
        <p:xfrm>
          <a:off x="683568" y="4869160"/>
          <a:ext cx="3732019" cy="198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橢圓 10">
            <a:extLst>
              <a:ext uri="{FF2B5EF4-FFF2-40B4-BE49-F238E27FC236}">
                <a16:creationId xmlns:a16="http://schemas.microsoft.com/office/drawing/2014/main" id="{E74CDC0C-4467-D9D4-9411-BF6D85D2A5A2}"/>
              </a:ext>
            </a:extLst>
          </p:cNvPr>
          <p:cNvSpPr/>
          <p:nvPr/>
        </p:nvSpPr>
        <p:spPr bwMode="auto">
          <a:xfrm>
            <a:off x="7674710" y="4293096"/>
            <a:ext cx="277416" cy="792088"/>
          </a:xfrm>
          <a:prstGeom prst="ellipse">
            <a:avLst/>
          </a:prstGeom>
          <a:noFill/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A42B31DE-7E7D-847D-230B-4F64D83EB223}"/>
              </a:ext>
            </a:extLst>
          </p:cNvPr>
          <p:cNvSpPr txBox="1"/>
          <p:nvPr/>
        </p:nvSpPr>
        <p:spPr>
          <a:xfrm>
            <a:off x="8069075" y="4373487"/>
            <a:ext cx="1011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High acc. 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9EAB1727-ADA9-0FCA-D09C-4FEAD70381B5}"/>
              </a:ext>
            </a:extLst>
          </p:cNvPr>
          <p:cNvSpPr txBox="1"/>
          <p:nvPr/>
        </p:nvSpPr>
        <p:spPr>
          <a:xfrm>
            <a:off x="7969018" y="6283725"/>
            <a:ext cx="10863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large noise</a:t>
            </a:r>
            <a:endParaRPr lang="zh-TW" altLang="en-US" sz="1400" dirty="0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A56E99BC-1519-355C-0680-4FFA0E553A00}"/>
              </a:ext>
            </a:extLst>
          </p:cNvPr>
          <p:cNvSpPr/>
          <p:nvPr/>
        </p:nvSpPr>
        <p:spPr bwMode="auto">
          <a:xfrm>
            <a:off x="7687063" y="6421172"/>
            <a:ext cx="277416" cy="436828"/>
          </a:xfrm>
          <a:prstGeom prst="ellipse">
            <a:avLst/>
          </a:prstGeom>
          <a:noFill/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24982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C07FE1-D005-07F9-D706-930BA1BC4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Origin of Noise Resilience in NN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CD6B5B8-44EA-A37C-3EA9-8A5562C12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Collect the value of every embeddings</a:t>
            </a:r>
          </a:p>
          <a:p>
            <a:pPr lvl="1"/>
            <a:r>
              <a:rPr lang="en-US" altLang="zh-TW" dirty="0"/>
              <a:t>Blue      : Original embedding value distribution</a:t>
            </a:r>
          </a:p>
          <a:p>
            <a:pPr lvl="1"/>
            <a:r>
              <a:rPr lang="en-US" altLang="zh-TW" dirty="0"/>
              <a:t>Orange : New distribution on simulated noisy device</a:t>
            </a:r>
          </a:p>
          <a:p>
            <a:pPr lvl="1"/>
            <a:r>
              <a:rPr lang="en-US" altLang="zh-TW" dirty="0"/>
              <a:t>Model learns to against noise by amplifying magnitude of embeddings</a:t>
            </a:r>
          </a:p>
          <a:p>
            <a:pPr lvl="1"/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2012357-7690-987E-40E8-0E02D41F358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85" t="7621" r="9492" b="4172"/>
          <a:stretch/>
        </p:blipFill>
        <p:spPr>
          <a:xfrm>
            <a:off x="6082963" y="3429000"/>
            <a:ext cx="3061037" cy="188136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245706C2-09CE-8A62-91E8-6187022B2AE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86" t="6824" r="8641" b="4001"/>
          <a:stretch/>
        </p:blipFill>
        <p:spPr>
          <a:xfrm>
            <a:off x="60831" y="3428999"/>
            <a:ext cx="3048129" cy="188136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7B7775F-6682-9ADF-D483-8484A4148A5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4" t="6444" r="9471" b="2709"/>
          <a:stretch/>
        </p:blipFill>
        <p:spPr>
          <a:xfrm>
            <a:off x="3108960" y="3428999"/>
            <a:ext cx="2974003" cy="1881365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5DFA9CBC-92F3-00FB-81C6-60F8B6CD5D4B}"/>
              </a:ext>
            </a:extLst>
          </p:cNvPr>
          <p:cNvSpPr txBox="1"/>
          <p:nvPr/>
        </p:nvSpPr>
        <p:spPr>
          <a:xfrm>
            <a:off x="606679" y="5310364"/>
            <a:ext cx="209275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27</a:t>
            </a:r>
            <a:r>
              <a:rPr lang="zh-TW" altLang="en-US" sz="1600" dirty="0"/>
              <a:t> </a:t>
            </a:r>
            <a:r>
              <a:rPr lang="en-US" altLang="zh-TW" sz="1600" dirty="0"/>
              <a:t>%</a:t>
            </a:r>
            <a:r>
              <a:rPr lang="zh-TW" altLang="en-US" sz="1600" dirty="0"/>
              <a:t> </a:t>
            </a:r>
            <a:r>
              <a:rPr lang="en-US" altLang="zh-TW" sz="1600" dirty="0"/>
              <a:t>accuracy</a:t>
            </a:r>
          </a:p>
          <a:p>
            <a:pPr algn="ctr"/>
            <a:endParaRPr lang="en-US" altLang="zh-TW" sz="1600" dirty="0"/>
          </a:p>
          <a:p>
            <a:pPr algn="ctr"/>
            <a:r>
              <a:rPr lang="en-US" altLang="zh-TW" sz="1600" dirty="0"/>
              <a:t>Noise dominates the embedding </a:t>
            </a:r>
            <a:endParaRPr lang="zh-TW" altLang="en-US" sz="16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4A95460-E2D9-7E03-6AA3-1DA15AB4B2B5}"/>
              </a:ext>
            </a:extLst>
          </p:cNvPr>
          <p:cNvSpPr txBox="1"/>
          <p:nvPr/>
        </p:nvSpPr>
        <p:spPr>
          <a:xfrm>
            <a:off x="755576" y="3122453"/>
            <a:ext cx="18539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Baseline</a:t>
            </a:r>
            <a:endParaRPr lang="zh-TW" altLang="en-US" sz="16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13C13B3-0D69-5018-EA0B-DC9058D45658}"/>
              </a:ext>
            </a:extLst>
          </p:cNvPr>
          <p:cNvSpPr txBox="1"/>
          <p:nvPr/>
        </p:nvSpPr>
        <p:spPr>
          <a:xfrm>
            <a:off x="3601046" y="3090444"/>
            <a:ext cx="22358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Noise-Aware Training</a:t>
            </a:r>
            <a:endParaRPr lang="zh-TW" altLang="en-US" sz="1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2A211DF-8C1C-9108-7549-915868DB25ED}"/>
              </a:ext>
            </a:extLst>
          </p:cNvPr>
          <p:cNvSpPr txBox="1"/>
          <p:nvPr/>
        </p:nvSpPr>
        <p:spPr>
          <a:xfrm>
            <a:off x="3429526" y="5310364"/>
            <a:ext cx="25106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92</a:t>
            </a:r>
            <a:r>
              <a:rPr lang="zh-TW" altLang="en-US" sz="1600" dirty="0"/>
              <a:t> </a:t>
            </a:r>
            <a:r>
              <a:rPr lang="en-US" altLang="zh-TW" sz="1600" dirty="0"/>
              <a:t>%</a:t>
            </a:r>
            <a:r>
              <a:rPr lang="zh-TW" altLang="en-US" sz="1600" dirty="0"/>
              <a:t> </a:t>
            </a:r>
            <a:r>
              <a:rPr lang="en-US" altLang="zh-TW" sz="1600" dirty="0"/>
              <a:t>accuracy</a:t>
            </a:r>
          </a:p>
          <a:p>
            <a:pPr algn="ctr"/>
            <a:endParaRPr lang="en-US" altLang="zh-TW" sz="1600" dirty="0"/>
          </a:p>
          <a:p>
            <a:pPr algn="ctr"/>
            <a:r>
              <a:rPr lang="en-US" altLang="zh-TW" sz="1600" dirty="0"/>
              <a:t>Noise has little impact on embedding </a:t>
            </a:r>
            <a:endParaRPr lang="zh-TW" altLang="en-US" sz="16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B50BF32-E52B-A629-81E5-A2916256C857}"/>
              </a:ext>
            </a:extLst>
          </p:cNvPr>
          <p:cNvSpPr txBox="1"/>
          <p:nvPr/>
        </p:nvSpPr>
        <p:spPr>
          <a:xfrm>
            <a:off x="6403529" y="5310364"/>
            <a:ext cx="25106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88</a:t>
            </a:r>
            <a:r>
              <a:rPr lang="zh-TW" altLang="en-US" sz="1600" dirty="0"/>
              <a:t> </a:t>
            </a:r>
            <a:r>
              <a:rPr lang="en-US" altLang="zh-TW" sz="1600" dirty="0"/>
              <a:t>%</a:t>
            </a:r>
            <a:r>
              <a:rPr lang="zh-TW" altLang="en-US" sz="1600" dirty="0"/>
              <a:t> </a:t>
            </a:r>
            <a:r>
              <a:rPr lang="en-US" altLang="zh-TW" sz="1600" dirty="0"/>
              <a:t>accuracy</a:t>
            </a:r>
          </a:p>
          <a:p>
            <a:pPr algn="ctr"/>
            <a:endParaRPr lang="en-US" altLang="zh-TW" sz="1600" dirty="0"/>
          </a:p>
          <a:p>
            <a:pPr algn="ctr"/>
            <a:r>
              <a:rPr lang="en-US" altLang="zh-TW" sz="1600" dirty="0"/>
              <a:t>Noise has almost no impact on embedding </a:t>
            </a:r>
            <a:endParaRPr lang="zh-TW" altLang="en-US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2092D65-EE20-588E-138C-CD381CA2511B}"/>
              </a:ext>
            </a:extLst>
          </p:cNvPr>
          <p:cNvSpPr txBox="1"/>
          <p:nvPr/>
        </p:nvSpPr>
        <p:spPr>
          <a:xfrm>
            <a:off x="6540905" y="3090444"/>
            <a:ext cx="22358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Bayesian NN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286483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0CC70E-96C1-9733-B473-1BAC876D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r>
              <a:rPr lang="zh-TW" altLang="en-US" dirty="0"/>
              <a:t> </a:t>
            </a:r>
            <a:r>
              <a:rPr lang="en-US" altLang="zh-TW" dirty="0"/>
              <a:t>1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598EC8-6741-B56E-2408-0C0E140C2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Accuracy drop</a:t>
            </a:r>
          </a:p>
          <a:p>
            <a:pPr lvl="1"/>
            <a:r>
              <a:rPr lang="en-US" altLang="zh-TW" dirty="0"/>
              <a:t>Original CNN model has higher acc. on clean </a:t>
            </a:r>
            <a:br>
              <a:rPr lang="en-US" altLang="zh-TW" dirty="0"/>
            </a:br>
            <a:r>
              <a:rPr lang="en-US" altLang="zh-TW" dirty="0"/>
              <a:t>device, but accuracy drops on noisy device</a:t>
            </a:r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Both noise-aware model and Bayesian NN </a:t>
            </a:r>
            <a:br>
              <a:rPr lang="en-US" altLang="zh-TW" dirty="0"/>
            </a:br>
            <a:r>
              <a:rPr lang="en-US" altLang="zh-TW" dirty="0"/>
              <a:t>resists noise by amplifying the mag. of embed.</a:t>
            </a:r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Trade off between model-robustness and accuracy on ideal device</a:t>
            </a:r>
          </a:p>
          <a:p>
            <a:pPr marL="341312" lvl="1" indent="0">
              <a:buNone/>
            </a:pPr>
            <a:endParaRPr lang="en-US" altLang="zh-TW" dirty="0"/>
          </a:p>
          <a:p>
            <a:pPr lvl="1"/>
            <a:r>
              <a:rPr lang="en-US" altLang="zh-TW" dirty="0"/>
              <a:t>One small noise for training model, one giant leap for noise-tolerance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ED2E953-6990-4864-BE95-5902045A3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60" y="1988840"/>
            <a:ext cx="3131840" cy="1744439"/>
          </a:xfrm>
          <a:prstGeom prst="rect">
            <a:avLst/>
          </a:prstGeom>
        </p:spPr>
      </p:pic>
      <p:graphicFrame>
        <p:nvGraphicFramePr>
          <p:cNvPr id="7" name="圖表 6">
            <a:extLst>
              <a:ext uri="{FF2B5EF4-FFF2-40B4-BE49-F238E27FC236}">
                <a16:creationId xmlns:a16="http://schemas.microsoft.com/office/drawing/2014/main" id="{A43D8832-7584-B2D9-DDD1-01688C37C1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76769506"/>
              </p:ext>
            </p:extLst>
          </p:nvPr>
        </p:nvGraphicFramePr>
        <p:xfrm>
          <a:off x="4355976" y="4905137"/>
          <a:ext cx="3732019" cy="19528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B275F569-7698-0257-29E4-7823E100A98A}"/>
              </a:ext>
            </a:extLst>
          </p:cNvPr>
          <p:cNvCxnSpPr>
            <a:cxnSpLocks/>
            <a:stCxn id="15" idx="3"/>
          </p:cNvCxnSpPr>
          <p:nvPr/>
        </p:nvCxnSpPr>
        <p:spPr bwMode="auto">
          <a:xfrm>
            <a:off x="3757707" y="5612107"/>
            <a:ext cx="1102325" cy="329530"/>
          </a:xfrm>
          <a:prstGeom prst="straightConnector1">
            <a:avLst/>
          </a:prstGeom>
          <a:noFill/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775691B-D8D3-D95B-D7FF-1FB6B4D2CB99}"/>
              </a:ext>
            </a:extLst>
          </p:cNvPr>
          <p:cNvSpPr txBox="1"/>
          <p:nvPr/>
        </p:nvSpPr>
        <p:spPr>
          <a:xfrm>
            <a:off x="1021403" y="5319719"/>
            <a:ext cx="273630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Little perturbation in training</a:t>
            </a:r>
          </a:p>
          <a:p>
            <a:pPr algn="ctr"/>
            <a:r>
              <a:rPr lang="en-US" altLang="zh-TW" sz="1600" dirty="0"/>
              <a:t>Great effect in testing</a:t>
            </a:r>
            <a:endParaRPr lang="zh-TW" altLang="en-US" sz="1600" dirty="0"/>
          </a:p>
        </p:txBody>
      </p:sp>
      <p:sp>
        <p:nvSpPr>
          <p:cNvPr id="21" name="流程圖: 替代程序 20">
            <a:extLst>
              <a:ext uri="{FF2B5EF4-FFF2-40B4-BE49-F238E27FC236}">
                <a16:creationId xmlns:a16="http://schemas.microsoft.com/office/drawing/2014/main" id="{08FA76D2-7D9D-03A4-349A-42C23B1EE558}"/>
              </a:ext>
            </a:extLst>
          </p:cNvPr>
          <p:cNvSpPr/>
          <p:nvPr/>
        </p:nvSpPr>
        <p:spPr bwMode="auto">
          <a:xfrm>
            <a:off x="4860032" y="5941637"/>
            <a:ext cx="936104" cy="484316"/>
          </a:xfrm>
          <a:prstGeom prst="flowChartAlternateProcess">
            <a:avLst/>
          </a:prstGeom>
          <a:noFill/>
          <a:ln w="28575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7AA82C3-041E-2F94-F7F7-6FF0AC18F087}"/>
              </a:ext>
            </a:extLst>
          </p:cNvPr>
          <p:cNvSpPr/>
          <p:nvPr/>
        </p:nvSpPr>
        <p:spPr bwMode="auto">
          <a:xfrm>
            <a:off x="4788024" y="6425953"/>
            <a:ext cx="3299971" cy="217755"/>
          </a:xfrm>
          <a:prstGeom prst="rect">
            <a:avLst/>
          </a:prstGeom>
          <a:noFill/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04269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68E30B-F531-8420-149A-6D53501BF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Impact of Metric Selection on Accuracy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3D25D-7111-9BAA-A6A6-CC20D4439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Cosine similarity is too complicated to implement in memory cell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Spatial metric is used to calculate similarity in memory</a:t>
            </a:r>
          </a:p>
          <a:p>
            <a:pPr lvl="1"/>
            <a:r>
              <a:rPr lang="en-US" altLang="zh-TW" dirty="0"/>
              <a:t>Simple hardware, but at what cost?</a:t>
            </a:r>
          </a:p>
          <a:p>
            <a:pPr lvl="1"/>
            <a:r>
              <a:rPr lang="en-US" altLang="zh-TW" dirty="0"/>
              <a:t>The performance may vary slightly between different metrics.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C9FF51C-2BC4-4119-4755-ABB3379DBE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508" r="64441"/>
          <a:stretch/>
        </p:blipFill>
        <p:spPr>
          <a:xfrm>
            <a:off x="-35043" y="4207942"/>
            <a:ext cx="2160240" cy="172057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AD9A025-09B5-BE70-5021-52C2D3E71E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5" t="8930" b="-1"/>
          <a:stretch/>
        </p:blipFill>
        <p:spPr>
          <a:xfrm>
            <a:off x="2123728" y="2132856"/>
            <a:ext cx="4536504" cy="5174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F24ACA1-EB07-DFFB-5643-AAEC1FDD771B}"/>
                  </a:ext>
                </a:extLst>
              </p:cNvPr>
              <p:cNvSpPr txBox="1"/>
              <p:nvPr/>
            </p:nvSpPr>
            <p:spPr>
              <a:xfrm>
                <a:off x="6985258" y="4090993"/>
                <a:ext cx="142923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altLang="zh-TW" sz="1600" b="0" dirty="0"/>
                  <a:t> norm</a:t>
                </a:r>
                <a:endParaRPr lang="zh-TW" altLang="en-US" sz="16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F24ACA1-EB07-DFFB-5643-AAEC1FDD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258" y="4090993"/>
                <a:ext cx="1429239" cy="338554"/>
              </a:xfrm>
              <a:prstGeom prst="rect">
                <a:avLst/>
              </a:prstGeom>
              <a:blipFill>
                <a:blip r:embed="rId4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06AF264-E446-A925-B1A7-32BBA80BD98C}"/>
                  </a:ext>
                </a:extLst>
              </p:cNvPr>
              <p:cNvSpPr txBox="1"/>
              <p:nvPr/>
            </p:nvSpPr>
            <p:spPr>
              <a:xfrm>
                <a:off x="4913901" y="4102311"/>
                <a:ext cx="9898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1600" b="0" dirty="0"/>
                  <a:t> norm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06AF264-E446-A925-B1A7-32BBA80BD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3901" y="4102311"/>
                <a:ext cx="989856" cy="338554"/>
              </a:xfrm>
              <a:prstGeom prst="rect">
                <a:avLst/>
              </a:prstGeom>
              <a:blipFill>
                <a:blip r:embed="rId5"/>
                <a:stretch>
                  <a:fillRect t="-5455" b="-2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DCAA36F1-50E2-95DB-2595-7B0C26ED7028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 bwMode="auto">
          <a:xfrm flipV="1">
            <a:off x="2125197" y="4860370"/>
            <a:ext cx="345504" cy="207857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0DF69138-7760-BD78-B1D3-CC77CCE8B00C}"/>
                  </a:ext>
                </a:extLst>
              </p:cNvPr>
              <p:cNvSpPr txBox="1"/>
              <p:nvPr/>
            </p:nvSpPr>
            <p:spPr>
              <a:xfrm>
                <a:off x="2470701" y="4567982"/>
                <a:ext cx="195875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1600" b="0" dirty="0"/>
                  <a:t> norm</a:t>
                </a:r>
                <a:r>
                  <a:rPr lang="zh-TW" altLang="en-US" sz="1600" dirty="0"/>
                  <a:t> </a:t>
                </a:r>
                <a:r>
                  <a:rPr lang="en-US" altLang="zh-TW" sz="1600" dirty="0"/>
                  <a:t>is non-normalized cos-sim</a:t>
                </a:r>
                <a:endParaRPr lang="en-US" altLang="zh-TW" sz="1600" b="0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0DF69138-7760-BD78-B1D3-CC77CCE8B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0701" y="4567982"/>
                <a:ext cx="1958752" cy="584775"/>
              </a:xfrm>
              <a:prstGeom prst="rect">
                <a:avLst/>
              </a:prstGeom>
              <a:blipFill>
                <a:blip r:embed="rId6"/>
                <a:stretch>
                  <a:fillRect l="-621" t="-3125" r="-621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71707FA3-6402-5522-E087-46310C1BC495}"/>
              </a:ext>
            </a:extLst>
          </p:cNvPr>
          <p:cNvCxnSpPr>
            <a:cxnSpLocks/>
          </p:cNvCxnSpPr>
          <p:nvPr/>
        </p:nvCxnSpPr>
        <p:spPr bwMode="auto">
          <a:xfrm>
            <a:off x="4573470" y="4738620"/>
            <a:ext cx="1429239" cy="456813"/>
          </a:xfrm>
          <a:prstGeom prst="line">
            <a:avLst/>
          </a:prstGeom>
          <a:ln w="28575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9C762B8E-D0B1-E410-C7D3-264CD57D1E75}"/>
              </a:ext>
            </a:extLst>
          </p:cNvPr>
          <p:cNvCxnSpPr>
            <a:cxnSpLocks/>
          </p:cNvCxnSpPr>
          <p:nvPr/>
        </p:nvCxnSpPr>
        <p:spPr bwMode="auto">
          <a:xfrm>
            <a:off x="4548260" y="4715025"/>
            <a:ext cx="1423322" cy="0"/>
          </a:xfrm>
          <a:prstGeom prst="line">
            <a:avLst/>
          </a:prstGeom>
          <a:ln w="28575">
            <a:solidFill>
              <a:srgbClr val="4F81BD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692A7AE1-3A6F-451F-CAC3-315234894A5D}"/>
              </a:ext>
            </a:extLst>
          </p:cNvPr>
          <p:cNvCxnSpPr>
            <a:cxnSpLocks/>
          </p:cNvCxnSpPr>
          <p:nvPr/>
        </p:nvCxnSpPr>
        <p:spPr bwMode="auto">
          <a:xfrm rot="1167457">
            <a:off x="5952959" y="4755283"/>
            <a:ext cx="144014" cy="394007"/>
          </a:xfrm>
          <a:prstGeom prst="line">
            <a:avLst/>
          </a:prstGeom>
          <a:ln w="28575">
            <a:solidFill>
              <a:srgbClr val="4F81BD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62FA6348-102D-9B33-264A-B4444A388517}"/>
              </a:ext>
            </a:extLst>
          </p:cNvPr>
          <p:cNvSpPr txBox="1"/>
          <p:nvPr/>
        </p:nvSpPr>
        <p:spPr>
          <a:xfrm>
            <a:off x="5231782" y="4430843"/>
            <a:ext cx="593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d1</a:t>
            </a:r>
            <a:endParaRPr lang="zh-TW" altLang="en-US" sz="14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608B4B59-F054-FA33-F0A2-1E7A9D67DAE5}"/>
              </a:ext>
            </a:extLst>
          </p:cNvPr>
          <p:cNvSpPr txBox="1"/>
          <p:nvPr/>
        </p:nvSpPr>
        <p:spPr>
          <a:xfrm>
            <a:off x="6002709" y="4815104"/>
            <a:ext cx="593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d2</a:t>
            </a:r>
            <a:endParaRPr lang="zh-TW" altLang="en-US" sz="14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B3E7C0D8-926B-5D38-E3A7-B584E09C162C}"/>
              </a:ext>
            </a:extLst>
          </p:cNvPr>
          <p:cNvSpPr txBox="1"/>
          <p:nvPr/>
        </p:nvSpPr>
        <p:spPr>
          <a:xfrm>
            <a:off x="5032865" y="4952286"/>
            <a:ext cx="593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d</a:t>
            </a:r>
            <a:endParaRPr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341C74F-A10D-10EC-B649-DB53BD197275}"/>
                  </a:ext>
                </a:extLst>
              </p:cNvPr>
              <p:cNvSpPr txBox="1"/>
              <p:nvPr/>
            </p:nvSpPr>
            <p:spPr>
              <a:xfrm>
                <a:off x="4185116" y="5446185"/>
                <a:ext cx="2323864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‖"/>
                          <m:endChr m:val="‖"/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400" b="0" i="0" dirty="0" smtClean="0">
                          <a:latin typeface="Cambria Math" panose="02040503050406030204" pitchFamily="18" charset="0"/>
                        </a:rPr>
                        <m:t>&lt;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sz="1400" i="0" dirty="0">
                          <a:latin typeface="Cambria Math" panose="02040503050406030204" pitchFamily="18" charset="0"/>
                        </a:rPr>
                        <m:t>&lt;</m:t>
                      </m:r>
                      <m:rad>
                        <m:radPr>
                          <m:degHide m:val="on"/>
                          <m:ctrlPr>
                            <a:rPr lang="en-US" altLang="zh-TW" sz="1400" b="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en-US" altLang="zh-TW" sz="1400" b="0" i="0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rad>
                      <m:d>
                        <m:dPr>
                          <m:begChr m:val="‖"/>
                          <m:endChr m:val="‖"/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341C74F-A10D-10EC-B649-DB53BD197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5116" y="5446185"/>
                <a:ext cx="2323864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DC27E3C5-77EC-AF41-2A8E-3ECB51EFDDD6}"/>
              </a:ext>
            </a:extLst>
          </p:cNvPr>
          <p:cNvCxnSpPr>
            <a:cxnSpLocks/>
          </p:cNvCxnSpPr>
          <p:nvPr/>
        </p:nvCxnSpPr>
        <p:spPr bwMode="auto">
          <a:xfrm>
            <a:off x="6943794" y="4738620"/>
            <a:ext cx="1429239" cy="456813"/>
          </a:xfrm>
          <a:prstGeom prst="line">
            <a:avLst/>
          </a:prstGeom>
          <a:ln w="28575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44AEC67A-AB63-FA30-18C6-1515D38ECF74}"/>
              </a:ext>
            </a:extLst>
          </p:cNvPr>
          <p:cNvCxnSpPr>
            <a:cxnSpLocks/>
          </p:cNvCxnSpPr>
          <p:nvPr/>
        </p:nvCxnSpPr>
        <p:spPr bwMode="auto">
          <a:xfrm>
            <a:off x="6918584" y="4715025"/>
            <a:ext cx="1423322" cy="0"/>
          </a:xfrm>
          <a:prstGeom prst="line">
            <a:avLst/>
          </a:prstGeom>
          <a:ln w="28575">
            <a:solidFill>
              <a:srgbClr val="4F81BD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DE801693-9586-4D8C-AB64-DE2F72932BD3}"/>
              </a:ext>
            </a:extLst>
          </p:cNvPr>
          <p:cNvCxnSpPr>
            <a:cxnSpLocks/>
          </p:cNvCxnSpPr>
          <p:nvPr/>
        </p:nvCxnSpPr>
        <p:spPr bwMode="auto">
          <a:xfrm rot="1167457">
            <a:off x="8323283" y="4755283"/>
            <a:ext cx="144014" cy="394007"/>
          </a:xfrm>
          <a:prstGeom prst="line">
            <a:avLst/>
          </a:prstGeom>
          <a:ln w="28575">
            <a:solidFill>
              <a:srgbClr val="4F81BD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F4C6903E-F4AE-D6B5-3AFE-F4BAD7D167EA}"/>
              </a:ext>
            </a:extLst>
          </p:cNvPr>
          <p:cNvSpPr txBox="1"/>
          <p:nvPr/>
        </p:nvSpPr>
        <p:spPr>
          <a:xfrm>
            <a:off x="7602106" y="4430843"/>
            <a:ext cx="593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d1</a:t>
            </a:r>
            <a:endParaRPr lang="zh-TW" altLang="en-US" sz="1400" dirty="0"/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D838E11E-DD07-EDE7-F7F8-CA62C5119D49}"/>
              </a:ext>
            </a:extLst>
          </p:cNvPr>
          <p:cNvSpPr txBox="1"/>
          <p:nvPr/>
        </p:nvSpPr>
        <p:spPr>
          <a:xfrm>
            <a:off x="7403189" y="4952286"/>
            <a:ext cx="593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d</a:t>
            </a:r>
            <a:endParaRPr lang="zh-TW" altLang="en-US" sz="1400" dirty="0"/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B21FA282-A3F9-FF74-77A4-B3FA2A05870F}"/>
              </a:ext>
            </a:extLst>
          </p:cNvPr>
          <p:cNvSpPr txBox="1"/>
          <p:nvPr/>
        </p:nvSpPr>
        <p:spPr>
          <a:xfrm>
            <a:off x="8467781" y="4824167"/>
            <a:ext cx="593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d2</a:t>
            </a:r>
            <a:endParaRPr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E677BCB8-6023-8B50-6C72-CC89B4F625BD}"/>
                  </a:ext>
                </a:extLst>
              </p:cNvPr>
              <p:cNvSpPr txBox="1"/>
              <p:nvPr/>
            </p:nvSpPr>
            <p:spPr>
              <a:xfrm>
                <a:off x="6623768" y="5350367"/>
                <a:ext cx="2323864" cy="5373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b="0" i="0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</m:rad>
                        </m:den>
                      </m:f>
                      <m:d>
                        <m:dPr>
                          <m:begChr m:val="‖"/>
                          <m:endChr m:val="‖"/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400" b="0" i="0" dirty="0" smtClean="0">
                          <a:latin typeface="Cambria Math" panose="02040503050406030204" pitchFamily="18" charset="0"/>
                        </a:rPr>
                        <m:t>&lt;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altLang="zh-TW" sz="1400" b="0" i="0" dirty="0" smtClean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b>
                          </m:sSub>
                        </m:e>
                      </m:d>
                      <m:r>
                        <a:rPr lang="en-US" altLang="zh-TW" sz="1400" i="0" dirty="0">
                          <a:latin typeface="Cambria Math" panose="02040503050406030204" pitchFamily="18" charset="0"/>
                        </a:rPr>
                        <m:t>&lt;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altLang="zh-TW" sz="1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E677BCB8-6023-8B50-6C72-CC89B4F62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3768" y="5350367"/>
                <a:ext cx="2323864" cy="53732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CB0759AB-6EC8-B7BE-D3D2-50A7A3866A0D}"/>
                  </a:ext>
                </a:extLst>
              </p:cNvPr>
              <p:cNvSpPr txBox="1"/>
              <p:nvPr/>
            </p:nvSpPr>
            <p:spPr>
              <a:xfrm>
                <a:off x="3987951" y="6138446"/>
                <a:ext cx="515604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sz="1600" b="0" dirty="0"/>
                  <a:t>Approximation (Upper/Lower bound)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1600" b="0" dirty="0"/>
                  <a:t> norm</a:t>
                </a: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CB0759AB-6EC8-B7BE-D3D2-50A7A3866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7951" y="6138446"/>
                <a:ext cx="5156049" cy="338554"/>
              </a:xfrm>
              <a:prstGeom prst="rect">
                <a:avLst/>
              </a:prstGeom>
              <a:blipFill>
                <a:blip r:embed="rId9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A9E1D800-C284-F8F0-54A3-C002D8F4A5B8}"/>
              </a:ext>
            </a:extLst>
          </p:cNvPr>
          <p:cNvCxnSpPr>
            <a:cxnSpLocks/>
          </p:cNvCxnSpPr>
          <p:nvPr/>
        </p:nvCxnSpPr>
        <p:spPr bwMode="auto">
          <a:xfrm>
            <a:off x="5436096" y="5887694"/>
            <a:ext cx="558296" cy="20804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3DEF4A95-C4E0-1099-1C2C-C55FDA7F5222}"/>
              </a:ext>
            </a:extLst>
          </p:cNvPr>
          <p:cNvCxnSpPr>
            <a:cxnSpLocks/>
          </p:cNvCxnSpPr>
          <p:nvPr/>
        </p:nvCxnSpPr>
        <p:spPr bwMode="auto">
          <a:xfrm flipH="1">
            <a:off x="7452320" y="5895404"/>
            <a:ext cx="432048" cy="21996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4485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7B16B0-9D7F-CFE5-756B-0EC821917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Experiment Setup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30AC075-06EF-D2AD-EEC3-3209793480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Evaluate accuracy of a model trained with different distance metric</a:t>
                </a:r>
              </a:p>
              <a:p>
                <a:pPr lvl="1"/>
                <a:r>
                  <a:rPr lang="en-US" altLang="zh-TW" dirty="0"/>
                  <a:t>Training : Approximated metric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8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800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altLang="zh-TW" sz="18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norm has no gradient for back prop.)</a:t>
                </a:r>
              </a:p>
              <a:p>
                <a:pPr lvl="1"/>
                <a:r>
                  <a:rPr lang="en-US" altLang="zh-TW" dirty="0"/>
                  <a:t>Testing  :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Regular metric on quantized embeddings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30AC075-06EF-D2AD-EEC3-3209793480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群組 31">
            <a:extLst>
              <a:ext uri="{FF2B5EF4-FFF2-40B4-BE49-F238E27FC236}">
                <a16:creationId xmlns:a16="http://schemas.microsoft.com/office/drawing/2014/main" id="{F9A4E76A-675A-069C-8736-EBA9A0F58FCA}"/>
              </a:ext>
            </a:extLst>
          </p:cNvPr>
          <p:cNvGrpSpPr/>
          <p:nvPr/>
        </p:nvGrpSpPr>
        <p:grpSpPr>
          <a:xfrm>
            <a:off x="867759" y="2942256"/>
            <a:ext cx="4392487" cy="1649734"/>
            <a:chOff x="971600" y="2564904"/>
            <a:chExt cx="4392487" cy="1649734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85E8D914-B9E9-477A-11A2-76DDD2CCAA75}"/>
                </a:ext>
              </a:extLst>
            </p:cNvPr>
            <p:cNvGrpSpPr/>
            <p:nvPr/>
          </p:nvGrpSpPr>
          <p:grpSpPr>
            <a:xfrm>
              <a:off x="971600" y="2564904"/>
              <a:ext cx="4392487" cy="1633500"/>
              <a:chOff x="1592498" y="2884043"/>
              <a:chExt cx="4392487" cy="1633500"/>
            </a:xfrm>
          </p:grpSpPr>
          <p:grpSp>
            <p:nvGrpSpPr>
              <p:cNvPr id="18" name="群組 17">
                <a:extLst>
                  <a:ext uri="{FF2B5EF4-FFF2-40B4-BE49-F238E27FC236}">
                    <a16:creationId xmlns:a16="http://schemas.microsoft.com/office/drawing/2014/main" id="{A64627A6-5E95-5A9E-FF61-4D9FB83D6566}"/>
                  </a:ext>
                </a:extLst>
              </p:cNvPr>
              <p:cNvGrpSpPr/>
              <p:nvPr/>
            </p:nvGrpSpPr>
            <p:grpSpPr>
              <a:xfrm>
                <a:off x="1619670" y="2924943"/>
                <a:ext cx="4365315" cy="1592600"/>
                <a:chOff x="1043606" y="2708920"/>
                <a:chExt cx="5177466" cy="1805257"/>
              </a:xfrm>
            </p:grpSpPr>
            <p:sp>
              <p:nvSpPr>
                <p:cNvPr id="20" name="矩形: 圓角 19">
                  <a:extLst>
                    <a:ext uri="{FF2B5EF4-FFF2-40B4-BE49-F238E27FC236}">
                      <a16:creationId xmlns:a16="http://schemas.microsoft.com/office/drawing/2014/main" id="{0528453C-8B64-DC9F-7EB7-7B7941F6BA8A}"/>
                    </a:ext>
                  </a:extLst>
                </p:cNvPr>
                <p:cNvSpPr/>
                <p:nvPr/>
              </p:nvSpPr>
              <p:spPr bwMode="auto">
                <a:xfrm>
                  <a:off x="1043606" y="2708920"/>
                  <a:ext cx="5177466" cy="1781956"/>
                </a:xfrm>
                <a:prstGeom prst="roundRect">
                  <a:avLst/>
                </a:prstGeom>
                <a:solidFill>
                  <a:schemeClr val="bg1"/>
                </a:solidFill>
                <a:ln w="38100" cap="flat" cmpd="sng" algn="ctr">
                  <a:solidFill>
                    <a:srgbClr val="0000FF"/>
                  </a:solidFill>
                  <a:prstDash val="sysDot"/>
                  <a:round/>
                  <a:headEnd type="none" w="med" len="med"/>
                  <a:tailEnd type="triangl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zh-TW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ea typeface="新細明體" charset="-120"/>
                  </a:endParaRPr>
                </a:p>
              </p:txBody>
            </p:sp>
            <p:grpSp>
              <p:nvGrpSpPr>
                <p:cNvPr id="21" name="群組 20">
                  <a:extLst>
                    <a:ext uri="{FF2B5EF4-FFF2-40B4-BE49-F238E27FC236}">
                      <a16:creationId xmlns:a16="http://schemas.microsoft.com/office/drawing/2014/main" id="{9D41F3DC-3787-4007-FC50-B2BBE41A0A14}"/>
                    </a:ext>
                  </a:extLst>
                </p:cNvPr>
                <p:cNvGrpSpPr/>
                <p:nvPr/>
              </p:nvGrpSpPr>
              <p:grpSpPr>
                <a:xfrm>
                  <a:off x="1187624" y="2708920"/>
                  <a:ext cx="3408585" cy="1805257"/>
                  <a:chOff x="1547664" y="2708920"/>
                  <a:chExt cx="3408585" cy="1805257"/>
                </a:xfrm>
              </p:grpSpPr>
              <p:sp>
                <p:nvSpPr>
                  <p:cNvPr id="22" name="文字方塊 21">
                    <a:extLst>
                      <a:ext uri="{FF2B5EF4-FFF2-40B4-BE49-F238E27FC236}">
                        <a16:creationId xmlns:a16="http://schemas.microsoft.com/office/drawing/2014/main" id="{582B709B-93FD-4C55-1A1A-965669C5E740}"/>
                      </a:ext>
                    </a:extLst>
                  </p:cNvPr>
                  <p:cNvSpPr txBox="1"/>
                  <p:nvPr/>
                </p:nvSpPr>
                <p:spPr>
                  <a:xfrm>
                    <a:off x="3992378" y="4130417"/>
                    <a:ext cx="963871" cy="38376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TW" sz="1600" dirty="0"/>
                      <a:t>Query</a:t>
                    </a:r>
                    <a:endParaRPr lang="zh-TW" altLang="en-US" sz="1600" dirty="0"/>
                  </a:p>
                </p:txBody>
              </p:sp>
              <p:grpSp>
                <p:nvGrpSpPr>
                  <p:cNvPr id="23" name="群組 22">
                    <a:extLst>
                      <a:ext uri="{FF2B5EF4-FFF2-40B4-BE49-F238E27FC236}">
                        <a16:creationId xmlns:a16="http://schemas.microsoft.com/office/drawing/2014/main" id="{4B8C78C2-E83B-6E3F-0A9B-CC323ADE8C93}"/>
                      </a:ext>
                    </a:extLst>
                  </p:cNvPr>
                  <p:cNvGrpSpPr/>
                  <p:nvPr/>
                </p:nvGrpSpPr>
                <p:grpSpPr>
                  <a:xfrm>
                    <a:off x="1547664" y="2708920"/>
                    <a:ext cx="2985376" cy="1512168"/>
                    <a:chOff x="1547664" y="2708920"/>
                    <a:chExt cx="2985376" cy="1512168"/>
                  </a:xfrm>
                </p:grpSpPr>
                <p:pic>
                  <p:nvPicPr>
                    <p:cNvPr id="24" name="圖片 23">
                      <a:extLst>
                        <a:ext uri="{FF2B5EF4-FFF2-40B4-BE49-F238E27FC236}">
                          <a16:creationId xmlns:a16="http://schemas.microsoft.com/office/drawing/2014/main" id="{C66CCFD9-A2DC-503A-49C9-4696C5E25CB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BEBA8EAE-BF5A-486C-A8C5-ECC9F3942E4B}">
                          <a14:imgProps xmlns:a14="http://schemas.microsoft.com/office/drawing/2010/main">
                            <a14:imgLayer r:embed="rId4">
                              <a14:imgEffect>
                                <a14:backgroundRemoval t="2400" b="96000" l="0" r="99727">
                                  <a14:foregroundMark x1="66393" y1="76800" x2="42350" y2="91600"/>
                                  <a14:foregroundMark x1="42350" y1="91600" x2="27322" y2="43200"/>
                                  <a14:foregroundMark x1="27322" y1="43200" x2="75956" y2="46400"/>
                                  <a14:foregroundMark x1="75956" y1="46400" x2="59290" y2="74000"/>
                                  <a14:foregroundMark x1="59290" y1="74000" x2="57923" y2="74800"/>
                                  <a14:foregroundMark x1="56557" y1="90800" x2="37158" y2="88800"/>
                                  <a14:foregroundMark x1="37158" y1="88800" x2="3005" y2="54000"/>
                                  <a14:foregroundMark x1="3005" y1="54000" x2="22404" y2="18400"/>
                                  <a14:foregroundMark x1="22404" y1="18400" x2="23224" y2="65600"/>
                                  <a14:foregroundMark x1="23224" y1="65600" x2="20492" y2="69600"/>
                                  <a14:foregroundMark x1="39071" y1="93200" x2="20219" y2="89200"/>
                                  <a14:foregroundMark x1="20219" y1="89200" x2="36339" y2="93600"/>
                                  <a14:foregroundMark x1="15301" y1="89600" x2="22951" y2="90800"/>
                                  <a14:foregroundMark x1="9563" y1="90400" x2="42077" y2="96000"/>
                                  <a14:foregroundMark x1="66940" y1="31200" x2="9836" y2="20000"/>
                                  <a14:foregroundMark x1="9836" y1="20000" x2="3552" y2="40000"/>
                                  <a14:foregroundMark x1="49454" y1="12400" x2="2186" y2="7600"/>
                                  <a14:foregroundMark x1="60929" y1="14400" x2="18306" y2="400"/>
                                  <a14:foregroundMark x1="18306" y1="400" x2="546" y2="2800"/>
                                  <a14:foregroundMark x1="546" y1="2800" x2="546" y2="2800"/>
                                  <a14:foregroundMark x1="60109" y1="8000" x2="37705" y2="8800"/>
                                  <a14:foregroundMark x1="50000" y1="44800" x2="50820" y2="76400"/>
                                  <a14:foregroundMark x1="69209" y1="83134" x2="83060" y2="63200"/>
                                  <a14:foregroundMark x1="66940" y1="86400" x2="67562" y2="85504"/>
                                  <a14:foregroundMark x1="83060" y1="63200" x2="91803" y2="22800"/>
                                  <a14:foregroundMark x1="91803" y1="22800" x2="91530" y2="21600"/>
                                  <a14:foregroundMark x1="81421" y1="76400" x2="99727" y2="55200"/>
                                  <a14:foregroundMark x1="99727" y1="55200" x2="99727" y2="55200"/>
                                  <a14:foregroundMark x1="33333" y1="76800" x2="34973" y2="78400"/>
                                  <a14:foregroundMark x1="32514" y1="71200" x2="38525" y2="76400"/>
                                  <a14:foregroundMark x1="31148" y1="72000" x2="26230" y2="84800"/>
                                  <a14:backgroundMark x1="88525" y1="92400" x2="82787" y2="94400"/>
                                  <a14:backgroundMark x1="92350" y1="88400" x2="81421" y2="90000"/>
                                  <a14:backgroundMark x1="85792" y1="86400" x2="81967" y2="91600"/>
                                  <a14:backgroundMark x1="78415" y1="89600" x2="72131" y2="90400"/>
                                  <a14:backgroundMark x1="72131" y1="87200" x2="70219" y2="89200"/>
                                  <a14:backgroundMark x1="29508" y1="32000" x2="29781" y2="38800"/>
                                  <a14:backgroundMark x1="30055" y1="32400" x2="29781" y2="42000"/>
                                  <a14:backgroundMark x1="29781" y1="31600" x2="29781" y2="31600"/>
                                  <a14:backgroundMark x1="29235" y1="31600" x2="29781" y2="32000"/>
                                </a14:backgroundRemoval>
                              </a14:imgEffect>
                            </a14:imgLayer>
                          </a14:imgProps>
                        </a:ext>
                      </a:extLst>
                    </a:blip>
                    <a:srcRect l="-1" r="45679" b="59718"/>
                    <a:stretch/>
                  </p:blipFill>
                  <p:spPr>
                    <a:xfrm>
                      <a:off x="1547664" y="2732222"/>
                      <a:ext cx="2985376" cy="148886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5" name="文字方塊 24">
                      <a:extLst>
                        <a:ext uri="{FF2B5EF4-FFF2-40B4-BE49-F238E27FC236}">
                          <a16:creationId xmlns:a16="http://schemas.microsoft.com/office/drawing/2014/main" id="{5CB376B4-233E-7F52-4643-EA1A3D95540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85109" y="2708920"/>
                      <a:ext cx="1728192" cy="34887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zh-TW" sz="1400" dirty="0"/>
                        <a:t>     Model</a:t>
                      </a:r>
                      <a:endParaRPr lang="zh-TW" altLang="en-US" sz="1400" dirty="0"/>
                    </a:p>
                  </p:txBody>
                </p:sp>
              </p:grpSp>
            </p:grpSp>
          </p:grpSp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8183E7DF-DC0D-CEC9-2C19-264C1570B61F}"/>
                  </a:ext>
                </a:extLst>
              </p:cNvPr>
              <p:cNvSpPr txBox="1"/>
              <p:nvPr/>
            </p:nvSpPr>
            <p:spPr>
              <a:xfrm>
                <a:off x="1592498" y="2884043"/>
                <a:ext cx="1000786" cy="369332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Training</a:t>
                </a:r>
                <a:endParaRPr lang="zh-TW" altLang="en-US" dirty="0"/>
              </a:p>
            </p:txBody>
          </p:sp>
        </p:grpSp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0E1047A6-F2EC-7914-4328-95B06A5F83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2400" b="96000" l="0" r="99727">
                          <a14:foregroundMark x1="66393" y1="76800" x2="42350" y2="91600"/>
                          <a14:foregroundMark x1="42350" y1="91600" x2="27322" y2="43200"/>
                          <a14:foregroundMark x1="27322" y1="43200" x2="75956" y2="46400"/>
                          <a14:foregroundMark x1="75956" y1="46400" x2="59290" y2="74000"/>
                          <a14:foregroundMark x1="59290" y1="74000" x2="57923" y2="74800"/>
                          <a14:foregroundMark x1="56557" y1="90800" x2="37158" y2="88800"/>
                          <a14:foregroundMark x1="37158" y1="88800" x2="3005" y2="54000"/>
                          <a14:foregroundMark x1="3005" y1="54000" x2="22404" y2="18400"/>
                          <a14:foregroundMark x1="22404" y1="18400" x2="23224" y2="65600"/>
                          <a14:foregroundMark x1="23224" y1="65600" x2="20492" y2="69600"/>
                          <a14:foregroundMark x1="39071" y1="93200" x2="20219" y2="89200"/>
                          <a14:foregroundMark x1="20219" y1="89200" x2="36339" y2="93600"/>
                          <a14:foregroundMark x1="15301" y1="89600" x2="22951" y2="90800"/>
                          <a14:foregroundMark x1="9563" y1="90400" x2="42077" y2="96000"/>
                          <a14:foregroundMark x1="66940" y1="31200" x2="9836" y2="20000"/>
                          <a14:foregroundMark x1="9836" y1="20000" x2="3552" y2="40000"/>
                          <a14:foregroundMark x1="49454" y1="12400" x2="2186" y2="7600"/>
                          <a14:foregroundMark x1="60929" y1="14400" x2="18306" y2="400"/>
                          <a14:foregroundMark x1="18306" y1="400" x2="546" y2="2800"/>
                          <a14:foregroundMark x1="546" y1="2800" x2="546" y2="2800"/>
                          <a14:foregroundMark x1="60109" y1="8000" x2="37705" y2="8800"/>
                          <a14:foregroundMark x1="50000" y1="44800" x2="50820" y2="76400"/>
                          <a14:foregroundMark x1="69209" y1="83134" x2="83060" y2="63200"/>
                          <a14:foregroundMark x1="66940" y1="86400" x2="67562" y2="85504"/>
                          <a14:foregroundMark x1="83060" y1="63200" x2="91803" y2="22800"/>
                          <a14:foregroundMark x1="91803" y1="22800" x2="91530" y2="21600"/>
                          <a14:foregroundMark x1="81421" y1="76400" x2="99727" y2="55200"/>
                          <a14:foregroundMark x1="99727" y1="55200" x2="99727" y2="55200"/>
                          <a14:foregroundMark x1="33333" y1="76800" x2="34973" y2="78400"/>
                          <a14:foregroundMark x1="32514" y1="71200" x2="38525" y2="76400"/>
                          <a14:foregroundMark x1="31148" y1="72000" x2="26230" y2="84800"/>
                          <a14:backgroundMark x1="88525" y1="92400" x2="82787" y2="94400"/>
                          <a14:backgroundMark x1="92350" y1="88400" x2="81421" y2="90000"/>
                          <a14:backgroundMark x1="85792" y1="86400" x2="81967" y2="91600"/>
                          <a14:backgroundMark x1="78415" y1="89600" x2="72131" y2="90400"/>
                          <a14:backgroundMark x1="72131" y1="87200" x2="70219" y2="89200"/>
                        </a14:backgroundRemoval>
                      </a14:imgEffect>
                    </a14:imgLayer>
                  </a14:imgProps>
                </a:ext>
              </a:extLst>
            </a:blip>
            <a:srcRect l="48910" r="45638" b="60176"/>
            <a:stretch/>
          </p:blipFill>
          <p:spPr>
            <a:xfrm>
              <a:off x="4860032" y="2631132"/>
              <a:ext cx="252572" cy="1318869"/>
            </a:xfrm>
            <a:prstGeom prst="rect">
              <a:avLst/>
            </a:prstGeom>
          </p:spPr>
        </p:pic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6549DAF2-5002-EC80-8745-AD18B9F1959B}"/>
                </a:ext>
              </a:extLst>
            </p:cNvPr>
            <p:cNvSpPr txBox="1"/>
            <p:nvPr/>
          </p:nvSpPr>
          <p:spPr>
            <a:xfrm>
              <a:off x="3629288" y="2974058"/>
              <a:ext cx="127764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sz="1600" dirty="0"/>
                <a:t>Distance</a:t>
              </a:r>
            </a:p>
            <a:p>
              <a:pPr algn="ctr"/>
              <a:r>
                <a:rPr lang="en-US" altLang="zh-TW" sz="1600" dirty="0"/>
                <a:t>metric</a:t>
              </a:r>
              <a:endParaRPr lang="zh-TW" altLang="en-US" sz="1600" dirty="0"/>
            </a:p>
          </p:txBody>
        </p:sp>
        <p:cxnSp>
          <p:nvCxnSpPr>
            <p:cNvPr id="28" name="直線單箭頭接點 27">
              <a:extLst>
                <a:ext uri="{FF2B5EF4-FFF2-40B4-BE49-F238E27FC236}">
                  <a16:creationId xmlns:a16="http://schemas.microsoft.com/office/drawing/2014/main" id="{8A2D471A-1AF2-E70D-2025-AA5D4E28FEC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685279" y="3285486"/>
              <a:ext cx="1174753" cy="0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arrow" w="med" len="med"/>
              <a:tailEnd type="arrow" w="med" len="med"/>
            </a:ln>
            <a:effectLst/>
          </p:spPr>
        </p:cxn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563A551-A2A7-5E5F-8685-269B9DCC8B4E}"/>
                </a:ext>
              </a:extLst>
            </p:cNvPr>
            <p:cNvSpPr txBox="1"/>
            <p:nvPr/>
          </p:nvSpPr>
          <p:spPr>
            <a:xfrm>
              <a:off x="4669074" y="3876084"/>
              <a:ext cx="68020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1600" dirty="0"/>
                <a:t>Data</a:t>
              </a:r>
              <a:endParaRPr lang="zh-TW" altLang="en-US" sz="1600" dirty="0"/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1FAC01E0-415B-2296-2106-A80257FEAE3E}"/>
              </a:ext>
            </a:extLst>
          </p:cNvPr>
          <p:cNvGrpSpPr/>
          <p:nvPr/>
        </p:nvGrpSpPr>
        <p:grpSpPr>
          <a:xfrm>
            <a:off x="881343" y="4804153"/>
            <a:ext cx="4392487" cy="1649734"/>
            <a:chOff x="971600" y="2564904"/>
            <a:chExt cx="4392487" cy="1649734"/>
          </a:xfrm>
        </p:grpSpPr>
        <p:grpSp>
          <p:nvGrpSpPr>
            <p:cNvPr id="34" name="群組 33">
              <a:extLst>
                <a:ext uri="{FF2B5EF4-FFF2-40B4-BE49-F238E27FC236}">
                  <a16:creationId xmlns:a16="http://schemas.microsoft.com/office/drawing/2014/main" id="{297B9CB1-FAB5-F31C-C1BC-756F19E18900}"/>
                </a:ext>
              </a:extLst>
            </p:cNvPr>
            <p:cNvGrpSpPr/>
            <p:nvPr/>
          </p:nvGrpSpPr>
          <p:grpSpPr>
            <a:xfrm>
              <a:off x="971600" y="2564904"/>
              <a:ext cx="4392487" cy="1633500"/>
              <a:chOff x="1592498" y="2884043"/>
              <a:chExt cx="4392487" cy="1633500"/>
            </a:xfrm>
          </p:grpSpPr>
          <p:grpSp>
            <p:nvGrpSpPr>
              <p:cNvPr id="39" name="群組 38">
                <a:extLst>
                  <a:ext uri="{FF2B5EF4-FFF2-40B4-BE49-F238E27FC236}">
                    <a16:creationId xmlns:a16="http://schemas.microsoft.com/office/drawing/2014/main" id="{D2A8CE55-5EB2-E8B4-0D78-91C293D2498E}"/>
                  </a:ext>
                </a:extLst>
              </p:cNvPr>
              <p:cNvGrpSpPr/>
              <p:nvPr/>
            </p:nvGrpSpPr>
            <p:grpSpPr>
              <a:xfrm>
                <a:off x="1619670" y="2924943"/>
                <a:ext cx="4365315" cy="1592600"/>
                <a:chOff x="1043606" y="2708920"/>
                <a:chExt cx="5177466" cy="1805257"/>
              </a:xfrm>
            </p:grpSpPr>
            <p:sp>
              <p:nvSpPr>
                <p:cNvPr id="41" name="矩形: 圓角 40">
                  <a:extLst>
                    <a:ext uri="{FF2B5EF4-FFF2-40B4-BE49-F238E27FC236}">
                      <a16:creationId xmlns:a16="http://schemas.microsoft.com/office/drawing/2014/main" id="{842C0D23-B366-8ECC-6113-33A105DD1E8B}"/>
                    </a:ext>
                  </a:extLst>
                </p:cNvPr>
                <p:cNvSpPr/>
                <p:nvPr/>
              </p:nvSpPr>
              <p:spPr bwMode="auto">
                <a:xfrm>
                  <a:off x="1043606" y="2708920"/>
                  <a:ext cx="5177466" cy="1781956"/>
                </a:xfrm>
                <a:prstGeom prst="roundRect">
                  <a:avLst/>
                </a:prstGeom>
                <a:solidFill>
                  <a:schemeClr val="bg1"/>
                </a:solidFill>
                <a:ln w="38100" cap="flat" cmpd="sng" algn="ctr">
                  <a:solidFill>
                    <a:srgbClr val="0000FF"/>
                  </a:solidFill>
                  <a:prstDash val="sysDot"/>
                  <a:round/>
                  <a:headEnd type="none" w="med" len="med"/>
                  <a:tailEnd type="triangl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1" lang="zh-TW" alt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ea typeface="新細明體" charset="-120"/>
                  </a:endParaRPr>
                </a:p>
              </p:txBody>
            </p:sp>
            <p:grpSp>
              <p:nvGrpSpPr>
                <p:cNvPr id="42" name="群組 41">
                  <a:extLst>
                    <a:ext uri="{FF2B5EF4-FFF2-40B4-BE49-F238E27FC236}">
                      <a16:creationId xmlns:a16="http://schemas.microsoft.com/office/drawing/2014/main" id="{9747F8B4-AF4F-2013-0D2A-C37D327668D8}"/>
                    </a:ext>
                  </a:extLst>
                </p:cNvPr>
                <p:cNvGrpSpPr/>
                <p:nvPr/>
              </p:nvGrpSpPr>
              <p:grpSpPr>
                <a:xfrm>
                  <a:off x="1187624" y="2708920"/>
                  <a:ext cx="3408585" cy="1805257"/>
                  <a:chOff x="1547664" y="2708920"/>
                  <a:chExt cx="3408585" cy="1805257"/>
                </a:xfrm>
              </p:grpSpPr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F9B7C6E8-7F9E-1F17-4877-54964369C240}"/>
                      </a:ext>
                    </a:extLst>
                  </p:cNvPr>
                  <p:cNvSpPr txBox="1"/>
                  <p:nvPr/>
                </p:nvSpPr>
                <p:spPr>
                  <a:xfrm>
                    <a:off x="3992378" y="4130417"/>
                    <a:ext cx="963871" cy="38376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TW" sz="1600" dirty="0"/>
                      <a:t>Query</a:t>
                    </a:r>
                    <a:endParaRPr lang="zh-TW" altLang="en-US" sz="1600" dirty="0"/>
                  </a:p>
                </p:txBody>
              </p:sp>
              <p:grpSp>
                <p:nvGrpSpPr>
                  <p:cNvPr id="44" name="群組 43">
                    <a:extLst>
                      <a:ext uri="{FF2B5EF4-FFF2-40B4-BE49-F238E27FC236}">
                        <a16:creationId xmlns:a16="http://schemas.microsoft.com/office/drawing/2014/main" id="{2743CE8F-E77A-73D9-9FE3-80E68D458A32}"/>
                      </a:ext>
                    </a:extLst>
                  </p:cNvPr>
                  <p:cNvGrpSpPr/>
                  <p:nvPr/>
                </p:nvGrpSpPr>
                <p:grpSpPr>
                  <a:xfrm>
                    <a:off x="1547664" y="2708920"/>
                    <a:ext cx="2985376" cy="1512168"/>
                    <a:chOff x="1547664" y="2708920"/>
                    <a:chExt cx="2985376" cy="1512168"/>
                  </a:xfrm>
                </p:grpSpPr>
                <p:pic>
                  <p:nvPicPr>
                    <p:cNvPr id="45" name="圖片 44">
                      <a:extLst>
                        <a:ext uri="{FF2B5EF4-FFF2-40B4-BE49-F238E27FC236}">
                          <a16:creationId xmlns:a16="http://schemas.microsoft.com/office/drawing/2014/main" id="{DEDAEF46-49D8-A2F0-A965-9A02711B49F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BEBA8EAE-BF5A-486C-A8C5-ECC9F3942E4B}">
                          <a14:imgProps xmlns:a14="http://schemas.microsoft.com/office/drawing/2010/main">
                            <a14:imgLayer r:embed="rId4">
                              <a14:imgEffect>
                                <a14:backgroundRemoval t="2400" b="96000" l="0" r="99727">
                                  <a14:foregroundMark x1="66393" y1="76800" x2="42350" y2="91600"/>
                                  <a14:foregroundMark x1="42350" y1="91600" x2="27943" y2="45200"/>
                                  <a14:foregroundMark x1="35317" y1="43726" x2="75956" y2="46400"/>
                                  <a14:foregroundMark x1="75956" y1="46400" x2="59290" y2="74000"/>
                                  <a14:foregroundMark x1="59290" y1="74000" x2="57923" y2="74800"/>
                                  <a14:foregroundMark x1="56557" y1="90800" x2="37158" y2="88800"/>
                                  <a14:foregroundMark x1="37158" y1="88800" x2="3005" y2="54000"/>
                                  <a14:foregroundMark x1="3005" y1="54000" x2="22404" y2="18400"/>
                                  <a14:foregroundMark x1="22404" y1="18400" x2="23224" y2="65600"/>
                                  <a14:foregroundMark x1="23224" y1="65600" x2="20492" y2="69600"/>
                                  <a14:foregroundMark x1="39071" y1="93200" x2="20219" y2="89200"/>
                                  <a14:foregroundMark x1="20219" y1="89200" x2="36339" y2="93600"/>
                                  <a14:foregroundMark x1="15301" y1="89600" x2="22951" y2="90800"/>
                                  <a14:foregroundMark x1="9563" y1="90400" x2="42077" y2="96000"/>
                                  <a14:foregroundMark x1="66940" y1="31200" x2="9836" y2="20000"/>
                                  <a14:foregroundMark x1="9836" y1="20000" x2="3552" y2="40000"/>
                                  <a14:foregroundMark x1="49454" y1="12400" x2="2186" y2="7600"/>
                                  <a14:foregroundMark x1="60929" y1="14400" x2="18306" y2="400"/>
                                  <a14:foregroundMark x1="18306" y1="400" x2="546" y2="2800"/>
                                  <a14:foregroundMark x1="546" y1="2800" x2="546" y2="2800"/>
                                  <a14:foregroundMark x1="60109" y1="8000" x2="37705" y2="8800"/>
                                  <a14:foregroundMark x1="50000" y1="44800" x2="50820" y2="76400"/>
                                  <a14:foregroundMark x1="69209" y1="83134" x2="83060" y2="63200"/>
                                  <a14:foregroundMark x1="66940" y1="86400" x2="67562" y2="85504"/>
                                  <a14:foregroundMark x1="83060" y1="63200" x2="91803" y2="22800"/>
                                  <a14:foregroundMark x1="91803" y1="22800" x2="91530" y2="21600"/>
                                  <a14:foregroundMark x1="81421" y1="76400" x2="99727" y2="55200"/>
                                  <a14:foregroundMark x1="99727" y1="55200" x2="99727" y2="55200"/>
                                  <a14:foregroundMark x1="33333" y1="76800" x2="34973" y2="78400"/>
                                  <a14:foregroundMark x1="32514" y1="71200" x2="38525" y2="76400"/>
                                  <a14:foregroundMark x1="31148" y1="72000" x2="26230" y2="84800"/>
                                  <a14:backgroundMark x1="88525" y1="92400" x2="82787" y2="94400"/>
                                  <a14:backgroundMark x1="92350" y1="88400" x2="81421" y2="90000"/>
                                  <a14:backgroundMark x1="85792" y1="86400" x2="81967" y2="91600"/>
                                  <a14:backgroundMark x1="78415" y1="89600" x2="72131" y2="90400"/>
                                  <a14:backgroundMark x1="72131" y1="87200" x2="70219" y2="89200"/>
                                  <a14:backgroundMark x1="29508" y1="32000" x2="29508" y2="45200"/>
                                  <a14:backgroundMark x1="30328" y1="31200" x2="31148" y2="40800"/>
                                  <a14:backgroundMark x1="30055" y1="31600" x2="29781" y2="42000"/>
                                  <a14:backgroundMark x1="28962" y1="31600" x2="30601" y2="32400"/>
                                </a14:backgroundRemoval>
                              </a14:imgEffect>
                            </a14:imgLayer>
                          </a14:imgProps>
                        </a:ext>
                      </a:extLst>
                    </a:blip>
                    <a:srcRect l="-1" r="45679" b="59718"/>
                    <a:stretch/>
                  </p:blipFill>
                  <p:spPr>
                    <a:xfrm>
                      <a:off x="1547664" y="2732222"/>
                      <a:ext cx="2985376" cy="148886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46" name="文字方塊 45">
                      <a:extLst>
                        <a:ext uri="{FF2B5EF4-FFF2-40B4-BE49-F238E27FC236}">
                          <a16:creationId xmlns:a16="http://schemas.microsoft.com/office/drawing/2014/main" id="{0AE24068-D28A-D20F-43FE-A425DE8451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85109" y="2708920"/>
                      <a:ext cx="1728192" cy="34887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zh-TW" sz="1400" dirty="0"/>
                        <a:t>     Model</a:t>
                      </a:r>
                      <a:endParaRPr lang="zh-TW" altLang="en-US" sz="1400" dirty="0"/>
                    </a:p>
                  </p:txBody>
                </p:sp>
              </p:grpSp>
            </p:grpSp>
          </p:grpSp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A8390FBF-7A2B-9D74-2C51-D83351D72B40}"/>
                  </a:ext>
                </a:extLst>
              </p:cNvPr>
              <p:cNvSpPr txBox="1"/>
              <p:nvPr/>
            </p:nvSpPr>
            <p:spPr>
              <a:xfrm>
                <a:off x="1592498" y="2884043"/>
                <a:ext cx="1000786" cy="369332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/>
                  <a:t>Testing</a:t>
                </a:r>
                <a:endParaRPr lang="zh-TW" altLang="en-US" dirty="0"/>
              </a:p>
            </p:txBody>
          </p:sp>
        </p:grpSp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5FB394B6-1C78-E4A2-8B33-7022B2B391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2400" b="96000" l="0" r="99727">
                          <a14:foregroundMark x1="66393" y1="76800" x2="42350" y2="91600"/>
                          <a14:foregroundMark x1="42350" y1="91600" x2="27322" y2="43200"/>
                          <a14:foregroundMark x1="27322" y1="43200" x2="75956" y2="46400"/>
                          <a14:foregroundMark x1="75956" y1="46400" x2="59290" y2="74000"/>
                          <a14:foregroundMark x1="59290" y1="74000" x2="57923" y2="74800"/>
                          <a14:foregroundMark x1="56557" y1="90800" x2="37158" y2="88800"/>
                          <a14:foregroundMark x1="37158" y1="88800" x2="3005" y2="54000"/>
                          <a14:foregroundMark x1="3005" y1="54000" x2="22404" y2="18400"/>
                          <a14:foregroundMark x1="22404" y1="18400" x2="23224" y2="65600"/>
                          <a14:foregroundMark x1="23224" y1="65600" x2="20492" y2="69600"/>
                          <a14:foregroundMark x1="39071" y1="93200" x2="20219" y2="89200"/>
                          <a14:foregroundMark x1="20219" y1="89200" x2="36339" y2="93600"/>
                          <a14:foregroundMark x1="15301" y1="89600" x2="22951" y2="90800"/>
                          <a14:foregroundMark x1="9563" y1="90400" x2="42077" y2="96000"/>
                          <a14:foregroundMark x1="66940" y1="31200" x2="9836" y2="20000"/>
                          <a14:foregroundMark x1="9836" y1="20000" x2="3552" y2="40000"/>
                          <a14:foregroundMark x1="49454" y1="12400" x2="2186" y2="7600"/>
                          <a14:foregroundMark x1="60929" y1="14400" x2="18306" y2="400"/>
                          <a14:foregroundMark x1="18306" y1="400" x2="546" y2="2800"/>
                          <a14:foregroundMark x1="546" y1="2800" x2="546" y2="2800"/>
                          <a14:foregroundMark x1="60109" y1="8000" x2="37705" y2="8800"/>
                          <a14:foregroundMark x1="50000" y1="44800" x2="50820" y2="76400"/>
                          <a14:foregroundMark x1="69209" y1="83134" x2="83060" y2="63200"/>
                          <a14:foregroundMark x1="66940" y1="86400" x2="67562" y2="85504"/>
                          <a14:foregroundMark x1="83060" y1="63200" x2="91803" y2="22800"/>
                          <a14:foregroundMark x1="91803" y1="22800" x2="91530" y2="21600"/>
                          <a14:foregroundMark x1="81421" y1="76400" x2="99727" y2="55200"/>
                          <a14:foregroundMark x1="99727" y1="55200" x2="99727" y2="55200"/>
                          <a14:foregroundMark x1="33333" y1="76800" x2="34973" y2="78400"/>
                          <a14:foregroundMark x1="32514" y1="71200" x2="38525" y2="76400"/>
                          <a14:foregroundMark x1="31148" y1="72000" x2="26230" y2="84800"/>
                          <a14:backgroundMark x1="88525" y1="92400" x2="82787" y2="94400"/>
                          <a14:backgroundMark x1="92350" y1="88400" x2="81421" y2="90000"/>
                          <a14:backgroundMark x1="85792" y1="86400" x2="81967" y2="91600"/>
                          <a14:backgroundMark x1="78415" y1="89600" x2="72131" y2="90400"/>
                          <a14:backgroundMark x1="72131" y1="87200" x2="70219" y2="89200"/>
                        </a14:backgroundRemoval>
                      </a14:imgEffect>
                    </a14:imgLayer>
                  </a14:imgProps>
                </a:ext>
              </a:extLst>
            </a:blip>
            <a:srcRect l="48910" r="45638" b="60176"/>
            <a:stretch/>
          </p:blipFill>
          <p:spPr>
            <a:xfrm>
              <a:off x="4860032" y="2631132"/>
              <a:ext cx="252572" cy="1318869"/>
            </a:xfrm>
            <a:prstGeom prst="rect">
              <a:avLst/>
            </a:prstGeom>
          </p:spPr>
        </p:pic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0AED38E7-CFBA-4EBD-CD57-3F7C3610F1C5}"/>
                </a:ext>
              </a:extLst>
            </p:cNvPr>
            <p:cNvSpPr txBox="1"/>
            <p:nvPr/>
          </p:nvSpPr>
          <p:spPr>
            <a:xfrm>
              <a:off x="3639858" y="2992877"/>
              <a:ext cx="127764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sz="1600" b="1" dirty="0"/>
                <a:t>Quantized</a:t>
              </a:r>
              <a:r>
                <a:rPr lang="en-US" altLang="zh-TW" sz="1600" dirty="0"/>
                <a:t> distance</a:t>
              </a:r>
            </a:p>
            <a:p>
              <a:pPr algn="ctr"/>
              <a:r>
                <a:rPr lang="en-US" altLang="zh-TW" sz="1600" dirty="0"/>
                <a:t>metric</a:t>
              </a:r>
              <a:endParaRPr lang="zh-TW" altLang="en-US" sz="1600" dirty="0"/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46A994E2-A16C-426E-4D70-1062E8D642F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685279" y="3285486"/>
              <a:ext cx="1174753" cy="0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arrow" w="med" len="med"/>
              <a:tailEnd type="arrow" w="med" len="med"/>
            </a:ln>
            <a:effectLst/>
          </p:spPr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683FB5ED-3797-EFE8-61EB-B5CAC5E787F2}"/>
                </a:ext>
              </a:extLst>
            </p:cNvPr>
            <p:cNvSpPr txBox="1"/>
            <p:nvPr/>
          </p:nvSpPr>
          <p:spPr>
            <a:xfrm>
              <a:off x="4669074" y="3876084"/>
              <a:ext cx="68020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1600" dirty="0"/>
                <a:t>Data</a:t>
              </a:r>
              <a:endParaRPr lang="zh-TW" alt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6F2AF814-4F43-F8F3-213C-3CAC07E17A1B}"/>
                  </a:ext>
                </a:extLst>
              </p:cNvPr>
              <p:cNvSpPr txBox="1"/>
              <p:nvPr/>
            </p:nvSpPr>
            <p:spPr>
              <a:xfrm>
                <a:off x="5712900" y="3163230"/>
                <a:ext cx="3431100" cy="1104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1600" dirty="0"/>
                  <a:t>Metric </a:t>
                </a:r>
                <a:r>
                  <a:rPr lang="en-US" altLang="zh-TW" sz="1400" dirty="0"/>
                  <a:t>(FP32)</a:t>
                </a:r>
                <a:r>
                  <a:rPr lang="en-US" altLang="zh-TW" sz="1600" dirty="0"/>
                  <a:t> :</a:t>
                </a:r>
              </a:p>
              <a:p>
                <a:r>
                  <a:rPr lang="en-US" altLang="zh-TW" sz="1600" dirty="0"/>
                  <a:t>Cosine</a:t>
                </a:r>
                <a14:m>
                  <m:oMath xmlns:m="http://schemas.openxmlformats.org/officeDocument/2006/math">
                    <m:r>
                      <a:rPr lang="zh-TW" altLang="en-US" sz="1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600" dirty="0"/>
                  <a:t>: regular cosine distance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sz="1600" dirty="0"/>
                  <a:t>        </a:t>
                </a:r>
                <a:r>
                  <a:rPr lang="en-US" altLang="zh-TW" sz="1600" dirty="0"/>
                  <a:t>: regular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norm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sz="1600" dirty="0"/>
                  <a:t>       </a:t>
                </a:r>
                <a:r>
                  <a:rPr lang="en-US" altLang="zh-TW" sz="1600" dirty="0"/>
                  <a:t>: </a:t>
                </a:r>
                <a14:m>
                  <m:oMath xmlns:m="http://schemas.openxmlformats.org/officeDocument/2006/math">
                    <m:r>
                      <a:rPr lang="en-US" altLang="zh-TW" sz="1600" b="0" i="1" dirty="0" smtClean="0"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altLang="zh-TW" sz="1600" dirty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TW" sz="1600" b="0" i="0" dirty="0" smtClean="0">
                        <a:latin typeface="Cambria Math" panose="02040503050406030204" pitchFamily="18" charset="0"/>
                      </a:rPr>
                      <m:t>emb</m:t>
                    </m:r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nary>
                          <m:naryPr>
                            <m:chr m:val="⨀"/>
                            <m:subHide m:val="on"/>
                            <m:supHide m:val="on"/>
                            <m:ctrlPr>
                              <a:rPr lang="en-US" altLang="zh-TW" sz="16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m:rPr>
                                <m:sty m:val="p"/>
                              </m:rPr>
                              <a:rPr lang="en-US" altLang="zh-TW" sz="160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softmax</m:t>
                            </m:r>
                            <m:d>
                              <m:dPr>
                                <m:ctrlPr>
                                  <a:rPr lang="en-US" altLang="zh-TW" sz="16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𝜅</m:t>
                                </m:r>
                                <m:r>
                                  <a:rPr lang="en-US" altLang="zh-TW" sz="1600" b="0" i="0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600" dirty="0">
                                    <a:latin typeface="Cambria Math" panose="02040503050406030204" pitchFamily="18" charset="0"/>
                                  </a:rPr>
                                  <m:t>emb</m:t>
                                </m:r>
                              </m:e>
                            </m:d>
                            <m:r>
                              <a:rPr lang="en-US" altLang="zh-TW" sz="1600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  <m:sub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6F2AF814-4F43-F8F3-213C-3CAC07E17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2900" y="3163230"/>
                <a:ext cx="3431100" cy="1104598"/>
              </a:xfrm>
              <a:prstGeom prst="rect">
                <a:avLst/>
              </a:prstGeom>
              <a:blipFill>
                <a:blip r:embed="rId7"/>
                <a:stretch>
                  <a:fillRect l="-888" t="-1657" b="-392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D7D8872-24C7-EE3F-203C-D47182F87B86}"/>
                  </a:ext>
                </a:extLst>
              </p:cNvPr>
              <p:cNvSpPr txBox="1"/>
              <p:nvPr/>
            </p:nvSpPr>
            <p:spPr>
              <a:xfrm>
                <a:off x="5712900" y="4981231"/>
                <a:ext cx="3324739" cy="1104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1600" dirty="0"/>
                  <a:t>Metric </a:t>
                </a:r>
                <a:r>
                  <a:rPr lang="en-US" altLang="zh-TW" sz="1400" dirty="0"/>
                  <a:t>(INT8)</a:t>
                </a:r>
                <a:r>
                  <a:rPr lang="en-US" altLang="zh-TW" sz="1600" dirty="0"/>
                  <a:t> :</a:t>
                </a:r>
              </a:p>
              <a:p>
                <a:r>
                  <a:rPr lang="en-US" altLang="zh-TW" sz="1600" dirty="0"/>
                  <a:t>Cosine</a:t>
                </a:r>
                <a14:m>
                  <m:oMath xmlns:m="http://schemas.openxmlformats.org/officeDocument/2006/math">
                    <m:r>
                      <a:rPr lang="zh-TW" altLang="en-US" sz="100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600" dirty="0"/>
                  <a:t>: cosine distance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sz="1600" dirty="0"/>
                  <a:t>        </a:t>
                </a:r>
                <a:r>
                  <a:rPr lang="en-US" altLang="zh-TW" sz="16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i="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sz="1600" dirty="0"/>
                  <a:t>  </a:t>
                </a:r>
                <a:r>
                  <a:rPr lang="en-US" altLang="zh-TW" sz="1600" dirty="0"/>
                  <a:t>norm ( </a:t>
                </a:r>
                <a14:m>
                  <m:oMath xmlns:m="http://schemas.openxmlformats.org/officeDocument/2006/math">
                    <m:r>
                      <a:rPr lang="en-US" altLang="zh-TW" sz="1600" i="0" dirty="0">
                        <a:latin typeface="Cambria Math" panose="02040503050406030204" pitchFamily="18" charset="0"/>
                      </a:rPr>
                      <m:t>∑</m:t>
                    </m:r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i="0" dirty="0">
                            <a:latin typeface="Cambria Math" panose="02040503050406030204" pitchFamily="18" charset="0"/>
                          </a:rPr>
                          <m:t>em</m:t>
                        </m:r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600" dirty="0"/>
                  <a:t> 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sz="1600" dirty="0"/>
                  <a:t>       </a:t>
                </a:r>
                <a:r>
                  <a:rPr lang="en-US" altLang="zh-TW" sz="16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i="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i="0" dirty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norm (</a:t>
                </a:r>
                <a14:m>
                  <m:oMath xmlns:m="http://schemas.openxmlformats.org/officeDocument/2006/math">
                    <m:r>
                      <a:rPr lang="en-US" altLang="zh-TW" sz="1600" b="0" i="0" dirty="0" smtClean="0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TW" sz="1600" i="0" dirty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altLang="zh-TW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600" i="0" dirty="0">
                                    <a:latin typeface="Cambria Math" panose="02040503050406030204" pitchFamily="18" charset="0"/>
                                  </a:rPr>
                                  <m:t>emb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600" i="0" dirty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)</a:t>
                </a:r>
                <a:endParaRPr lang="zh-TW" altLang="en-US" sz="1600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D7D8872-24C7-EE3F-203C-D47182F87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2900" y="4981231"/>
                <a:ext cx="3324739" cy="1104598"/>
              </a:xfrm>
              <a:prstGeom prst="rect">
                <a:avLst/>
              </a:prstGeom>
              <a:blipFill>
                <a:blip r:embed="rId8"/>
                <a:stretch>
                  <a:fillRect l="-916" t="-1657" b="-38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0231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9AD0225-3986-A863-B605-5758B29277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Compare accuracies across models trained with different metrics</a:t>
                </a:r>
              </a:p>
              <a:p>
                <a:pPr lvl="1"/>
                <a:r>
                  <a:rPr lang="en-US" altLang="zh-TW" dirty="0"/>
                  <a:t>Dataset </a:t>
                </a:r>
                <a:r>
                  <a:rPr lang="en-US" altLang="zh-TW" dirty="0" err="1"/>
                  <a:t>Omniglot</a:t>
                </a:r>
                <a:r>
                  <a:rPr lang="en-US" altLang="zh-TW" dirty="0"/>
                  <a:t> and MNIST is used in the experiment</a:t>
                </a:r>
              </a:p>
              <a:p>
                <a:pPr lvl="2"/>
                <a:r>
                  <a:rPr lang="en-US" altLang="zh-TW" dirty="0">
                    <a:ln>
                      <a:solidFill>
                        <a:srgbClr val="1F77B4"/>
                      </a:solidFill>
                    </a:ln>
                    <a:solidFill>
                      <a:srgbClr val="1F77B4"/>
                    </a:solidFill>
                  </a:rPr>
                  <a:t>Blue      : Trained with cosine distance (angular metric)</a:t>
                </a:r>
              </a:p>
              <a:p>
                <a:pPr lvl="2"/>
                <a:r>
                  <a:rPr lang="en-US" altLang="zh-TW" dirty="0"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  <a:solidFill>
                      <a:srgbClr val="FF7F0E"/>
                    </a:solidFill>
                  </a:rPr>
                  <a:t>Orange : Trained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n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ln>
                            <a:solidFill>
                              <a:srgbClr val="FF7F0E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n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ln>
                            <a:solidFill>
                              <a:srgbClr val="FF7F0E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0" dirty="0" smtClean="0">
                            <a:ln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ln>
                            <a:solidFill>
                              <a:srgbClr val="FF7F0E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sz="1600" dirty="0"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  <a:solidFill>
                      <a:srgbClr val="FF7F0E"/>
                    </a:solidFill>
                  </a:rPr>
                  <a:t>  </a:t>
                </a:r>
                <a:r>
                  <a:rPr lang="en-US" altLang="zh-TW" sz="1600" dirty="0"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  <a:solidFill>
                      <a:srgbClr val="FF7F0E"/>
                    </a:solidFill>
                  </a:rPr>
                  <a:t>norm</a:t>
                </a:r>
                <a:r>
                  <a:rPr lang="zh-TW" altLang="en-US" sz="1600" dirty="0"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  <a:solidFill>
                      <a:srgbClr val="FF7F0E"/>
                    </a:solidFill>
                  </a:rPr>
                  <a:t> </a:t>
                </a:r>
                <a:r>
                  <a:rPr lang="en-US" altLang="zh-TW" dirty="0">
                    <a:ln>
                      <a:solidFill>
                        <a:schemeClr val="accent6">
                          <a:lumMod val="75000"/>
                        </a:schemeClr>
                      </a:solidFill>
                    </a:ln>
                    <a:solidFill>
                      <a:srgbClr val="FF7F0E"/>
                    </a:solidFill>
                  </a:rPr>
                  <a:t>(spatial metric)</a:t>
                </a:r>
              </a:p>
              <a:p>
                <a:pPr lvl="2"/>
                <a:r>
                  <a:rPr lang="en-US" altLang="zh-TW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Green</a:t>
                </a:r>
                <a:r>
                  <a:rPr lang="zh-TW" altLang="en-US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   </a:t>
                </a:r>
                <a:r>
                  <a:rPr lang="en-US" altLang="zh-TW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:</a:t>
                </a:r>
                <a:r>
                  <a:rPr lang="zh-TW" altLang="en-US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 </a:t>
                </a:r>
                <a:r>
                  <a:rPr lang="en-US" altLang="zh-TW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Trained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dirty="0" smtClean="0">
                            <a:ln>
                              <a:solidFill>
                                <a:srgbClr val="2CA02C"/>
                              </a:solidFill>
                            </a:ln>
                            <a:solidFill>
                              <a:srgbClr val="2CA02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dirty="0" smtClean="0">
                            <a:ln>
                              <a:solidFill>
                                <a:srgbClr val="2CA02C"/>
                              </a:solidFill>
                            </a:ln>
                            <a:solidFill>
                              <a:srgbClr val="2CA02C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b="0" i="1" dirty="0" smtClean="0">
                            <a:ln>
                              <a:solidFill>
                                <a:srgbClr val="2CA02C"/>
                              </a:solidFill>
                            </a:ln>
                            <a:solidFill>
                              <a:srgbClr val="2CA02C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sz="1600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 </a:t>
                </a:r>
                <a:r>
                  <a:rPr lang="en-US" altLang="zh-TW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norm</a:t>
                </a:r>
                <a:r>
                  <a:rPr lang="zh-TW" altLang="en-US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 </a:t>
                </a:r>
                <a:r>
                  <a:rPr lang="en-US" altLang="zh-TW" dirty="0">
                    <a:ln>
                      <a:solidFill>
                        <a:srgbClr val="2CA02C"/>
                      </a:solidFill>
                    </a:ln>
                    <a:solidFill>
                      <a:srgbClr val="2CA02C"/>
                    </a:solidFill>
                  </a:rPr>
                  <a:t>(spatial metric)</a:t>
                </a:r>
              </a:p>
              <a:p>
                <a:pPr lvl="2"/>
                <a:endParaRPr lang="en-US" altLang="zh-TW" dirty="0">
                  <a:ln>
                    <a:solidFill>
                      <a:srgbClr val="2CA02C"/>
                    </a:solidFill>
                  </a:ln>
                  <a:solidFill>
                    <a:srgbClr val="2CA02C"/>
                  </a:solidFill>
                </a:endParaRPr>
              </a:p>
              <a:p>
                <a:pPr lvl="2"/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9AD0225-3986-A863-B605-5758B29277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>
            <a:extLst>
              <a:ext uri="{FF2B5EF4-FFF2-40B4-BE49-F238E27FC236}">
                <a16:creationId xmlns:a16="http://schemas.microsoft.com/office/drawing/2014/main" id="{35F98EDD-344A-F1BD-0B19-A9758FAB26B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28" y="3429000"/>
            <a:ext cx="4680012" cy="312000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7695F9B9-29DA-E603-A5ED-E9FDCDFC1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Evaluate Accuracy with Different Metrics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B817280-876E-5DE9-5A85-506B3433D709}"/>
              </a:ext>
            </a:extLst>
          </p:cNvPr>
          <p:cNvSpPr txBox="1"/>
          <p:nvPr/>
        </p:nvSpPr>
        <p:spPr>
          <a:xfrm>
            <a:off x="5637144" y="5517232"/>
            <a:ext cx="30752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Using angular metric for training results in lower accuracy under spatial metric evaluation</a:t>
            </a:r>
            <a:endParaRPr lang="zh-TW" alt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A92592A9-5A33-C93F-3F98-FEA489B2CD30}"/>
                  </a:ext>
                </a:extLst>
              </p:cNvPr>
              <p:cNvSpPr txBox="1"/>
              <p:nvPr/>
            </p:nvSpPr>
            <p:spPr>
              <a:xfrm>
                <a:off x="5572406" y="4076700"/>
                <a:ext cx="320473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sz="1600" dirty="0"/>
                  <a:t>Approximate training metric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6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norm performs well on evaluation</a:t>
                </a:r>
                <a:endParaRPr lang="zh-TW" altLang="en-US" sz="16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A92592A9-5A33-C93F-3F98-FEA489B2CD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2406" y="4076700"/>
                <a:ext cx="3204734" cy="584775"/>
              </a:xfrm>
              <a:prstGeom prst="rect">
                <a:avLst/>
              </a:prstGeom>
              <a:blipFill>
                <a:blip r:embed="rId4"/>
                <a:stretch>
                  <a:fillRect t="-3125" r="-190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F142F1ED-C422-9401-D700-1B4856D3C29D}"/>
              </a:ext>
            </a:extLst>
          </p:cNvPr>
          <p:cNvCxnSpPr>
            <a:cxnSpLocks/>
            <a:endCxn id="16" idx="1"/>
          </p:cNvCxnSpPr>
          <p:nvPr/>
        </p:nvCxnSpPr>
        <p:spPr bwMode="auto">
          <a:xfrm flipV="1">
            <a:off x="4499992" y="4369088"/>
            <a:ext cx="1072414" cy="21204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85C91025-3607-7717-E8E4-81A3B0B6EADF}"/>
              </a:ext>
            </a:extLst>
          </p:cNvPr>
          <p:cNvCxnSpPr>
            <a:cxnSpLocks/>
            <a:endCxn id="13" idx="1"/>
          </p:cNvCxnSpPr>
          <p:nvPr/>
        </p:nvCxnSpPr>
        <p:spPr bwMode="auto">
          <a:xfrm>
            <a:off x="4226267" y="5877272"/>
            <a:ext cx="1410877" cy="55459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20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66F179-0AE2-7662-12CE-14896B730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Observation Across Distance Metrics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F7E3D72-39F7-003A-47F6-723D51DD81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sz="2000" dirty="0"/>
                  <a:t>Model trained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20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 outperforms model trained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in evaluation under all metrics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F7E3D72-39F7-003A-47F6-723D51DD81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群組 23">
            <a:extLst>
              <a:ext uri="{FF2B5EF4-FFF2-40B4-BE49-F238E27FC236}">
                <a16:creationId xmlns:a16="http://schemas.microsoft.com/office/drawing/2014/main" id="{9DB555C9-B13B-7DB9-FFE4-B8082655BD24}"/>
              </a:ext>
            </a:extLst>
          </p:cNvPr>
          <p:cNvGrpSpPr/>
          <p:nvPr/>
        </p:nvGrpSpPr>
        <p:grpSpPr>
          <a:xfrm>
            <a:off x="2411760" y="4718863"/>
            <a:ext cx="1368152" cy="1206508"/>
            <a:chOff x="2267744" y="4733241"/>
            <a:chExt cx="1368152" cy="1206508"/>
          </a:xfrm>
        </p:grpSpPr>
        <p:cxnSp>
          <p:nvCxnSpPr>
            <p:cNvPr id="6" name="直線接點 5">
              <a:extLst>
                <a:ext uri="{FF2B5EF4-FFF2-40B4-BE49-F238E27FC236}">
                  <a16:creationId xmlns:a16="http://schemas.microsoft.com/office/drawing/2014/main" id="{1DAF431C-B14B-92C6-3034-B77FDDC17AF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67744" y="5597337"/>
              <a:ext cx="1368152" cy="0"/>
            </a:xfrm>
            <a:prstGeom prst="line">
              <a:avLst/>
            </a:prstGeom>
            <a:noFill/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B90616C-9015-2E2C-430B-BCFA87CB98D0}"/>
                </a:ext>
              </a:extLst>
            </p:cNvPr>
            <p:cNvSpPr/>
            <p:nvPr/>
          </p:nvSpPr>
          <p:spPr bwMode="auto">
            <a:xfrm>
              <a:off x="2411760" y="4733241"/>
              <a:ext cx="360040" cy="864096"/>
            </a:xfrm>
            <a:prstGeom prst="rect">
              <a:avLst/>
            </a:prstGeom>
            <a:solidFill>
              <a:schemeClr val="accent6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9229CFA-3BFD-B2F6-A256-D7C63822F825}"/>
                </a:ext>
              </a:extLst>
            </p:cNvPr>
            <p:cNvSpPr/>
            <p:nvPr/>
          </p:nvSpPr>
          <p:spPr bwMode="auto">
            <a:xfrm>
              <a:off x="3131840" y="4973673"/>
              <a:ext cx="360040" cy="623664"/>
            </a:xfrm>
            <a:prstGeom prst="rect">
              <a:avLst/>
            </a:prstGeom>
            <a:solidFill>
              <a:srgbClr val="00B050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6CAFE1C9-8203-7765-8DF7-268A1C525DD5}"/>
                </a:ext>
              </a:extLst>
            </p:cNvPr>
            <p:cNvSpPr txBox="1"/>
            <p:nvPr/>
          </p:nvSpPr>
          <p:spPr>
            <a:xfrm>
              <a:off x="2790056" y="5019839"/>
              <a:ext cx="26977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dirty="0"/>
                <a:t>&gt;</a:t>
              </a:r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43C7587D-68DA-91DC-4E0A-AFAFE3741876}"/>
                    </a:ext>
                  </a:extLst>
                </p:cNvPr>
                <p:cNvSpPr txBox="1"/>
                <p:nvPr/>
              </p:nvSpPr>
              <p:spPr>
                <a:xfrm>
                  <a:off x="2380765" y="5570417"/>
                  <a:ext cx="34178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800" dirty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43C7587D-68DA-91DC-4E0A-AFAFE37418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0765" y="5570417"/>
                  <a:ext cx="341784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1051855A-E0E2-0B2E-E13D-B4FC997DF27A}"/>
                    </a:ext>
                  </a:extLst>
                </p:cNvPr>
                <p:cNvSpPr txBox="1"/>
                <p:nvPr/>
              </p:nvSpPr>
              <p:spPr>
                <a:xfrm>
                  <a:off x="3119500" y="5570417"/>
                  <a:ext cx="34178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800" dirty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  <m:sub>
                            <m:r>
                              <a:rPr lang="en-US" altLang="zh-TW" i="1" dirty="0" smtClean="0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1051855A-E0E2-0B2E-E13D-B4FC997DF2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9500" y="5570417"/>
                  <a:ext cx="341784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232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0B71D14A-8E95-26D1-39FE-CEF0FEB35CB3}"/>
                  </a:ext>
                </a:extLst>
              </p:cNvPr>
              <p:cNvSpPr txBox="1"/>
              <p:nvPr/>
            </p:nvSpPr>
            <p:spPr>
              <a:xfrm>
                <a:off x="952551" y="6027085"/>
                <a:ext cx="28993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8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is a better metric?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0B71D14A-8E95-26D1-39FE-CEF0FEB35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551" y="6027085"/>
                <a:ext cx="2899370" cy="369332"/>
              </a:xfrm>
              <a:prstGeom prst="rect">
                <a:avLst/>
              </a:prstGeom>
              <a:blipFill>
                <a:blip r:embed="rId6"/>
                <a:stretch>
                  <a:fillRect t="-10000" r="-1471" b="-2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圖片 22">
            <a:extLst>
              <a:ext uri="{FF2B5EF4-FFF2-40B4-BE49-F238E27FC236}">
                <a16:creationId xmlns:a16="http://schemas.microsoft.com/office/drawing/2014/main" id="{56A45B6A-7D87-D1F4-B809-E50CC79281C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53508" r="64441"/>
          <a:stretch/>
        </p:blipFill>
        <p:spPr>
          <a:xfrm>
            <a:off x="171514" y="4631671"/>
            <a:ext cx="1573069" cy="12529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A7BA561-9FA3-40C0-09AE-7F6F622A9180}"/>
                  </a:ext>
                </a:extLst>
              </p:cNvPr>
              <p:cNvSpPr txBox="1"/>
              <p:nvPr/>
            </p:nvSpPr>
            <p:spPr>
              <a:xfrm>
                <a:off x="4447409" y="5528211"/>
                <a:ext cx="439817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8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sz="1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norm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can be view as a comprehensive version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altLang="zh-TW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norm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in training phase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A7BA561-9FA3-40C0-09AE-7F6F622A91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7409" y="5528211"/>
                <a:ext cx="4398175" cy="646331"/>
              </a:xfrm>
              <a:prstGeom prst="rect">
                <a:avLst/>
              </a:prstGeom>
              <a:blipFill>
                <a:blip r:embed="rId8"/>
                <a:stretch>
                  <a:fillRect t="-5660" r="-1942" b="-141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群組 35">
            <a:extLst>
              <a:ext uri="{FF2B5EF4-FFF2-40B4-BE49-F238E27FC236}">
                <a16:creationId xmlns:a16="http://schemas.microsoft.com/office/drawing/2014/main" id="{531CD5FB-1E36-89FD-1BD7-4596484BED7E}"/>
              </a:ext>
            </a:extLst>
          </p:cNvPr>
          <p:cNvGrpSpPr/>
          <p:nvPr/>
        </p:nvGrpSpPr>
        <p:grpSpPr>
          <a:xfrm>
            <a:off x="4352960" y="2512258"/>
            <a:ext cx="4539520" cy="2638992"/>
            <a:chOff x="4422296" y="2550522"/>
            <a:chExt cx="4539520" cy="26389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DDD4B81D-A08E-C42E-332D-D59D9B73B35B}"/>
                    </a:ext>
                  </a:extLst>
                </p:cNvPr>
                <p:cNvSpPr txBox="1"/>
                <p:nvPr/>
              </p:nvSpPr>
              <p:spPr>
                <a:xfrm>
                  <a:off x="4422296" y="2550522"/>
                  <a:ext cx="4539520" cy="263899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800" i="0" dirty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altLang="zh-TW" sz="1800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zh-TW" altLang="en-US" dirty="0"/>
                    <a:t>  </a:t>
                  </a:r>
                  <a:r>
                    <a:rPr lang="en-US" altLang="zh-TW" dirty="0"/>
                    <a:t>norm :</a:t>
                  </a:r>
                  <a14:m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i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em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b="0" i="0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b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b="0" i="0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altLang="zh-TW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b="0" i="0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altLang="zh-TW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a14:m>
                  <a:endParaRPr lang="en-US" altLang="zh-TW" dirty="0"/>
                </a:p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=2⋅</m:t>
                      </m:r>
                      <m:d>
                        <m:d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emb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altLang="zh-TW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zh-TW" dirty="0"/>
                    <a:t> </a:t>
                  </a:r>
                </a:p>
                <a:p>
                  <a:endParaRPr lang="en-US" altLang="zh-TW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800" i="0" dirty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altLang="zh-TW" sz="1800" b="0" i="0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zh-TW" altLang="en-US" dirty="0"/>
                    <a:t>  </a:t>
                  </a:r>
                  <a:r>
                    <a:rPr lang="en-US" altLang="zh-TW" dirty="0"/>
                    <a:t>norm :</a:t>
                  </a:r>
                  <a:r>
                    <a:rPr lang="en-US" altLang="zh-TW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i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emb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i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en-US" altLang="zh-TW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q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a14:m>
                  <a:endParaRPr lang="en-US" altLang="zh-TW" dirty="0"/>
                </a:p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sign</m:t>
                      </m:r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emb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altLang="zh-TW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zh-TW" dirty="0"/>
                    <a:t> </a:t>
                  </a:r>
                </a:p>
                <a:p>
                  <a:endParaRPr lang="zh-TW" altLang="en-US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800" i="0" dirty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altLang="zh-TW" sz="1800" b="0" i="0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</m:oMath>
                  </a14:m>
                  <a:r>
                    <a:rPr lang="en-US" altLang="zh-TW" dirty="0"/>
                    <a:t> norm : </a:t>
                  </a:r>
                  <a14:m>
                    <m:oMath xmlns:m="http://schemas.openxmlformats.org/officeDocument/2006/math">
                      <m:func>
                        <m:func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i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emb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i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a14:m>
                  <a:endParaRPr lang="en-US" altLang="zh-TW" dirty="0"/>
                </a:p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0" smtClean="0">
                          <a:latin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altLang="zh-TW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6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sign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emb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en-US" altLang="zh-TW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q</m:t>
                                      </m:r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6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600" i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emb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600" i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en-US" altLang="zh-TW" sz="16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func>
                                <m:func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600" i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emb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600" i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altLang="zh-TW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60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altLang="zh-TW" sz="1600" b="0" i="0" smtClean="0">
                                  <a:latin typeface="Cambria Math" panose="02040503050406030204" pitchFamily="18" charset="0"/>
                                </a:rPr>
                                <m:t>None</m:t>
                              </m:r>
                              <m:r>
                                <a:rPr lang="en-US" altLang="zh-TW" sz="1600" b="0" i="0" smtClean="0">
                                  <a:latin typeface="Cambria Math" panose="02040503050406030204" pitchFamily="18" charset="0"/>
                                </a:rPr>
                                <m:t>           , 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600" b="0" i="0" smtClean="0">
                                  <a:latin typeface="Cambria Math" panose="02040503050406030204" pitchFamily="18" charset="0"/>
                                </a:rPr>
                                <m:t>else</m:t>
                              </m:r>
                              <m:r>
                                <a:rPr lang="en-US" altLang="zh-TW" sz="16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16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                         </m:t>
                              </m:r>
                            </m:e>
                          </m:eqArr>
                        </m:e>
                      </m:d>
                    </m:oMath>
                  </a14:m>
                  <a:r>
                    <a:rPr lang="zh-TW" alt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DDD4B81D-A08E-C42E-332D-D59D9B73B3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2296" y="2550522"/>
                  <a:ext cx="4539520" cy="2638992"/>
                </a:xfrm>
                <a:prstGeom prst="rect">
                  <a:avLst/>
                </a:prstGeom>
                <a:blipFill>
                  <a:blip r:embed="rId9"/>
                  <a:stretch>
                    <a:fillRect t="-14483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直線接點 24">
              <a:extLst>
                <a:ext uri="{FF2B5EF4-FFF2-40B4-BE49-F238E27FC236}">
                  <a16:creationId xmlns:a16="http://schemas.microsoft.com/office/drawing/2014/main" id="{BA38597B-E72E-04AA-D868-72671210020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154837" y="4043205"/>
              <a:ext cx="1574731" cy="0"/>
            </a:xfrm>
            <a:prstGeom prst="lin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" name="直線接點 29">
              <a:extLst>
                <a:ext uri="{FF2B5EF4-FFF2-40B4-BE49-F238E27FC236}">
                  <a16:creationId xmlns:a16="http://schemas.microsoft.com/office/drawing/2014/main" id="{6001726D-F5AB-89C7-2356-49E3C41A12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9823" y="4860011"/>
              <a:ext cx="1397737" cy="0"/>
            </a:xfrm>
            <a:prstGeom prst="lin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箭號: 迴轉箭號 32">
              <a:extLst>
                <a:ext uri="{FF2B5EF4-FFF2-40B4-BE49-F238E27FC236}">
                  <a16:creationId xmlns:a16="http://schemas.microsoft.com/office/drawing/2014/main" id="{45C418BC-628D-3B30-A31C-F1525AD8D269}"/>
                </a:ext>
              </a:extLst>
            </p:cNvPr>
            <p:cNvSpPr/>
            <p:nvPr/>
          </p:nvSpPr>
          <p:spPr bwMode="auto">
            <a:xfrm rot="16200000" flipH="1" flipV="1">
              <a:off x="6671556" y="3281037"/>
              <a:ext cx="866478" cy="545690"/>
            </a:xfrm>
            <a:prstGeom prst="uturnArrow">
              <a:avLst>
                <a:gd name="adj1" fmla="val 0"/>
                <a:gd name="adj2" fmla="val 13355"/>
                <a:gd name="adj3" fmla="val 18890"/>
                <a:gd name="adj4" fmla="val 41449"/>
                <a:gd name="adj5" fmla="val 100000"/>
              </a:avLst>
            </a:prstGeom>
            <a:solidFill>
              <a:srgbClr val="1F77B4"/>
            </a:solidFill>
            <a:ln w="28575" cap="flat" cmpd="sng" algn="ctr">
              <a:solidFill>
                <a:srgbClr val="1F77B4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99DA716E-CAB4-31A0-8FA1-B48C944EA8D6}"/>
                </a:ext>
              </a:extLst>
            </p:cNvPr>
            <p:cNvSpPr txBox="1"/>
            <p:nvPr/>
          </p:nvSpPr>
          <p:spPr>
            <a:xfrm>
              <a:off x="7377640" y="3292271"/>
              <a:ext cx="10122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sz="1400" dirty="0"/>
                <a:t>Quantize to 1 bit</a:t>
              </a:r>
              <a:endParaRPr lang="zh-TW" altLang="en-US" sz="1400" dirty="0"/>
            </a:p>
          </p:txBody>
        </p:sp>
      </p:grpSp>
      <p:pic>
        <p:nvPicPr>
          <p:cNvPr id="9" name="圖片 8">
            <a:extLst>
              <a:ext uri="{FF2B5EF4-FFF2-40B4-BE49-F238E27FC236}">
                <a16:creationId xmlns:a16="http://schemas.microsoft.com/office/drawing/2014/main" id="{141B418D-2CF2-6C7B-5A1C-244E51236517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97" y="2350608"/>
            <a:ext cx="3532193" cy="235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215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CA0259-E10C-2037-8A71-F8B55948C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 2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10E0FFC-1C46-FD3F-4740-7E66F140F7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Search function implemented in memory uses distance metric</a:t>
                </a:r>
              </a:p>
              <a:p>
                <a:pPr lvl="1"/>
                <a:r>
                  <a:rPr lang="en-US" altLang="zh-TW" dirty="0"/>
                  <a:t>Train the model with distance metric can achieve better performance</a:t>
                </a:r>
              </a:p>
              <a:p>
                <a:pPr lvl="2"/>
                <a:r>
                  <a:rPr lang="en-US" altLang="zh-TW" dirty="0"/>
                  <a:t>Use differentiable approximated distance function that allows backpropagation</a:t>
                </a:r>
              </a:p>
              <a:p>
                <a:pPr marL="673100" lvl="2" indent="0">
                  <a:buNone/>
                </a:pPr>
                <a:endParaRPr lang="en-US" altLang="zh-TW" dirty="0"/>
              </a:p>
              <a:p>
                <a:pPr lvl="1"/>
                <a:r>
                  <a:rPr lang="en-US" altLang="zh-TW" sz="1800" dirty="0"/>
                  <a:t>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8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 for training may have higher accuracy than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</a:t>
                </a:r>
              </a:p>
              <a:p>
                <a:pPr lvl="2"/>
                <a:r>
                  <a:rPr lang="en-US" altLang="zh-TW" dirty="0"/>
                  <a:t>Model Trained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 may achieve higher accuracy than model trained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 when evaluating the performance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norm</a:t>
                </a:r>
              </a:p>
              <a:p>
                <a:pPr lvl="2"/>
                <a:r>
                  <a:rPr lang="en-US" altLang="zh-TW" dirty="0"/>
                  <a:t> 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10E0FFC-1C46-FD3F-4740-7E66F140F7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94DDA6D3-E22F-E320-9C43-8EDCE66E85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3972828"/>
            <a:ext cx="3974976" cy="264998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4512B4C0-D1CC-8FEA-BF24-5A13F28C823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016" y="3972829"/>
            <a:ext cx="3974976" cy="2649984"/>
          </a:xfrm>
          <a:prstGeom prst="rect">
            <a:avLst/>
          </a:prstGeom>
        </p:spPr>
      </p:pic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02A98753-D32B-09CA-64F8-D6FD51C379F2}"/>
              </a:ext>
            </a:extLst>
          </p:cNvPr>
          <p:cNvCxnSpPr>
            <a:cxnSpLocks/>
          </p:cNvCxnSpPr>
          <p:nvPr/>
        </p:nvCxnSpPr>
        <p:spPr bwMode="auto">
          <a:xfrm>
            <a:off x="3851920" y="4437112"/>
            <a:ext cx="288032" cy="216024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63CBCECD-95CC-3155-05C2-EFE8B30F223D}"/>
              </a:ext>
            </a:extLst>
          </p:cNvPr>
          <p:cNvCxnSpPr>
            <a:cxnSpLocks/>
          </p:cNvCxnSpPr>
          <p:nvPr/>
        </p:nvCxnSpPr>
        <p:spPr bwMode="auto">
          <a:xfrm>
            <a:off x="8028384" y="4452291"/>
            <a:ext cx="288032" cy="729309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6351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62130B-FBEB-6E5C-97DD-8BB48A005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Approximation of Cosine Similarity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5701044-833A-55C9-DCE0-AAD6AB25D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Sometimes we can only use a pretrained model</a:t>
            </a:r>
          </a:p>
          <a:p>
            <a:pPr lvl="1"/>
            <a:r>
              <a:rPr lang="en-US" altLang="zh-TW" dirty="0"/>
              <a:t>Cannot customize distance metric used in training</a:t>
            </a:r>
          </a:p>
          <a:p>
            <a:r>
              <a:rPr lang="en-US" altLang="zh-TW" dirty="0"/>
              <a:t>Locality-Sensitive Hashing</a:t>
            </a:r>
          </a:p>
          <a:p>
            <a:pPr lvl="1"/>
            <a:r>
              <a:rPr lang="en-US" altLang="zh-TW" dirty="0"/>
              <a:t>A stochastic technique for finding neighbor with highest cosine similarity</a:t>
            </a:r>
          </a:p>
          <a:p>
            <a:pPr lvl="1"/>
            <a:r>
              <a:rPr lang="en-US" altLang="zh-TW" dirty="0"/>
              <a:t>Similar items map to the same buckets with high probability.</a:t>
            </a:r>
            <a:endParaRPr lang="zh-TW" altLang="en-US" dirty="0"/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2065933C-B252-7A9F-7569-B323B4727B47}"/>
              </a:ext>
            </a:extLst>
          </p:cNvPr>
          <p:cNvGrpSpPr/>
          <p:nvPr/>
        </p:nvGrpSpPr>
        <p:grpSpPr>
          <a:xfrm>
            <a:off x="2138555" y="3708631"/>
            <a:ext cx="1224136" cy="1224136"/>
            <a:chOff x="899592" y="2852564"/>
            <a:chExt cx="1224136" cy="1224136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3CD3971E-CEA1-A930-AD21-8191EE7FBDBE}"/>
                </a:ext>
              </a:extLst>
            </p:cNvPr>
            <p:cNvSpPr/>
            <p:nvPr/>
          </p:nvSpPr>
          <p:spPr bwMode="auto">
            <a:xfrm>
              <a:off x="899592" y="2852564"/>
              <a:ext cx="1224136" cy="1224136"/>
            </a:xfrm>
            <a:prstGeom prst="ellipse">
              <a:avLst/>
            </a:prstGeom>
            <a:noFill/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E7E57526-CFC2-2A7B-2C41-1F55367BFCAE}"/>
                </a:ext>
              </a:extLst>
            </p:cNvPr>
            <p:cNvCxnSpPr>
              <a:stCxn id="7" idx="0"/>
              <a:endCxn id="7" idx="4"/>
            </p:cNvCxnSpPr>
            <p:nvPr/>
          </p:nvCxnSpPr>
          <p:spPr bwMode="auto">
            <a:xfrm>
              <a:off x="1511660" y="2852564"/>
              <a:ext cx="0" cy="1224136"/>
            </a:xfrm>
            <a:prstGeom prst="line">
              <a:avLst/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D192BE43-6E65-5DB1-6B2D-E49D605A43D2}"/>
                </a:ext>
              </a:extLst>
            </p:cNvPr>
            <p:cNvCxnSpPr>
              <a:cxnSpLocks/>
              <a:stCxn id="7" idx="1"/>
              <a:endCxn id="7" idx="5"/>
            </p:cNvCxnSpPr>
            <p:nvPr/>
          </p:nvCxnSpPr>
          <p:spPr bwMode="auto">
            <a:xfrm>
              <a:off x="1078863" y="3031835"/>
              <a:ext cx="865594" cy="865594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直線接點 12">
              <a:extLst>
                <a:ext uri="{FF2B5EF4-FFF2-40B4-BE49-F238E27FC236}">
                  <a16:creationId xmlns:a16="http://schemas.microsoft.com/office/drawing/2014/main" id="{1FB7B57A-3E44-EA9F-C462-5A3F2DB5E9B4}"/>
                </a:ext>
              </a:extLst>
            </p:cNvPr>
            <p:cNvCxnSpPr>
              <a:cxnSpLocks/>
              <a:stCxn id="7" idx="2"/>
              <a:endCxn id="7" idx="6"/>
            </p:cNvCxnSpPr>
            <p:nvPr/>
          </p:nvCxnSpPr>
          <p:spPr bwMode="auto">
            <a:xfrm>
              <a:off x="899592" y="3464632"/>
              <a:ext cx="1224136" cy="0"/>
            </a:xfrm>
            <a:prstGeom prst="line">
              <a:avLst/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A99E75A9-31B6-B401-E907-856AED2D7AF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971600" y="3140968"/>
              <a:ext cx="1080120" cy="648072"/>
            </a:xfrm>
            <a:prstGeom prst="line">
              <a:avLst/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3E124B4A-17E4-D6A7-B619-02CB6568F91D}"/>
                </a:ext>
              </a:extLst>
            </p:cNvPr>
            <p:cNvCxnSpPr>
              <a:cxnSpLocks/>
              <a:stCxn id="7" idx="3"/>
              <a:endCxn id="7" idx="7"/>
            </p:cNvCxnSpPr>
            <p:nvPr/>
          </p:nvCxnSpPr>
          <p:spPr bwMode="auto">
            <a:xfrm flipV="1">
              <a:off x="1078863" y="3031835"/>
              <a:ext cx="865594" cy="865594"/>
            </a:xfrm>
            <a:prstGeom prst="line">
              <a:avLst/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5" name="直線單箭頭接點 34">
            <a:extLst>
              <a:ext uri="{FF2B5EF4-FFF2-40B4-BE49-F238E27FC236}">
                <a16:creationId xmlns:a16="http://schemas.microsoft.com/office/drawing/2014/main" id="{331058A0-7D42-9234-B5FC-2E04E1E81983}"/>
              </a:ext>
            </a:extLst>
          </p:cNvPr>
          <p:cNvCxnSpPr/>
          <p:nvPr/>
        </p:nvCxnSpPr>
        <p:spPr bwMode="auto">
          <a:xfrm>
            <a:off x="3578715" y="4320699"/>
            <a:ext cx="216024" cy="0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25FA27D8-D192-653A-EB40-D8008B88AE6B}"/>
              </a:ext>
            </a:extLst>
          </p:cNvPr>
          <p:cNvGrpSpPr/>
          <p:nvPr/>
        </p:nvGrpSpPr>
        <p:grpSpPr>
          <a:xfrm>
            <a:off x="4010763" y="3708631"/>
            <a:ext cx="1569349" cy="1537806"/>
            <a:chOff x="2806525" y="2852564"/>
            <a:chExt cx="1569349" cy="1537806"/>
          </a:xfrm>
        </p:grpSpPr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8B260575-B0F7-B6B3-2DEF-A80A72CED7A4}"/>
                </a:ext>
              </a:extLst>
            </p:cNvPr>
            <p:cNvGrpSpPr/>
            <p:nvPr/>
          </p:nvGrpSpPr>
          <p:grpSpPr>
            <a:xfrm>
              <a:off x="2806525" y="2852564"/>
              <a:ext cx="1224136" cy="1224136"/>
              <a:chOff x="899592" y="2852564"/>
              <a:chExt cx="1224136" cy="1224136"/>
            </a:xfrm>
          </p:grpSpPr>
          <p:sp>
            <p:nvSpPr>
              <p:cNvPr id="28" name="橢圓 27">
                <a:extLst>
                  <a:ext uri="{FF2B5EF4-FFF2-40B4-BE49-F238E27FC236}">
                    <a16:creationId xmlns:a16="http://schemas.microsoft.com/office/drawing/2014/main" id="{038A32E1-3CDB-43BB-0E70-AC6856868AE9}"/>
                  </a:ext>
                </a:extLst>
              </p:cNvPr>
              <p:cNvSpPr/>
              <p:nvPr/>
            </p:nvSpPr>
            <p:spPr bwMode="auto">
              <a:xfrm>
                <a:off x="899592" y="2852564"/>
                <a:ext cx="1224136" cy="1224136"/>
              </a:xfrm>
              <a:prstGeom prst="ellipse">
                <a:avLst/>
              </a:prstGeom>
              <a:noFill/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cxnSp>
            <p:nvCxnSpPr>
              <p:cNvPr id="29" name="直線接點 28">
                <a:extLst>
                  <a:ext uri="{FF2B5EF4-FFF2-40B4-BE49-F238E27FC236}">
                    <a16:creationId xmlns:a16="http://schemas.microsoft.com/office/drawing/2014/main" id="{C420200F-C87A-C51E-FAA7-F97675AC2D28}"/>
                  </a:ext>
                </a:extLst>
              </p:cNvPr>
              <p:cNvCxnSpPr>
                <a:stCxn id="28" idx="0"/>
                <a:endCxn id="28" idx="4"/>
              </p:cNvCxnSpPr>
              <p:nvPr/>
            </p:nvCxnSpPr>
            <p:spPr bwMode="auto">
              <a:xfrm>
                <a:off x="1511660" y="2852564"/>
                <a:ext cx="0" cy="1224136"/>
              </a:xfrm>
              <a:prstGeom prst="line">
                <a:avLst/>
              </a:prstGeom>
              <a:ln w="1270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直線接點 29">
                <a:extLst>
                  <a:ext uri="{FF2B5EF4-FFF2-40B4-BE49-F238E27FC236}">
                    <a16:creationId xmlns:a16="http://schemas.microsoft.com/office/drawing/2014/main" id="{BDA8A1A7-EB76-5570-0342-1110D44184F3}"/>
                  </a:ext>
                </a:extLst>
              </p:cNvPr>
              <p:cNvCxnSpPr>
                <a:cxnSpLocks/>
                <a:stCxn id="28" idx="1"/>
                <a:endCxn id="28" idx="5"/>
              </p:cNvCxnSpPr>
              <p:nvPr/>
            </p:nvCxnSpPr>
            <p:spPr bwMode="auto">
              <a:xfrm>
                <a:off x="1078863" y="3031835"/>
                <a:ext cx="865594" cy="865594"/>
              </a:xfrm>
              <a:prstGeom prst="line">
                <a:avLst/>
              </a:prstGeom>
              <a:ln w="12700">
                <a:solidFill>
                  <a:srgbClr val="FF0000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直線接點 30">
                <a:extLst>
                  <a:ext uri="{FF2B5EF4-FFF2-40B4-BE49-F238E27FC236}">
                    <a16:creationId xmlns:a16="http://schemas.microsoft.com/office/drawing/2014/main" id="{0B300FC4-B20F-6599-7C1B-F767018FFA05}"/>
                  </a:ext>
                </a:extLst>
              </p:cNvPr>
              <p:cNvCxnSpPr>
                <a:cxnSpLocks/>
                <a:stCxn id="28" idx="2"/>
                <a:endCxn id="28" idx="6"/>
              </p:cNvCxnSpPr>
              <p:nvPr/>
            </p:nvCxnSpPr>
            <p:spPr bwMode="auto">
              <a:xfrm>
                <a:off x="899592" y="3464632"/>
                <a:ext cx="1224136" cy="0"/>
              </a:xfrm>
              <a:prstGeom prst="line">
                <a:avLst/>
              </a:prstGeom>
              <a:ln w="1270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直線接點 31">
                <a:extLst>
                  <a:ext uri="{FF2B5EF4-FFF2-40B4-BE49-F238E27FC236}">
                    <a16:creationId xmlns:a16="http://schemas.microsoft.com/office/drawing/2014/main" id="{E41F0597-DC81-09BA-10EE-9E84792A4824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971600" y="3140968"/>
                <a:ext cx="1080120" cy="648072"/>
              </a:xfrm>
              <a:prstGeom prst="line">
                <a:avLst/>
              </a:prstGeom>
              <a:ln w="1270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直線接點 32">
                <a:extLst>
                  <a:ext uri="{FF2B5EF4-FFF2-40B4-BE49-F238E27FC236}">
                    <a16:creationId xmlns:a16="http://schemas.microsoft.com/office/drawing/2014/main" id="{2A591C19-74AC-F0D6-15B1-64C125047182}"/>
                  </a:ext>
                </a:extLst>
              </p:cNvPr>
              <p:cNvCxnSpPr>
                <a:cxnSpLocks/>
                <a:stCxn id="28" idx="3"/>
                <a:endCxn id="28" idx="7"/>
              </p:cNvCxnSpPr>
              <p:nvPr/>
            </p:nvCxnSpPr>
            <p:spPr bwMode="auto">
              <a:xfrm flipV="1">
                <a:off x="1078863" y="3031835"/>
                <a:ext cx="865594" cy="865594"/>
              </a:xfrm>
              <a:prstGeom prst="line">
                <a:avLst/>
              </a:prstGeom>
              <a:ln w="1270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09CBED05-235A-7E09-5406-E7DF551A0BEB}"/>
                </a:ext>
              </a:extLst>
            </p:cNvPr>
            <p:cNvSpPr/>
            <p:nvPr/>
          </p:nvSpPr>
          <p:spPr bwMode="auto">
            <a:xfrm rot="10800000" flipV="1">
              <a:off x="3510251" y="3056390"/>
              <a:ext cx="45719" cy="45719"/>
            </a:xfrm>
            <a:prstGeom prst="rect">
              <a:avLst/>
            </a:prstGeom>
            <a:solidFill>
              <a:srgbClr val="0000FF"/>
            </a:solidFill>
            <a:ln w="1270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7D61B8F1-3F5D-AEE2-2E41-5546DA9B1258}"/>
                </a:ext>
              </a:extLst>
            </p:cNvPr>
            <p:cNvSpPr/>
            <p:nvPr/>
          </p:nvSpPr>
          <p:spPr bwMode="auto">
            <a:xfrm rot="10800000" flipV="1">
              <a:off x="3888460" y="3251852"/>
              <a:ext cx="45719" cy="45719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solidFill>
                <a:srgbClr val="FFC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3D7A1B98-5BE5-581C-24D9-BFFF1FDBF045}"/>
                </a:ext>
              </a:extLst>
            </p:cNvPr>
            <p:cNvSpPr/>
            <p:nvPr/>
          </p:nvSpPr>
          <p:spPr bwMode="auto">
            <a:xfrm rot="10800000" flipV="1">
              <a:off x="3510251" y="3864291"/>
              <a:ext cx="45719" cy="45719"/>
            </a:xfrm>
            <a:prstGeom prst="rect">
              <a:avLst/>
            </a:prstGeom>
            <a:solidFill>
              <a:schemeClr val="tx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7B406573-A5C1-F17B-58F4-53B6CAC9A51C}"/>
                </a:ext>
              </a:extLst>
            </p:cNvPr>
            <p:cNvSpPr/>
            <p:nvPr/>
          </p:nvSpPr>
          <p:spPr bwMode="auto">
            <a:xfrm rot="10800000" flipV="1">
              <a:off x="3008616" y="3360993"/>
              <a:ext cx="45719" cy="45719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D970192B-1C04-A67C-F5B2-3F1D45337781}"/>
                </a:ext>
              </a:extLst>
            </p:cNvPr>
            <p:cNvSpPr/>
            <p:nvPr/>
          </p:nvSpPr>
          <p:spPr bwMode="auto">
            <a:xfrm rot="10800000" flipV="1">
              <a:off x="3008616" y="3147723"/>
              <a:ext cx="45719" cy="45719"/>
            </a:xfrm>
            <a:prstGeom prst="rect">
              <a:avLst/>
            </a:prstGeom>
            <a:solidFill>
              <a:srgbClr val="00B050"/>
            </a:solidFill>
            <a:ln w="1270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42" name="直線單箭頭接點 41">
              <a:extLst>
                <a:ext uri="{FF2B5EF4-FFF2-40B4-BE49-F238E27FC236}">
                  <a16:creationId xmlns:a16="http://schemas.microsoft.com/office/drawing/2014/main" id="{FD149DC0-805C-5209-AA6D-68D1513CA2F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986854" y="3735822"/>
              <a:ext cx="179271" cy="197234"/>
            </a:xfrm>
            <a:prstGeom prst="straightConnector1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44" name="直線單箭頭接點 43">
              <a:extLst>
                <a:ext uri="{FF2B5EF4-FFF2-40B4-BE49-F238E27FC236}">
                  <a16:creationId xmlns:a16="http://schemas.microsoft.com/office/drawing/2014/main" id="{DB010508-AD3B-A118-E7D8-31339B9A1259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694115" y="4042197"/>
              <a:ext cx="194344" cy="201563"/>
            </a:xfrm>
            <a:prstGeom prst="straightConnector1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48" name="文字方塊 47">
              <a:extLst>
                <a:ext uri="{FF2B5EF4-FFF2-40B4-BE49-F238E27FC236}">
                  <a16:creationId xmlns:a16="http://schemas.microsoft.com/office/drawing/2014/main" id="{2755286D-9761-2B96-A586-7B2782700A24}"/>
                </a:ext>
              </a:extLst>
            </p:cNvPr>
            <p:cNvSpPr txBox="1"/>
            <p:nvPr/>
          </p:nvSpPr>
          <p:spPr>
            <a:xfrm>
              <a:off x="4058862" y="3788297"/>
              <a:ext cx="31701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1600" dirty="0"/>
                <a:t>1</a:t>
              </a:r>
              <a:endParaRPr lang="zh-TW" altLang="en-US" sz="1600" dirty="0"/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384E53FB-2736-D923-5D5A-FD78B6BE564A}"/>
                </a:ext>
              </a:extLst>
            </p:cNvPr>
            <p:cNvSpPr txBox="1"/>
            <p:nvPr/>
          </p:nvSpPr>
          <p:spPr>
            <a:xfrm>
              <a:off x="3798851" y="4051816"/>
              <a:ext cx="31701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1600" dirty="0"/>
                <a:t>0</a:t>
              </a:r>
              <a:endParaRPr lang="zh-TW" altLang="en-US" sz="1600" dirty="0"/>
            </a:p>
          </p:txBody>
        </p:sp>
      </p:grp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B32F6BCF-97A2-6452-0F7E-2FE130E1538A}"/>
              </a:ext>
            </a:extLst>
          </p:cNvPr>
          <p:cNvSpPr txBox="1"/>
          <p:nvPr/>
        </p:nvSpPr>
        <p:spPr>
          <a:xfrm>
            <a:off x="5527149" y="3634939"/>
            <a:ext cx="22682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Closer data has similar hashed result </a:t>
            </a:r>
            <a:endParaRPr lang="zh-TW" altLang="en-US" sz="16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5E95F847-EDDD-30F7-A49F-9C5AF5EFB7B1}"/>
              </a:ext>
            </a:extLst>
          </p:cNvPr>
          <p:cNvSpPr txBox="1"/>
          <p:nvPr/>
        </p:nvSpPr>
        <p:spPr>
          <a:xfrm>
            <a:off x="646627" y="4026382"/>
            <a:ext cx="14383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Random</a:t>
            </a:r>
          </a:p>
          <a:p>
            <a:pPr algn="ctr"/>
            <a:r>
              <a:rPr lang="en-US" altLang="zh-TW" sz="1600" dirty="0"/>
              <a:t> hash vectors</a:t>
            </a:r>
            <a:endParaRPr lang="zh-TW" altLang="en-US" sz="1600" dirty="0"/>
          </a:p>
        </p:txBody>
      </p:sp>
      <p:cxnSp>
        <p:nvCxnSpPr>
          <p:cNvPr id="54" name="直線單箭頭接點 53">
            <a:extLst>
              <a:ext uri="{FF2B5EF4-FFF2-40B4-BE49-F238E27FC236}">
                <a16:creationId xmlns:a16="http://schemas.microsoft.com/office/drawing/2014/main" id="{E5BC925D-6E1C-59B9-8B14-B56B11B373C4}"/>
              </a:ext>
            </a:extLst>
          </p:cNvPr>
          <p:cNvCxnSpPr>
            <a:cxnSpLocks/>
          </p:cNvCxnSpPr>
          <p:nvPr/>
        </p:nvCxnSpPr>
        <p:spPr bwMode="auto">
          <a:xfrm>
            <a:off x="5580112" y="4293096"/>
            <a:ext cx="2127671" cy="0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180C23D1-1F15-A899-3544-13D67E0B61AE}"/>
              </a:ext>
            </a:extLst>
          </p:cNvPr>
          <p:cNvGrpSpPr/>
          <p:nvPr/>
        </p:nvGrpSpPr>
        <p:grpSpPr>
          <a:xfrm>
            <a:off x="7850189" y="3713477"/>
            <a:ext cx="231058" cy="1386350"/>
            <a:chOff x="8028384" y="2838665"/>
            <a:chExt cx="288032" cy="1728192"/>
          </a:xfrm>
        </p:grpSpPr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83D9A67-3AB3-2480-8FE2-C4DAFB7E7185}"/>
                </a:ext>
              </a:extLst>
            </p:cNvPr>
            <p:cNvSpPr/>
            <p:nvPr/>
          </p:nvSpPr>
          <p:spPr bwMode="auto">
            <a:xfrm>
              <a:off x="8028384" y="2838665"/>
              <a:ext cx="288032" cy="288032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1</a:t>
              </a:r>
              <a:endParaRPr kumimoji="1" lang="zh-TW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A7DA44D0-006B-C39E-34C4-AE5802EFA626}"/>
                </a:ext>
              </a:extLst>
            </p:cNvPr>
            <p:cNvSpPr/>
            <p:nvPr/>
          </p:nvSpPr>
          <p:spPr bwMode="auto">
            <a:xfrm>
              <a:off x="8028384" y="3126697"/>
              <a:ext cx="288032" cy="288032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0</a:t>
              </a:r>
              <a:endParaRPr kumimoji="1" lang="zh-TW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4FAF14DD-B1EF-1176-990D-7BBBBD4B7157}"/>
                </a:ext>
              </a:extLst>
            </p:cNvPr>
            <p:cNvSpPr/>
            <p:nvPr/>
          </p:nvSpPr>
          <p:spPr bwMode="auto">
            <a:xfrm>
              <a:off x="8028384" y="3414729"/>
              <a:ext cx="288032" cy="288032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1</a:t>
              </a:r>
              <a:endParaRPr kumimoji="1" lang="zh-TW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440FEF5E-387C-2BA5-ADDD-7D84E2B05D64}"/>
                </a:ext>
              </a:extLst>
            </p:cNvPr>
            <p:cNvSpPr/>
            <p:nvPr/>
          </p:nvSpPr>
          <p:spPr bwMode="auto">
            <a:xfrm>
              <a:off x="8028384" y="3702761"/>
              <a:ext cx="288032" cy="288032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0</a:t>
              </a:r>
              <a:endParaRPr kumimoji="1" lang="zh-TW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269931D4-8BFD-E185-E731-BF82F1EB2EBE}"/>
                </a:ext>
              </a:extLst>
            </p:cNvPr>
            <p:cNvSpPr/>
            <p:nvPr/>
          </p:nvSpPr>
          <p:spPr bwMode="auto">
            <a:xfrm>
              <a:off x="8028384" y="3990793"/>
              <a:ext cx="288032" cy="288032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0</a:t>
              </a:r>
              <a:endParaRPr kumimoji="1" lang="zh-TW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D2FC6C23-9BFC-54AA-C9F5-37433EA14C32}"/>
                </a:ext>
              </a:extLst>
            </p:cNvPr>
            <p:cNvSpPr/>
            <p:nvPr/>
          </p:nvSpPr>
          <p:spPr bwMode="auto">
            <a:xfrm>
              <a:off x="8028384" y="4278825"/>
              <a:ext cx="288032" cy="288032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zh-TW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rPr>
                <a:t>0</a:t>
              </a:r>
              <a:endParaRPr kumimoji="1" lang="zh-TW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078225C7-67E0-C4A0-1EF4-BC6428794756}"/>
              </a:ext>
            </a:extLst>
          </p:cNvPr>
          <p:cNvGrpSpPr/>
          <p:nvPr/>
        </p:nvGrpSpPr>
        <p:grpSpPr>
          <a:xfrm>
            <a:off x="986427" y="5313154"/>
            <a:ext cx="3024336" cy="1163846"/>
            <a:chOff x="625150" y="5219578"/>
            <a:chExt cx="3361186" cy="1224136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5D5FC9E4-EDAE-113C-2A6D-EB8F3E1456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5150" y="5219578"/>
              <a:ext cx="3361186" cy="122413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981F67E2-7F3D-7738-A97A-9FE2B19BCF77}"/>
                    </a:ext>
                  </a:extLst>
                </p:cNvPr>
                <p:cNvSpPr txBox="1"/>
                <p:nvPr/>
              </p:nvSpPr>
              <p:spPr>
                <a:xfrm>
                  <a:off x="715659" y="5833610"/>
                  <a:ext cx="1008112" cy="5232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zh-TW" altLang="en-US" sz="1400" b="1" dirty="0">
                      <a:solidFill>
                        <a:srgbClr val="FF0000"/>
                      </a:solidFill>
                    </a:rPr>
                    <a:t>－</a:t>
                  </a:r>
                  <a14:m>
                    <m:oMath xmlns:m="http://schemas.openxmlformats.org/officeDocument/2006/math">
                      <m:r>
                        <a:rPr lang="en-US" altLang="zh-TW" sz="1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𝐜𝐨𝐬</m:t>
                      </m:r>
                      <m:r>
                        <a:rPr lang="en-US" altLang="zh-TW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altLang="zh-TW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𝜽</m:t>
                      </m:r>
                      <m:r>
                        <a:rPr lang="en-US" altLang="zh-TW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altLang="zh-TW" sz="1400" b="1" dirty="0">
                    <a:solidFill>
                      <a:srgbClr val="FF0000"/>
                    </a:solidFill>
                  </a:endParaRPr>
                </a:p>
                <a:p>
                  <a:r>
                    <a:rPr lang="zh-TW" altLang="en-US" sz="1400" b="1" dirty="0">
                      <a:solidFill>
                        <a:srgbClr val="0000FF"/>
                      </a:solidFill>
                    </a:rPr>
                    <a:t>－</a:t>
                  </a:r>
                  <a14:m>
                    <m:oMath xmlns:m="http://schemas.openxmlformats.org/officeDocument/2006/math">
                      <m:r>
                        <a:rPr lang="en-US" altLang="zh-TW" sz="14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𝜽</m:t>
                      </m:r>
                    </m:oMath>
                  </a14:m>
                  <a:endParaRPr lang="en-US" altLang="zh-TW" sz="1400" b="1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981F67E2-7F3D-7738-A97A-9FE2B19BC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659" y="5833610"/>
                  <a:ext cx="1008112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1325" b="-15476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C0B965D-9F81-FDB4-E7D9-6EE76935537F}"/>
                  </a:ext>
                </a:extLst>
              </p:cNvPr>
              <p:cNvSpPr txBox="1"/>
              <p:nvPr/>
            </p:nvSpPr>
            <p:spPr>
              <a:xfrm>
                <a:off x="4010763" y="5660657"/>
                <a:ext cx="466568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TW" sz="16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</m:d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are monotonic functions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altLang="zh-TW" sz="16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zh-TW" altLang="en-US" sz="1600" dirty="0"/>
                  <a:t> </a:t>
                </a:r>
                <a:r>
                  <a:rPr lang="en-US" altLang="zh-TW" sz="1600" dirty="0"/>
                  <a:t>Should have same nearest neighbor structure</a:t>
                </a:r>
                <a:endParaRPr lang="zh-TW" altLang="en-US" sz="16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C0B965D-9F81-FDB4-E7D9-6EE769355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763" y="5660657"/>
                <a:ext cx="4665689" cy="584775"/>
              </a:xfrm>
              <a:prstGeom prst="rect">
                <a:avLst/>
              </a:prstGeom>
              <a:blipFill>
                <a:blip r:embed="rId4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66B8A9C-1693-257E-4664-0DD8CE0F5796}"/>
                  </a:ext>
                </a:extLst>
              </p:cNvPr>
              <p:cNvSpPr txBox="1"/>
              <p:nvPr/>
            </p:nvSpPr>
            <p:spPr>
              <a:xfrm>
                <a:off x="5955857" y="4427900"/>
                <a:ext cx="151858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1600" b="1" dirty="0"/>
                  <a:t>Similarity </a:t>
                </a:r>
                <a14:m>
                  <m:oMath xmlns:m="http://schemas.openxmlformats.org/officeDocument/2006/math">
                    <m:r>
                      <a:rPr lang="en-US" altLang="zh-TW" sz="16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r>
                      <a:rPr lang="en-US" altLang="zh-TW" sz="16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lang="zh-TW" altLang="en-US" sz="1600" b="1" dirty="0"/>
                  <a:t> </a:t>
                </a: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66B8A9C-1693-257E-4664-0DD8CE0F57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5857" y="4427900"/>
                <a:ext cx="1518586" cy="338554"/>
              </a:xfrm>
              <a:prstGeom prst="rect">
                <a:avLst/>
              </a:prstGeom>
              <a:blipFill>
                <a:blip r:embed="rId5"/>
                <a:stretch>
                  <a:fillRect l="-2008" t="-5357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285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圖片 72">
            <a:extLst>
              <a:ext uri="{FF2B5EF4-FFF2-40B4-BE49-F238E27FC236}">
                <a16:creationId xmlns:a16="http://schemas.microsoft.com/office/drawing/2014/main" id="{3ADB260B-E50A-1130-F48C-B70207D973C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5" t="2332" r="1735" b="3795"/>
          <a:stretch/>
        </p:blipFill>
        <p:spPr>
          <a:xfrm>
            <a:off x="54837" y="3189100"/>
            <a:ext cx="4487201" cy="272901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D31D2240-A0B6-DFA7-17BF-894021183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Effect of Locality-Sensitive Hashing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D761F8A-C0A0-45BF-D44D-DF253E597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Hashing vectors of LSH perform partitioning in Hilbert space.</a:t>
            </a:r>
          </a:p>
          <a:p>
            <a:pPr lvl="1"/>
            <a:r>
              <a:rPr lang="en-US" altLang="zh-TW" dirty="0"/>
              <a:t>Hamming distance is a special case of LSH</a:t>
            </a:r>
            <a:br>
              <a:rPr lang="en-US" altLang="zh-TW" dirty="0"/>
            </a:br>
            <a:r>
              <a:rPr lang="en-US" altLang="zh-TW" dirty="0"/>
              <a:t>(hashing vectors are normal vector of coordinate planes)</a:t>
            </a:r>
          </a:p>
          <a:p>
            <a:pPr lvl="1"/>
            <a:r>
              <a:rPr lang="en-US" altLang="zh-TW" dirty="0"/>
              <a:t>LSH can generally performs better than Hamming distance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033452B-B8A3-5CEC-96BA-87919918C3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8146" y="3166164"/>
            <a:ext cx="3502167" cy="2501548"/>
          </a:xfrm>
          <a:prstGeom prst="rect">
            <a:avLst/>
          </a:prstGeom>
        </p:spPr>
      </p:pic>
      <p:grpSp>
        <p:nvGrpSpPr>
          <p:cNvPr id="42" name="群組 41">
            <a:extLst>
              <a:ext uri="{FF2B5EF4-FFF2-40B4-BE49-F238E27FC236}">
                <a16:creationId xmlns:a16="http://schemas.microsoft.com/office/drawing/2014/main" id="{06FF986A-24DA-3FD3-0B3C-88C3DB6F97A4}"/>
              </a:ext>
            </a:extLst>
          </p:cNvPr>
          <p:cNvGrpSpPr/>
          <p:nvPr/>
        </p:nvGrpSpPr>
        <p:grpSpPr>
          <a:xfrm>
            <a:off x="7596336" y="5287065"/>
            <a:ext cx="1273718" cy="1124159"/>
            <a:chOff x="5253713" y="4221088"/>
            <a:chExt cx="1910576" cy="1552410"/>
          </a:xfrm>
        </p:grpSpPr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498371A0-1EB5-1BED-B0DC-C853EBCA3E0F}"/>
                </a:ext>
              </a:extLst>
            </p:cNvPr>
            <p:cNvGrpSpPr/>
            <p:nvPr/>
          </p:nvGrpSpPr>
          <p:grpSpPr>
            <a:xfrm>
              <a:off x="5253713" y="4221088"/>
              <a:ext cx="1910576" cy="1503234"/>
              <a:chOff x="5181705" y="3717032"/>
              <a:chExt cx="1910576" cy="1503234"/>
            </a:xfrm>
          </p:grpSpPr>
          <p:cxnSp>
            <p:nvCxnSpPr>
              <p:cNvPr id="7" name="直線單箭頭接點 6">
                <a:extLst>
                  <a:ext uri="{FF2B5EF4-FFF2-40B4-BE49-F238E27FC236}">
                    <a16:creationId xmlns:a16="http://schemas.microsoft.com/office/drawing/2014/main" id="{E5A0D408-B0BE-01D5-F097-D927CAE98C58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5181705" y="5157191"/>
                <a:ext cx="1910576" cy="0"/>
              </a:xfrm>
              <a:prstGeom prst="straightConnector1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線單箭頭接點 10">
                <a:extLst>
                  <a:ext uri="{FF2B5EF4-FFF2-40B4-BE49-F238E27FC236}">
                    <a16:creationId xmlns:a16="http://schemas.microsoft.com/office/drawing/2014/main" id="{AAE98331-99E5-9681-F6DE-99C85E045514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5436096" y="3717032"/>
                <a:ext cx="0" cy="1503234"/>
              </a:xfrm>
              <a:prstGeom prst="straightConnector1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  <a:headEnd type="none" w="med" len="me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橢圓 14">
                <a:extLst>
                  <a:ext uri="{FF2B5EF4-FFF2-40B4-BE49-F238E27FC236}">
                    <a16:creationId xmlns:a16="http://schemas.microsoft.com/office/drawing/2014/main" id="{321AE195-22BF-BAA8-650B-C09920A5F913}"/>
                  </a:ext>
                </a:extLst>
              </p:cNvPr>
              <p:cNvSpPr/>
              <p:nvPr/>
            </p:nvSpPr>
            <p:spPr bwMode="auto">
              <a:xfrm rot="7990057">
                <a:off x="6128625" y="4795943"/>
                <a:ext cx="45719" cy="45719"/>
              </a:xfrm>
              <a:prstGeom prst="ellipse">
                <a:avLst/>
              </a:prstGeom>
              <a:solidFill>
                <a:srgbClr val="2CA02C"/>
              </a:solidFill>
              <a:ln w="12700" cap="flat" cmpd="sng" algn="ctr">
                <a:solidFill>
                  <a:srgbClr val="00B05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16" name="橢圓 15">
                <a:extLst>
                  <a:ext uri="{FF2B5EF4-FFF2-40B4-BE49-F238E27FC236}">
                    <a16:creationId xmlns:a16="http://schemas.microsoft.com/office/drawing/2014/main" id="{E72C1F10-372B-E9D5-1B5D-75AB7250E764}"/>
                  </a:ext>
                </a:extLst>
              </p:cNvPr>
              <p:cNvSpPr/>
              <p:nvPr/>
            </p:nvSpPr>
            <p:spPr bwMode="auto">
              <a:xfrm rot="7990057">
                <a:off x="5929531" y="4917056"/>
                <a:ext cx="45719" cy="45719"/>
              </a:xfrm>
              <a:prstGeom prst="ellipse">
                <a:avLst/>
              </a:prstGeom>
              <a:solidFill>
                <a:srgbClr val="2CA02C"/>
              </a:solidFill>
              <a:ln w="12700" cap="flat" cmpd="sng" algn="ctr">
                <a:solidFill>
                  <a:srgbClr val="00B05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17" name="橢圓 16">
                <a:extLst>
                  <a:ext uri="{FF2B5EF4-FFF2-40B4-BE49-F238E27FC236}">
                    <a16:creationId xmlns:a16="http://schemas.microsoft.com/office/drawing/2014/main" id="{E5118CCD-FECD-80AF-9392-0693D692E2C8}"/>
                  </a:ext>
                </a:extLst>
              </p:cNvPr>
              <p:cNvSpPr/>
              <p:nvPr/>
            </p:nvSpPr>
            <p:spPr bwMode="auto">
              <a:xfrm rot="7990057">
                <a:off x="6395020" y="4605919"/>
                <a:ext cx="45719" cy="45719"/>
              </a:xfrm>
              <a:prstGeom prst="ellipse">
                <a:avLst/>
              </a:prstGeom>
              <a:solidFill>
                <a:srgbClr val="2CA02C"/>
              </a:solidFill>
              <a:ln w="12700" cap="flat" cmpd="sng" algn="ctr">
                <a:solidFill>
                  <a:srgbClr val="00B05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18" name="橢圓 17">
                <a:extLst>
                  <a:ext uri="{FF2B5EF4-FFF2-40B4-BE49-F238E27FC236}">
                    <a16:creationId xmlns:a16="http://schemas.microsoft.com/office/drawing/2014/main" id="{EC872649-BC5E-8D5F-FA29-48A955BCDF33}"/>
                  </a:ext>
                </a:extLst>
              </p:cNvPr>
              <p:cNvSpPr/>
              <p:nvPr/>
            </p:nvSpPr>
            <p:spPr bwMode="auto">
              <a:xfrm rot="7990057">
                <a:off x="6448144" y="4422185"/>
                <a:ext cx="45719" cy="45719"/>
              </a:xfrm>
              <a:prstGeom prst="ellipse">
                <a:avLst/>
              </a:prstGeom>
              <a:solidFill>
                <a:srgbClr val="2CA02C"/>
              </a:solidFill>
              <a:ln w="12700" cap="flat" cmpd="sng" algn="ctr">
                <a:solidFill>
                  <a:srgbClr val="00B05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19" name="橢圓 18">
                <a:extLst>
                  <a:ext uri="{FF2B5EF4-FFF2-40B4-BE49-F238E27FC236}">
                    <a16:creationId xmlns:a16="http://schemas.microsoft.com/office/drawing/2014/main" id="{51DEB12F-172D-27E0-D719-8D24C4F4B8B5}"/>
                  </a:ext>
                </a:extLst>
              </p:cNvPr>
              <p:cNvSpPr/>
              <p:nvPr/>
            </p:nvSpPr>
            <p:spPr bwMode="auto">
              <a:xfrm rot="7990057">
                <a:off x="6223296" y="4565621"/>
                <a:ext cx="45719" cy="45719"/>
              </a:xfrm>
              <a:prstGeom prst="ellipse">
                <a:avLst/>
              </a:prstGeom>
              <a:solidFill>
                <a:srgbClr val="2CA02C"/>
              </a:solidFill>
              <a:ln w="12700" cap="flat" cmpd="sng" algn="ctr">
                <a:solidFill>
                  <a:srgbClr val="00B05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25" name="橢圓 24">
                <a:extLst>
                  <a:ext uri="{FF2B5EF4-FFF2-40B4-BE49-F238E27FC236}">
                    <a16:creationId xmlns:a16="http://schemas.microsoft.com/office/drawing/2014/main" id="{1A01E6B6-752B-F808-3B24-53676D07457A}"/>
                  </a:ext>
                </a:extLst>
              </p:cNvPr>
              <p:cNvSpPr/>
              <p:nvPr/>
            </p:nvSpPr>
            <p:spPr bwMode="auto">
              <a:xfrm rot="7990057">
                <a:off x="6552106" y="4609849"/>
                <a:ext cx="45719" cy="45719"/>
              </a:xfrm>
              <a:prstGeom prst="ellipse">
                <a:avLst/>
              </a:prstGeom>
              <a:solidFill>
                <a:srgbClr val="2CA02C"/>
              </a:solidFill>
              <a:ln w="12700" cap="flat" cmpd="sng" algn="ctr">
                <a:solidFill>
                  <a:srgbClr val="00B050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26" name="橢圓 25">
                <a:extLst>
                  <a:ext uri="{FF2B5EF4-FFF2-40B4-BE49-F238E27FC236}">
                    <a16:creationId xmlns:a16="http://schemas.microsoft.com/office/drawing/2014/main" id="{692CAEC6-C66C-22F4-E01B-FBF2D3648BB1}"/>
                  </a:ext>
                </a:extLst>
              </p:cNvPr>
              <p:cNvSpPr/>
              <p:nvPr/>
            </p:nvSpPr>
            <p:spPr bwMode="auto">
              <a:xfrm rot="6797803">
                <a:off x="5765622" y="4454383"/>
                <a:ext cx="45719" cy="45719"/>
              </a:xfrm>
              <a:prstGeom prst="ellipse">
                <a:avLst/>
              </a:prstGeom>
              <a:solidFill>
                <a:srgbClr val="0000FF"/>
              </a:solidFill>
              <a:ln w="1270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27" name="橢圓 26">
                <a:extLst>
                  <a:ext uri="{FF2B5EF4-FFF2-40B4-BE49-F238E27FC236}">
                    <a16:creationId xmlns:a16="http://schemas.microsoft.com/office/drawing/2014/main" id="{0324A128-ADDB-8CAC-ED19-3C8439D02E1D}"/>
                  </a:ext>
                </a:extLst>
              </p:cNvPr>
              <p:cNvSpPr/>
              <p:nvPr/>
            </p:nvSpPr>
            <p:spPr bwMode="auto">
              <a:xfrm rot="6797803">
                <a:off x="5619549" y="4635957"/>
                <a:ext cx="45719" cy="45719"/>
              </a:xfrm>
              <a:prstGeom prst="ellipse">
                <a:avLst/>
              </a:prstGeom>
              <a:solidFill>
                <a:srgbClr val="0000FF"/>
              </a:solidFill>
              <a:ln w="1270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28" name="橢圓 27">
                <a:extLst>
                  <a:ext uri="{FF2B5EF4-FFF2-40B4-BE49-F238E27FC236}">
                    <a16:creationId xmlns:a16="http://schemas.microsoft.com/office/drawing/2014/main" id="{7E01E10E-96BB-D96A-C144-7F7A2A4A8461}"/>
                  </a:ext>
                </a:extLst>
              </p:cNvPr>
              <p:cNvSpPr/>
              <p:nvPr/>
            </p:nvSpPr>
            <p:spPr bwMode="auto">
              <a:xfrm rot="6797803">
                <a:off x="6032348" y="4362691"/>
                <a:ext cx="45719" cy="45719"/>
              </a:xfrm>
              <a:prstGeom prst="ellipse">
                <a:avLst/>
              </a:prstGeom>
              <a:solidFill>
                <a:srgbClr val="0000FF"/>
              </a:solidFill>
              <a:ln w="1270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29" name="橢圓 28">
                <a:extLst>
                  <a:ext uri="{FF2B5EF4-FFF2-40B4-BE49-F238E27FC236}">
                    <a16:creationId xmlns:a16="http://schemas.microsoft.com/office/drawing/2014/main" id="{E9558195-04C6-9A8D-CD49-2A511BA1E187}"/>
                  </a:ext>
                </a:extLst>
              </p:cNvPr>
              <p:cNvSpPr/>
              <p:nvPr/>
            </p:nvSpPr>
            <p:spPr bwMode="auto">
              <a:xfrm rot="6797803">
                <a:off x="5754775" y="4190509"/>
                <a:ext cx="45719" cy="45719"/>
              </a:xfrm>
              <a:prstGeom prst="ellipse">
                <a:avLst/>
              </a:prstGeom>
              <a:solidFill>
                <a:srgbClr val="0000FF"/>
              </a:solidFill>
              <a:ln w="1270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30" name="橢圓 29">
                <a:extLst>
                  <a:ext uri="{FF2B5EF4-FFF2-40B4-BE49-F238E27FC236}">
                    <a16:creationId xmlns:a16="http://schemas.microsoft.com/office/drawing/2014/main" id="{BBBDDE7B-ADD3-4E9E-928B-857BB4D419D1}"/>
                  </a:ext>
                </a:extLst>
              </p:cNvPr>
              <p:cNvSpPr/>
              <p:nvPr/>
            </p:nvSpPr>
            <p:spPr bwMode="auto">
              <a:xfrm rot="6797803">
                <a:off x="5945627" y="4250583"/>
                <a:ext cx="45719" cy="45719"/>
              </a:xfrm>
              <a:prstGeom prst="ellipse">
                <a:avLst/>
              </a:prstGeom>
              <a:solidFill>
                <a:srgbClr val="0000FF"/>
              </a:solidFill>
              <a:ln w="1270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sp>
            <p:nvSpPr>
              <p:cNvPr id="31" name="橢圓 30">
                <a:extLst>
                  <a:ext uri="{FF2B5EF4-FFF2-40B4-BE49-F238E27FC236}">
                    <a16:creationId xmlns:a16="http://schemas.microsoft.com/office/drawing/2014/main" id="{6AF678E4-D227-0F35-3619-CFC24348E4AC}"/>
                  </a:ext>
                </a:extLst>
              </p:cNvPr>
              <p:cNvSpPr/>
              <p:nvPr/>
            </p:nvSpPr>
            <p:spPr bwMode="auto">
              <a:xfrm rot="6797803">
                <a:off x="6285647" y="3961837"/>
                <a:ext cx="45719" cy="45719"/>
              </a:xfrm>
              <a:prstGeom prst="ellipse">
                <a:avLst/>
              </a:prstGeom>
              <a:solidFill>
                <a:srgbClr val="0000FF"/>
              </a:solidFill>
              <a:ln w="12700" cap="flat" cmpd="sng" algn="ctr">
                <a:solidFill>
                  <a:srgbClr val="0000FF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p:grp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D43CD928-0828-DCC8-37EB-8C6D659900B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419642" y="4293096"/>
              <a:ext cx="1600630" cy="1480402"/>
            </a:xfrm>
            <a:prstGeom prst="line">
              <a:avLst/>
            </a:prstGeom>
            <a:noFill/>
            <a:ln w="38100" cap="flat" cmpd="sng" algn="ctr">
              <a:solidFill>
                <a:srgbClr val="FF0000"/>
              </a:solidFill>
              <a:prstDash val="sysDot"/>
              <a:round/>
              <a:headEnd type="none" w="med" len="med"/>
              <a:tailEnd type="none" w="med" len="med"/>
            </a:ln>
            <a:effectLst/>
          </p:spPr>
        </p:cxnSp>
      </p:grpSp>
      <p:cxnSp>
        <p:nvCxnSpPr>
          <p:cNvPr id="44" name="直線單箭頭接點 43">
            <a:extLst>
              <a:ext uri="{FF2B5EF4-FFF2-40B4-BE49-F238E27FC236}">
                <a16:creationId xmlns:a16="http://schemas.microsoft.com/office/drawing/2014/main" id="{F181DFFD-BE8A-35F8-1B68-466CD586CF41}"/>
              </a:ext>
            </a:extLst>
          </p:cNvPr>
          <p:cNvCxnSpPr>
            <a:cxnSpLocks/>
            <a:stCxn id="58" idx="3"/>
          </p:cNvCxnSpPr>
          <p:nvPr/>
        </p:nvCxnSpPr>
        <p:spPr bwMode="auto">
          <a:xfrm>
            <a:off x="7073140" y="6144167"/>
            <a:ext cx="491537" cy="196522"/>
          </a:xfrm>
          <a:prstGeom prst="straightConnector1">
            <a:avLst/>
          </a:prstGeom>
          <a:ln w="3810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C14973D-7FA6-D7D6-67F6-C199D7DB9177}"/>
              </a:ext>
            </a:extLst>
          </p:cNvPr>
          <p:cNvCxnSpPr>
            <a:cxnSpLocks/>
            <a:stCxn id="58" idx="3"/>
          </p:cNvCxnSpPr>
          <p:nvPr/>
        </p:nvCxnSpPr>
        <p:spPr bwMode="auto">
          <a:xfrm flipV="1">
            <a:off x="7073140" y="5555501"/>
            <a:ext cx="536321" cy="588666"/>
          </a:xfrm>
          <a:prstGeom prst="straightConnector1">
            <a:avLst/>
          </a:prstGeom>
          <a:ln w="3810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7FB2ADE1-5722-E6EF-3B94-75BFD9F4996C}"/>
              </a:ext>
            </a:extLst>
          </p:cNvPr>
          <p:cNvSpPr txBox="1"/>
          <p:nvPr/>
        </p:nvSpPr>
        <p:spPr>
          <a:xfrm>
            <a:off x="8442893" y="4234424"/>
            <a:ext cx="7125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Good choice</a:t>
            </a:r>
            <a:endParaRPr lang="zh-TW" altLang="en-US" sz="14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356E675A-CD7C-F2C0-A241-D3BC0D3FE921}"/>
              </a:ext>
            </a:extLst>
          </p:cNvPr>
          <p:cNvSpPr txBox="1"/>
          <p:nvPr/>
        </p:nvSpPr>
        <p:spPr>
          <a:xfrm>
            <a:off x="5881269" y="5990278"/>
            <a:ext cx="11918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Bad choice</a:t>
            </a:r>
            <a:endParaRPr lang="zh-TW" altLang="en-US" sz="1400" dirty="0"/>
          </a:p>
        </p:txBody>
      </p:sp>
      <p:cxnSp>
        <p:nvCxnSpPr>
          <p:cNvPr id="59" name="直線單箭頭接點 58">
            <a:extLst>
              <a:ext uri="{FF2B5EF4-FFF2-40B4-BE49-F238E27FC236}">
                <a16:creationId xmlns:a16="http://schemas.microsoft.com/office/drawing/2014/main" id="{D37F2B82-78EA-4BEB-12ED-9FF74C994205}"/>
              </a:ext>
            </a:extLst>
          </p:cNvPr>
          <p:cNvCxnSpPr>
            <a:cxnSpLocks/>
            <a:stCxn id="54" idx="2"/>
          </p:cNvCxnSpPr>
          <p:nvPr/>
        </p:nvCxnSpPr>
        <p:spPr bwMode="auto">
          <a:xfrm flipH="1">
            <a:off x="8772857" y="4757644"/>
            <a:ext cx="26318" cy="535700"/>
          </a:xfrm>
          <a:prstGeom prst="straightConnector1">
            <a:avLst/>
          </a:prstGeom>
          <a:ln w="3810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0661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5F8C3-9888-D08E-09A7-F3AB4ACA9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圖片 69">
            <a:extLst>
              <a:ext uri="{FF2B5EF4-FFF2-40B4-BE49-F238E27FC236}">
                <a16:creationId xmlns:a16="http://schemas.microsoft.com/office/drawing/2014/main" id="{7B606D27-02E6-5192-43A5-1C29AEA4BEB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095" y="2852936"/>
            <a:ext cx="3021889" cy="250432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C36455ED-C7DA-842D-76AD-E78EF88A2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What Else Can LSH Do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AD2695-4179-E43A-8A10-10013FB76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511480" cy="4800600"/>
          </a:xfrm>
        </p:spPr>
        <p:txBody>
          <a:bodyPr/>
          <a:lstStyle/>
          <a:p>
            <a:r>
              <a:rPr lang="en-US" altLang="zh-TW" dirty="0"/>
              <a:t>2-D data visualization using t-SNE method</a:t>
            </a:r>
          </a:p>
          <a:p>
            <a:pPr lvl="1"/>
            <a:r>
              <a:rPr lang="en-US" altLang="zh-TW" dirty="0"/>
              <a:t>Visualization method that maintains distance in Hilbert space</a:t>
            </a:r>
          </a:p>
          <a:p>
            <a:pPr lvl="1"/>
            <a:r>
              <a:rPr lang="en-US" altLang="zh-TW" dirty="0"/>
              <a:t>Locality-Sensitive Hashing maps angular distance to spatial distance</a:t>
            </a:r>
          </a:p>
          <a:p>
            <a:pPr lvl="1"/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zh-TW" altLang="en-US" dirty="0"/>
          </a:p>
        </p:txBody>
      </p:sp>
      <p:pic>
        <p:nvPicPr>
          <p:cNvPr id="68" name="圖片 67">
            <a:extLst>
              <a:ext uri="{FF2B5EF4-FFF2-40B4-BE49-F238E27FC236}">
                <a16:creationId xmlns:a16="http://schemas.microsoft.com/office/drawing/2014/main" id="{BCD3F165-FBE6-FE28-F6D6-9BECFAB76CC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029" y="2852936"/>
            <a:ext cx="3003914" cy="2489431"/>
          </a:xfrm>
          <a:prstGeom prst="rect">
            <a:avLst/>
          </a:prstGeom>
        </p:spPr>
      </p:pic>
      <p:sp>
        <p:nvSpPr>
          <p:cNvPr id="72" name="矩形 71">
            <a:extLst>
              <a:ext uri="{FF2B5EF4-FFF2-40B4-BE49-F238E27FC236}">
                <a16:creationId xmlns:a16="http://schemas.microsoft.com/office/drawing/2014/main" id="{7FC72785-DF87-6A63-117F-C6D1CDDDEB7C}"/>
              </a:ext>
            </a:extLst>
          </p:cNvPr>
          <p:cNvSpPr/>
          <p:nvPr/>
        </p:nvSpPr>
        <p:spPr bwMode="auto">
          <a:xfrm rot="20601166">
            <a:off x="3478815" y="4019832"/>
            <a:ext cx="267570" cy="1230223"/>
          </a:xfrm>
          <a:prstGeom prst="rect">
            <a:avLst/>
          </a:prstGeom>
          <a:noFill/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C730C28-588C-AEF5-127A-7976F7FB764B}"/>
              </a:ext>
            </a:extLst>
          </p:cNvPr>
          <p:cNvSpPr/>
          <p:nvPr/>
        </p:nvSpPr>
        <p:spPr bwMode="auto">
          <a:xfrm rot="3323619">
            <a:off x="2775719" y="4109764"/>
            <a:ext cx="302938" cy="1230223"/>
          </a:xfrm>
          <a:prstGeom prst="rect">
            <a:avLst/>
          </a:prstGeom>
          <a:noFill/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CB52B45E-9C2B-612C-E6A3-EC8E3C67572E}"/>
              </a:ext>
            </a:extLst>
          </p:cNvPr>
          <p:cNvSpPr/>
          <p:nvPr/>
        </p:nvSpPr>
        <p:spPr bwMode="auto">
          <a:xfrm rot="20819542">
            <a:off x="3162385" y="2881992"/>
            <a:ext cx="302938" cy="1117243"/>
          </a:xfrm>
          <a:prstGeom prst="rect">
            <a:avLst/>
          </a:prstGeom>
          <a:noFill/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D71F3A1-7CE2-7758-AB97-458B973FE10A}"/>
              </a:ext>
            </a:extLst>
          </p:cNvPr>
          <p:cNvSpPr txBox="1"/>
          <p:nvPr/>
        </p:nvSpPr>
        <p:spPr>
          <a:xfrm>
            <a:off x="369524" y="3925540"/>
            <a:ext cx="2360945" cy="5232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Non-normalized distance results in linear distribution</a:t>
            </a:r>
            <a:endParaRPr lang="zh-TW" altLang="en-US" sz="14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F9B9A45-C135-C307-FCE6-E6B3C2E9BF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3508" r="64441"/>
          <a:stretch/>
        </p:blipFill>
        <p:spPr>
          <a:xfrm>
            <a:off x="156642" y="5232885"/>
            <a:ext cx="1562033" cy="1244115"/>
          </a:xfrm>
          <a:prstGeom prst="rect">
            <a:avLst/>
          </a:prstGeom>
        </p:spPr>
      </p:pic>
      <p:sp>
        <p:nvSpPr>
          <p:cNvPr id="12" name="橢圓 11">
            <a:extLst>
              <a:ext uri="{FF2B5EF4-FFF2-40B4-BE49-F238E27FC236}">
                <a16:creationId xmlns:a16="http://schemas.microsoft.com/office/drawing/2014/main" id="{6D213B12-2ED3-5C92-C549-FF828D2C579C}"/>
              </a:ext>
            </a:extLst>
          </p:cNvPr>
          <p:cNvSpPr/>
          <p:nvPr/>
        </p:nvSpPr>
        <p:spPr bwMode="auto">
          <a:xfrm>
            <a:off x="6156176" y="4583658"/>
            <a:ext cx="576064" cy="597942"/>
          </a:xfrm>
          <a:prstGeom prst="ellipse">
            <a:avLst/>
          </a:prstGeom>
          <a:noFill/>
          <a:ln w="28575" cap="flat" cmpd="sng" algn="ctr">
            <a:solidFill>
              <a:srgbClr val="0000FF"/>
            </a:solidFill>
            <a:prstDash val="sysDot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C253529A-CECB-5BD6-3F47-BE43CBFFB723}"/>
              </a:ext>
            </a:extLst>
          </p:cNvPr>
          <p:cNvSpPr/>
          <p:nvPr/>
        </p:nvSpPr>
        <p:spPr bwMode="auto">
          <a:xfrm>
            <a:off x="6702560" y="3827965"/>
            <a:ext cx="576064" cy="580029"/>
          </a:xfrm>
          <a:prstGeom prst="ellipse">
            <a:avLst/>
          </a:prstGeom>
          <a:noFill/>
          <a:ln w="28575" cap="flat" cmpd="sng" algn="ctr">
            <a:solidFill>
              <a:srgbClr val="0000FF"/>
            </a:solidFill>
            <a:prstDash val="sysDot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628F2D-005C-2BC2-D386-8260B3480C02}"/>
              </a:ext>
            </a:extLst>
          </p:cNvPr>
          <p:cNvSpPr txBox="1"/>
          <p:nvPr/>
        </p:nvSpPr>
        <p:spPr>
          <a:xfrm>
            <a:off x="1827931" y="5571915"/>
            <a:ext cx="31963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Use embeddings generated by model trained with cosine distance directly</a:t>
            </a:r>
            <a:endParaRPr lang="zh-TW" altLang="en-US" sz="1400" dirty="0"/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392FD721-98D2-F3EF-668F-75D03178C3AF}"/>
              </a:ext>
            </a:extLst>
          </p:cNvPr>
          <p:cNvCxnSpPr>
            <a:cxnSpLocks/>
            <a:stCxn id="5" idx="0"/>
          </p:cNvCxnSpPr>
          <p:nvPr/>
        </p:nvCxnSpPr>
        <p:spPr bwMode="auto">
          <a:xfrm flipH="1" flipV="1">
            <a:off x="3370684" y="5342367"/>
            <a:ext cx="55421" cy="22954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D32DD4B2-0A1A-5D8D-3B66-5B08D9A34093}"/>
              </a:ext>
            </a:extLst>
          </p:cNvPr>
          <p:cNvSpPr txBox="1"/>
          <p:nvPr/>
        </p:nvSpPr>
        <p:spPr>
          <a:xfrm>
            <a:off x="5724128" y="5786579"/>
            <a:ext cx="2147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Do LSH on embeddings</a:t>
            </a:r>
            <a:endParaRPr lang="zh-TW" altLang="en-US" sz="1400" dirty="0"/>
          </a:p>
        </p:txBody>
      </p: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12A57195-7019-6D10-744F-195807A11365}"/>
              </a:ext>
            </a:extLst>
          </p:cNvPr>
          <p:cNvCxnSpPr>
            <a:cxnSpLocks/>
            <a:stCxn id="8" idx="0"/>
          </p:cNvCxnSpPr>
          <p:nvPr/>
        </p:nvCxnSpPr>
        <p:spPr bwMode="auto">
          <a:xfrm flipV="1">
            <a:off x="6797965" y="5495319"/>
            <a:ext cx="0" cy="29126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860713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0470-92CC-2A8B-2166-086D3DF6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6A93CB-6655-0436-E113-83F4A507C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2-D Data Visualization with LSH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0D13BF-D30D-791B-2CBF-017BC553F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63000" cy="4800600"/>
          </a:xfrm>
        </p:spPr>
        <p:txBody>
          <a:bodyPr/>
          <a:lstStyle/>
          <a:p>
            <a:r>
              <a:rPr lang="en-US" altLang="zh-TW" dirty="0"/>
              <a:t>Visualize clean and noisy data in experiment 1 using LSH &amp; t-SNE</a:t>
            </a:r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en-US" altLang="zh-TW" b="1" dirty="0"/>
          </a:p>
          <a:p>
            <a:pPr lvl="1"/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3CC83C-C323-9B2D-0CFF-A0B3A32B4A4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318" y="2643686"/>
            <a:ext cx="2353334" cy="195027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1425E903-0A02-E98F-C343-ADD66D11AA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318" y="4593962"/>
            <a:ext cx="2367266" cy="1950276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A44B60C0-CC70-EE47-0ABF-7978E44239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7984" y="2646194"/>
            <a:ext cx="2353334" cy="1950277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800DF504-71F3-0C04-D4FE-1EC1DA23540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7984" y="4593960"/>
            <a:ext cx="2353334" cy="1950277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987CCD95-CB62-9FF5-0DA1-767EE841015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650" y="4593960"/>
            <a:ext cx="2353333" cy="1950276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819CF744-C38C-0D24-A419-19DA852F215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651" y="2651438"/>
            <a:ext cx="2353334" cy="1950277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A9209CFC-BEF2-AEF0-4B92-F75887F1A7E5}"/>
              </a:ext>
            </a:extLst>
          </p:cNvPr>
          <p:cNvSpPr txBox="1"/>
          <p:nvPr/>
        </p:nvSpPr>
        <p:spPr>
          <a:xfrm>
            <a:off x="2320878" y="2329761"/>
            <a:ext cx="98985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Baseline</a:t>
            </a:r>
            <a:endParaRPr lang="zh-TW" altLang="en-US" sz="16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2B55816-5468-5339-1E04-ECACB2CF5FED}"/>
              </a:ext>
            </a:extLst>
          </p:cNvPr>
          <p:cNvSpPr txBox="1"/>
          <p:nvPr/>
        </p:nvSpPr>
        <p:spPr>
          <a:xfrm>
            <a:off x="3990864" y="2329761"/>
            <a:ext cx="22093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Noise-Aware Training</a:t>
            </a:r>
            <a:endParaRPr lang="zh-TW" altLang="en-US" sz="16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8AF19A4-F2CE-CB6A-F5C4-E4C22F291ED6}"/>
              </a:ext>
            </a:extLst>
          </p:cNvPr>
          <p:cNvSpPr txBox="1"/>
          <p:nvPr/>
        </p:nvSpPr>
        <p:spPr>
          <a:xfrm>
            <a:off x="6416205" y="2325998"/>
            <a:ext cx="22093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Bayesian NN</a:t>
            </a:r>
            <a:endParaRPr lang="zh-TW" altLang="en-US" sz="1600" dirty="0"/>
          </a:p>
        </p:txBody>
      </p: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CE7C021B-71C8-42FB-E4B1-D1C3BA4E96FF}"/>
              </a:ext>
            </a:extLst>
          </p:cNvPr>
          <p:cNvCxnSpPr>
            <a:cxnSpLocks/>
          </p:cNvCxnSpPr>
          <p:nvPr/>
        </p:nvCxnSpPr>
        <p:spPr bwMode="auto">
          <a:xfrm>
            <a:off x="3990864" y="2283646"/>
            <a:ext cx="0" cy="4260590"/>
          </a:xfrm>
          <a:prstGeom prst="line">
            <a:avLst/>
          </a:prstGeom>
          <a:ln w="19050"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E4FA3731-4BF3-9E49-A097-EF10E5C449FB}"/>
              </a:ext>
            </a:extLst>
          </p:cNvPr>
          <p:cNvCxnSpPr>
            <a:cxnSpLocks/>
          </p:cNvCxnSpPr>
          <p:nvPr/>
        </p:nvCxnSpPr>
        <p:spPr bwMode="auto">
          <a:xfrm>
            <a:off x="6353326" y="2283646"/>
            <a:ext cx="0" cy="4260590"/>
          </a:xfrm>
          <a:prstGeom prst="line">
            <a:avLst/>
          </a:prstGeom>
          <a:ln w="19050"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8300B0DA-2B68-2D5C-4232-84F36A91B837}"/>
              </a:ext>
            </a:extLst>
          </p:cNvPr>
          <p:cNvSpPr txBox="1"/>
          <p:nvPr/>
        </p:nvSpPr>
        <p:spPr>
          <a:xfrm>
            <a:off x="413174" y="5222427"/>
            <a:ext cx="105754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Large Noise</a:t>
            </a:r>
            <a:endParaRPr lang="zh-TW" altLang="en-US" sz="1600" dirty="0"/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BC10484A-A69F-C3C1-8594-D95C7F0DA2DC}"/>
              </a:ext>
            </a:extLst>
          </p:cNvPr>
          <p:cNvSpPr txBox="1"/>
          <p:nvPr/>
        </p:nvSpPr>
        <p:spPr>
          <a:xfrm>
            <a:off x="374878" y="3334188"/>
            <a:ext cx="105754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Zero Noise</a:t>
            </a:r>
            <a:endParaRPr lang="zh-TW" altLang="en-US" sz="1600" dirty="0"/>
          </a:p>
        </p:txBody>
      </p:sp>
      <p:cxnSp>
        <p:nvCxnSpPr>
          <p:cNvPr id="66" name="直線接點 65">
            <a:extLst>
              <a:ext uri="{FF2B5EF4-FFF2-40B4-BE49-F238E27FC236}">
                <a16:creationId xmlns:a16="http://schemas.microsoft.com/office/drawing/2014/main" id="{86DBF32A-2334-B90F-6CBA-BB0D0D0F5A2F}"/>
              </a:ext>
            </a:extLst>
          </p:cNvPr>
          <p:cNvCxnSpPr>
            <a:cxnSpLocks/>
          </p:cNvCxnSpPr>
          <p:nvPr/>
        </p:nvCxnSpPr>
        <p:spPr bwMode="auto">
          <a:xfrm>
            <a:off x="0" y="4587186"/>
            <a:ext cx="9144000" cy="0"/>
          </a:xfrm>
          <a:prstGeom prst="line">
            <a:avLst/>
          </a:prstGeom>
          <a:ln w="19050"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線單箭頭接點 74">
            <a:extLst>
              <a:ext uri="{FF2B5EF4-FFF2-40B4-BE49-F238E27FC236}">
                <a16:creationId xmlns:a16="http://schemas.microsoft.com/office/drawing/2014/main" id="{0EC1CAE0-1C61-8F5B-F5B6-EB32C8024C68}"/>
              </a:ext>
            </a:extLst>
          </p:cNvPr>
          <p:cNvCxnSpPr/>
          <p:nvPr/>
        </p:nvCxnSpPr>
        <p:spPr bwMode="auto">
          <a:xfrm flipV="1">
            <a:off x="1168224" y="5902413"/>
            <a:ext cx="504056" cy="239688"/>
          </a:xfrm>
          <a:prstGeom prst="straightConnector1">
            <a:avLst/>
          </a:prstGeom>
          <a:noFill/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5A917CA6-81DC-B1F6-2767-18CC1BB9C55F}"/>
              </a:ext>
            </a:extLst>
          </p:cNvPr>
          <p:cNvSpPr txBox="1"/>
          <p:nvPr/>
        </p:nvSpPr>
        <p:spPr>
          <a:xfrm>
            <a:off x="71212" y="6116189"/>
            <a:ext cx="16875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/>
              <a:t>Low accuracy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567495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3B1BE0-991C-0266-448F-7C8A0E2CE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 3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AE9BD3C-2078-1D86-8A78-FFCD7F5F4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Approximation of cosine similarity</a:t>
            </a:r>
          </a:p>
          <a:p>
            <a:pPr lvl="1"/>
            <a:r>
              <a:rPr lang="en-US" altLang="zh-TW" dirty="0"/>
              <a:t>Locality sensitive hashing is an alternative method if we can only get a model trained with cosine similarity which IMS does not support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sz="1100" dirty="0"/>
          </a:p>
          <a:p>
            <a:pPr marL="341312" lvl="1" indent="0">
              <a:buNone/>
            </a:pPr>
            <a:endParaRPr lang="en-US" altLang="zh-TW" dirty="0"/>
          </a:p>
          <a:p>
            <a:r>
              <a:rPr lang="en-US" altLang="zh-TW" dirty="0"/>
              <a:t>2-D data visualization</a:t>
            </a:r>
          </a:p>
          <a:p>
            <a:pPr lvl="1"/>
            <a:r>
              <a:rPr lang="en-US" altLang="zh-TW" dirty="0"/>
              <a:t>LSH converts angular metric to spatial metric which is better for t-SNE</a:t>
            </a:r>
          </a:p>
          <a:p>
            <a:pPr lvl="1"/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C1EACDC-F915-0995-6F4F-A3075E33CF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60" y="2636644"/>
            <a:ext cx="2520280" cy="1800200"/>
          </a:xfrm>
          <a:prstGeom prst="rect">
            <a:avLst/>
          </a:prstGeom>
        </p:spPr>
      </p:pic>
      <p:grpSp>
        <p:nvGrpSpPr>
          <p:cNvPr id="14" name="群組 13">
            <a:extLst>
              <a:ext uri="{FF2B5EF4-FFF2-40B4-BE49-F238E27FC236}">
                <a16:creationId xmlns:a16="http://schemas.microsoft.com/office/drawing/2014/main" id="{6B607951-E54B-355D-044B-37E83A7F321B}"/>
              </a:ext>
            </a:extLst>
          </p:cNvPr>
          <p:cNvGrpSpPr/>
          <p:nvPr/>
        </p:nvGrpSpPr>
        <p:grpSpPr>
          <a:xfrm>
            <a:off x="2998669" y="5014414"/>
            <a:ext cx="3146662" cy="1462586"/>
            <a:chOff x="2874579" y="5083388"/>
            <a:chExt cx="3146662" cy="1462586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DEA12F62-4395-3E17-1AF4-286E3464EC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0120" t="68257" r="45237" b="6831"/>
            <a:stretch/>
          </p:blipFill>
          <p:spPr>
            <a:xfrm>
              <a:off x="5157145" y="5451998"/>
              <a:ext cx="864096" cy="741268"/>
            </a:xfrm>
            <a:prstGeom prst="rect">
              <a:avLst/>
            </a:prstGeom>
          </p:spPr>
        </p:pic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D1883CE4-6A4C-7EF1-8BA9-302F436FD6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74579" y="5083388"/>
              <a:ext cx="999034" cy="1462586"/>
            </a:xfrm>
            <a:prstGeom prst="rect">
              <a:avLst/>
            </a:prstGeom>
          </p:spPr>
        </p:pic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A67979AE-5BC3-3BD8-BB3C-DFE79E2EC3C1}"/>
                </a:ext>
              </a:extLst>
            </p:cNvPr>
            <p:cNvCxnSpPr>
              <a:cxnSpLocks/>
              <a:stCxn id="8" idx="3"/>
              <a:endCxn id="6" idx="1"/>
            </p:cNvCxnSpPr>
            <p:nvPr/>
          </p:nvCxnSpPr>
          <p:spPr bwMode="auto">
            <a:xfrm>
              <a:off x="3873613" y="5814681"/>
              <a:ext cx="1283532" cy="7951"/>
            </a:xfrm>
            <a:prstGeom prst="straightConnector1">
              <a:avLst/>
            </a:pr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011284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A3DF21-3579-F425-187E-2004CCB88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</a:t>
            </a:r>
            <a:r>
              <a:rPr lang="zh-TW" altLang="en-US" dirty="0"/>
              <a:t> </a:t>
            </a:r>
            <a:r>
              <a:rPr lang="en-US" altLang="zh-TW" dirty="0"/>
              <a:t>General Way to Resolve Metric Issue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E697A3-462D-3262-DC7C-A6511A1EEB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Can we train a general model that has acceptable accuracy on each distance metric? </a:t>
            </a:r>
          </a:p>
          <a:p>
            <a:pPr lvl="1"/>
            <a:r>
              <a:rPr lang="en-US" altLang="zh-TW" dirty="0"/>
              <a:t>View different metric as a noisy version of cosine similarity</a:t>
            </a:r>
          </a:p>
          <a:p>
            <a:pPr lvl="1"/>
            <a:r>
              <a:rPr lang="en-US" altLang="zh-TW" dirty="0"/>
              <a:t>Train a noise-resilient model using cosine similarity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5691CE3-83F7-34FF-953B-B94436EE7F68}"/>
              </a:ext>
            </a:extLst>
          </p:cNvPr>
          <p:cNvSpPr txBox="1"/>
          <p:nvPr/>
        </p:nvSpPr>
        <p:spPr>
          <a:xfrm>
            <a:off x="6948264" y="3738146"/>
            <a:ext cx="1493912" cy="33855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Bayesian NN </a:t>
            </a:r>
            <a:endParaRPr lang="zh-TW" altLang="en-US" sz="1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B66C078-BC94-6453-2599-BF019A4B3936}"/>
              </a:ext>
            </a:extLst>
          </p:cNvPr>
          <p:cNvSpPr txBox="1"/>
          <p:nvPr/>
        </p:nvSpPr>
        <p:spPr>
          <a:xfrm>
            <a:off x="3851920" y="3738146"/>
            <a:ext cx="2160240" cy="33855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Noise-aware model</a:t>
            </a:r>
            <a:endParaRPr lang="zh-TW" altLang="en-US" sz="1600" dirty="0"/>
          </a:p>
        </p:txBody>
      </p: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36335AAC-54D0-57F1-C2D2-4D360225F70E}"/>
              </a:ext>
            </a:extLst>
          </p:cNvPr>
          <p:cNvCxnSpPr>
            <a:cxnSpLocks/>
          </p:cNvCxnSpPr>
          <p:nvPr/>
        </p:nvCxnSpPr>
        <p:spPr bwMode="auto">
          <a:xfrm>
            <a:off x="4860032" y="4076700"/>
            <a:ext cx="360040" cy="424036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99CFD7B0-FAFB-06F6-0902-96D9629ADD53}"/>
              </a:ext>
            </a:extLst>
          </p:cNvPr>
          <p:cNvCxnSpPr>
            <a:cxnSpLocks/>
            <a:stCxn id="9" idx="2"/>
          </p:cNvCxnSpPr>
          <p:nvPr/>
        </p:nvCxnSpPr>
        <p:spPr bwMode="auto">
          <a:xfrm flipH="1">
            <a:off x="7268462" y="4076700"/>
            <a:ext cx="426758" cy="424036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6" name="圖片 5">
            <a:extLst>
              <a:ext uri="{FF2B5EF4-FFF2-40B4-BE49-F238E27FC236}">
                <a16:creationId xmlns:a16="http://schemas.microsoft.com/office/drawing/2014/main" id="{F03F2681-3213-DBE2-C891-667FF152B8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616" y="4577221"/>
            <a:ext cx="7344816" cy="188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274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C39E7B-5902-F51D-D5FE-57BA41BA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Noise Strength of Metrics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9941194-743C-2E6F-46B7-4DBA11DFAB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Observation of the magnitude of each distance metric if we regard them as the source of noise</a:t>
                </a:r>
              </a:p>
              <a:p>
                <a:pPr lvl="1"/>
                <a:r>
                  <a:rPr lang="en-US" altLang="zh-TW" dirty="0"/>
                  <a:t>Clean signal : cosine similarity</a:t>
                </a:r>
              </a:p>
              <a:p>
                <a:pPr lvl="1"/>
                <a:r>
                  <a:rPr lang="en-US" altLang="zh-TW" dirty="0"/>
                  <a:t>Relative noise : LSH &lt;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dirty="0"/>
                  <a:t> &lt;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dirty="0"/>
                  <a:t> &lt;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altLang="zh-TW" dirty="0"/>
                  <a:t> 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9941194-743C-2E6F-46B7-4DBA11DFAB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圖片 25">
            <a:extLst>
              <a:ext uri="{FF2B5EF4-FFF2-40B4-BE49-F238E27FC236}">
                <a16:creationId xmlns:a16="http://schemas.microsoft.com/office/drawing/2014/main" id="{653D4425-84FB-0A31-CEA4-9BCE0FAD84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96" y="3212977"/>
            <a:ext cx="5146258" cy="3416424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F1574361-D1EC-C22C-B1DE-1A2E5A6478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8034" y="4798980"/>
            <a:ext cx="3429201" cy="2048974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5641F4C9-464B-DDDE-C7FC-EB8E8624872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0906" y="2750006"/>
            <a:ext cx="3430356" cy="2048974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60EB9715-70EC-CEE1-BF3C-B6D4714D9E0A}"/>
              </a:ext>
            </a:extLst>
          </p:cNvPr>
          <p:cNvSpPr txBox="1"/>
          <p:nvPr/>
        </p:nvSpPr>
        <p:spPr>
          <a:xfrm>
            <a:off x="755576" y="5012323"/>
            <a:ext cx="2963440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Spatial metric has larger noise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2940025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855C14-29E9-DCCE-5362-0C7C384C6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96" y="762000"/>
            <a:ext cx="9073008" cy="762000"/>
          </a:xfrm>
        </p:spPr>
        <p:txBody>
          <a:bodyPr/>
          <a:lstStyle/>
          <a:p>
            <a:r>
              <a:rPr lang="en-US" altLang="zh-TW" dirty="0"/>
              <a:t>Noise-Resilient Model Resolves Metric Issue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E6A1FB8-D9EA-62B5-3EA4-D6B0F5232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Noise-Resilient Model achieves higher accuracy when distance metric is not cosine distance</a:t>
            </a:r>
          </a:p>
          <a:p>
            <a:pPr lvl="1"/>
            <a:r>
              <a:rPr lang="en-US" altLang="zh-TW" dirty="0"/>
              <a:t>Original CNN model has highest accuracy on cosine similarity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68E0855-3C25-58F9-F390-EA45B76AC6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10"/>
          <a:stretch/>
        </p:blipFill>
        <p:spPr>
          <a:xfrm>
            <a:off x="467544" y="2995617"/>
            <a:ext cx="4824536" cy="3862383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2AEA6B1D-6490-958E-30F9-0BC232B3AFB0}"/>
              </a:ext>
            </a:extLst>
          </p:cNvPr>
          <p:cNvSpPr txBox="1"/>
          <p:nvPr/>
        </p:nvSpPr>
        <p:spPr>
          <a:xfrm>
            <a:off x="5724128" y="5301208"/>
            <a:ext cx="3312368" cy="584775"/>
          </a:xfrm>
          <a:prstGeom prst="rect">
            <a:avLst/>
          </a:prstGeom>
          <a:noFill/>
          <a:ln w="28575">
            <a:solidFill>
              <a:srgbClr val="2CA02C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Bayesian model has similar results, but has lower accuracy in general</a:t>
            </a: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1C1DFEAB-2A1E-53B2-4DFA-80A4D7BF364E}"/>
              </a:ext>
            </a:extLst>
          </p:cNvPr>
          <p:cNvCxnSpPr>
            <a:cxnSpLocks/>
            <a:stCxn id="13" idx="1"/>
          </p:cNvCxnSpPr>
          <p:nvPr/>
        </p:nvCxnSpPr>
        <p:spPr bwMode="auto">
          <a:xfrm flipH="1">
            <a:off x="5277544" y="5593596"/>
            <a:ext cx="446584" cy="67652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FC705084-CF1D-658E-25BD-0998D77F8653}"/>
              </a:ext>
            </a:extLst>
          </p:cNvPr>
          <p:cNvSpPr txBox="1"/>
          <p:nvPr/>
        </p:nvSpPr>
        <p:spPr>
          <a:xfrm>
            <a:off x="5724128" y="3900681"/>
            <a:ext cx="3312368" cy="584775"/>
          </a:xfrm>
          <a:prstGeom prst="rect">
            <a:avLst/>
          </a:prstGeom>
          <a:noFill/>
          <a:ln w="28575">
            <a:solidFill>
              <a:srgbClr val="FF983E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noise-aware model has highest accuracy on other metric</a:t>
            </a:r>
            <a:endParaRPr lang="zh-TW" altLang="en-US" sz="1600" dirty="0"/>
          </a:p>
        </p:txBody>
      </p: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EBCBD4C4-CFE9-9B10-7083-E8496526396E}"/>
              </a:ext>
            </a:extLst>
          </p:cNvPr>
          <p:cNvCxnSpPr>
            <a:cxnSpLocks/>
            <a:stCxn id="19" idx="1"/>
          </p:cNvCxnSpPr>
          <p:nvPr/>
        </p:nvCxnSpPr>
        <p:spPr bwMode="auto">
          <a:xfrm flipH="1" flipV="1">
            <a:off x="5148064" y="4125417"/>
            <a:ext cx="576064" cy="67652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0963150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40E383-458B-C2EE-61FE-E8A6FAD6C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 4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46EB162-5DEF-2B81-E7CC-03DCA41ACF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View different metrics as inaccurate versions of cosine similarity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dirty="0"/>
                  <a:t>  norm : Non-normalized cosine distance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dirty="0"/>
                  <a:t>  norm : Upper bound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prstClr val="black"/>
                    </a:solidFill>
                  </a:rPr>
                  <a:t> norm 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b="0" i="0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altLang="zh-TW" dirty="0"/>
                  <a:t> norm : Lower bound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altLang="zh-TW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prstClr val="black"/>
                    </a:solidFill>
                  </a:rPr>
                  <a:t> norm </a:t>
                </a:r>
                <a:endParaRPr lang="en-US" altLang="zh-TW" dirty="0"/>
              </a:p>
              <a:p>
                <a:pPr lvl="1"/>
                <a:endParaRPr lang="en-US" altLang="zh-TW" sz="1600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Train a model that performs well on general distance metrics</a:t>
                </a:r>
              </a:p>
              <a:p>
                <a:pPr lvl="1"/>
                <a:r>
                  <a:rPr lang="en-US" altLang="zh-TW" dirty="0"/>
                  <a:t>Noise-aware model can achieve better performance in general cases</a:t>
                </a:r>
              </a:p>
              <a:p>
                <a:pPr lvl="1"/>
                <a:r>
                  <a:rPr lang="en-US" altLang="zh-TW" dirty="0"/>
                  <a:t>Bayesian model has similar behavior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46EB162-5DEF-2B81-E7CC-03DCA41ACF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 t="-6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E1C04BC-A529-911E-FC01-012A56A5A0AB}"/>
                  </a:ext>
                </a:extLst>
              </p:cNvPr>
              <p:cNvSpPr txBox="1"/>
              <p:nvPr/>
            </p:nvSpPr>
            <p:spPr>
              <a:xfrm>
                <a:off x="3104964" y="3244334"/>
                <a:ext cx="2934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‖"/>
                          <m:endChr m:val="‖"/>
                          <m:ctrlPr>
                            <a:rPr lang="en-US" altLang="zh-TW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zh-TW" i="1" dirty="0" smtClean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b>
                          </m:sSub>
                        </m:e>
                      </m:d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&lt;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zh-TW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zh-TW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&lt;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zh-TW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5E1C04BC-A529-911E-FC01-012A56A5A0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4964" y="3244334"/>
                <a:ext cx="293407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74336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F7202D-E2EA-A6C2-4189-1C9559555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 of All Experiments</a:t>
            </a:r>
            <a:endParaRPr lang="zh-TW" altLang="en-US" dirty="0"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D1F47D83-2CB0-FC3D-C146-F4D89D734872}"/>
              </a:ext>
            </a:extLst>
          </p:cNvPr>
          <p:cNvSpPr/>
          <p:nvPr/>
        </p:nvSpPr>
        <p:spPr bwMode="auto">
          <a:xfrm>
            <a:off x="424979" y="2044092"/>
            <a:ext cx="3456384" cy="664827"/>
          </a:xfrm>
          <a:prstGeom prst="roundRect">
            <a:avLst>
              <a:gd name="adj" fmla="val 20817"/>
            </a:avLst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R="0" lvl="0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3333CC"/>
              </a:buClr>
              <a:buSzTx/>
              <a:tabLst/>
              <a:defRPr/>
            </a:pPr>
            <a:r>
              <a:rPr kumimoji="1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標楷體" pitchFamily="65" charset="-120"/>
              </a:rPr>
              <a:t>Let the model get used to noise in training phase</a:t>
            </a:r>
            <a:endParaRPr kumimoji="1" lang="zh-TW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59CCB7F-0FD5-9B48-C587-22C5156DD256}"/>
              </a:ext>
            </a:extLst>
          </p:cNvPr>
          <p:cNvSpPr/>
          <p:nvPr/>
        </p:nvSpPr>
        <p:spPr bwMode="auto">
          <a:xfrm>
            <a:off x="5220074" y="2044093"/>
            <a:ext cx="3456384" cy="664826"/>
          </a:xfrm>
          <a:prstGeom prst="roundRect">
            <a:avLst>
              <a:gd name="adj" fmla="val 20817"/>
            </a:avLst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0" fontAlgn="base">
              <a:spcBef>
                <a:spcPct val="20000"/>
              </a:spcBef>
              <a:spcAft>
                <a:spcPct val="0"/>
              </a:spcAft>
              <a:buClr>
                <a:srgbClr val="3333CC"/>
              </a:buClr>
              <a:defRPr/>
            </a:pPr>
            <a:r>
              <a:rPr kumimoji="1" lang="en-US" altLang="zh-TW" sz="1600" kern="0" dirty="0">
                <a:solidFill>
                  <a:prstClr val="black"/>
                </a:solidFill>
                <a:latin typeface="Arial"/>
                <a:ea typeface="標楷體" pitchFamily="65" charset="-120"/>
              </a:rPr>
              <a:t>Train a model that uses same metric as IMS device</a:t>
            </a:r>
            <a:endParaRPr kumimoji="1" lang="en-US" altLang="zh-TW" sz="1400" kern="0" dirty="0">
              <a:solidFill>
                <a:prstClr val="black"/>
              </a:solidFill>
              <a:latin typeface="Arial"/>
              <a:ea typeface="標楷體" pitchFamily="65" charset="-12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FA6ED059-0A2E-6576-C37D-342C549F4D07}"/>
              </a:ext>
            </a:extLst>
          </p:cNvPr>
          <p:cNvCxnSpPr>
            <a:cxnSpLocks/>
            <a:stCxn id="4" idx="2"/>
          </p:cNvCxnSpPr>
          <p:nvPr/>
        </p:nvCxnSpPr>
        <p:spPr bwMode="auto">
          <a:xfrm>
            <a:off x="2153171" y="2708919"/>
            <a:ext cx="648071" cy="707746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92F438C7-02AB-7F58-D433-6487844208D9}"/>
              </a:ext>
            </a:extLst>
          </p:cNvPr>
          <p:cNvCxnSpPr>
            <a:cxnSpLocks/>
            <a:stCxn id="5" idx="2"/>
          </p:cNvCxnSpPr>
          <p:nvPr/>
        </p:nvCxnSpPr>
        <p:spPr bwMode="auto">
          <a:xfrm flipH="1">
            <a:off x="6342760" y="2708919"/>
            <a:ext cx="605506" cy="681895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66195486-07AB-2CBD-04D5-AF1FDCC450B7}"/>
              </a:ext>
            </a:extLst>
          </p:cNvPr>
          <p:cNvSpPr/>
          <p:nvPr/>
        </p:nvSpPr>
        <p:spPr bwMode="auto">
          <a:xfrm>
            <a:off x="2710690" y="5085184"/>
            <a:ext cx="3715516" cy="1224136"/>
          </a:xfrm>
          <a:prstGeom prst="roundRect">
            <a:avLst>
              <a:gd name="adj" fmla="val 20817"/>
            </a:avLst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0" fontAlgn="base">
              <a:spcBef>
                <a:spcPct val="20000"/>
              </a:spcBef>
              <a:spcAft>
                <a:spcPct val="0"/>
              </a:spcAft>
              <a:buClr>
                <a:srgbClr val="3333CC"/>
              </a:buClr>
              <a:defRPr/>
            </a:pPr>
            <a:r>
              <a:rPr kumimoji="1" lang="en-US" altLang="zh-TW" sz="1600" kern="0" dirty="0">
                <a:solidFill>
                  <a:prstClr val="black"/>
                </a:solidFill>
                <a:ea typeface="標楷體" pitchFamily="65" charset="-120"/>
              </a:rPr>
              <a:t>We can regard different metric as a noisy version of cosine similarity, thus use the method in part 1 to resolve this problem</a:t>
            </a:r>
          </a:p>
        </p:txBody>
      </p:sp>
      <p:cxnSp>
        <p:nvCxnSpPr>
          <p:cNvPr id="10" name="接點: 弧形 9">
            <a:extLst>
              <a:ext uri="{FF2B5EF4-FFF2-40B4-BE49-F238E27FC236}">
                <a16:creationId xmlns:a16="http://schemas.microsoft.com/office/drawing/2014/main" id="{EC624153-B430-132B-960C-8751392C5846}"/>
              </a:ext>
            </a:extLst>
          </p:cNvPr>
          <p:cNvCxnSpPr>
            <a:cxnSpLocks/>
            <a:stCxn id="4" idx="2"/>
            <a:endCxn id="9" idx="1"/>
          </p:cNvCxnSpPr>
          <p:nvPr/>
        </p:nvCxnSpPr>
        <p:spPr bwMode="auto">
          <a:xfrm rot="16200000" flipH="1">
            <a:off x="937764" y="3924325"/>
            <a:ext cx="2988333" cy="557519"/>
          </a:xfrm>
          <a:prstGeom prst="curvedConnector2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接點: 弧形 10">
            <a:extLst>
              <a:ext uri="{FF2B5EF4-FFF2-40B4-BE49-F238E27FC236}">
                <a16:creationId xmlns:a16="http://schemas.microsoft.com/office/drawing/2014/main" id="{F973BFB3-3D09-DAB8-72E5-0CD00E2A7168}"/>
              </a:ext>
            </a:extLst>
          </p:cNvPr>
          <p:cNvCxnSpPr>
            <a:cxnSpLocks/>
            <a:stCxn id="5" idx="2"/>
            <a:endCxn id="9" idx="3"/>
          </p:cNvCxnSpPr>
          <p:nvPr/>
        </p:nvCxnSpPr>
        <p:spPr bwMode="auto">
          <a:xfrm rot="5400000">
            <a:off x="5193070" y="3942055"/>
            <a:ext cx="2988333" cy="522060"/>
          </a:xfrm>
          <a:prstGeom prst="curvedConnector2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2353687-1C4F-D7CD-CEEF-A31B71D02B6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 bwMode="auto">
          <a:xfrm flipH="1">
            <a:off x="4568448" y="4332917"/>
            <a:ext cx="5453" cy="752267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3423AA8-C826-0BF0-30C5-B94D0C116223}"/>
              </a:ext>
            </a:extLst>
          </p:cNvPr>
          <p:cNvSpPr txBox="1"/>
          <p:nvPr/>
        </p:nvSpPr>
        <p:spPr>
          <a:xfrm>
            <a:off x="3200356" y="2442958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1</a:t>
            </a:r>
            <a:endParaRPr lang="zh-TW" altLang="en-US" sz="14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AC4D3CA-B410-008C-84C3-44FCCE3498F9}"/>
              </a:ext>
            </a:extLst>
          </p:cNvPr>
          <p:cNvSpPr txBox="1"/>
          <p:nvPr/>
        </p:nvSpPr>
        <p:spPr>
          <a:xfrm>
            <a:off x="8028349" y="2442958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2</a:t>
            </a:r>
            <a:endParaRPr lang="zh-TW" altLang="en-US" sz="1400" dirty="0"/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79281C19-0170-CCDA-3C57-75F2B8397BE9}"/>
              </a:ext>
            </a:extLst>
          </p:cNvPr>
          <p:cNvGrpSpPr/>
          <p:nvPr/>
        </p:nvGrpSpPr>
        <p:grpSpPr>
          <a:xfrm>
            <a:off x="2719695" y="3349474"/>
            <a:ext cx="3758864" cy="1016627"/>
            <a:chOff x="2717794" y="3669692"/>
            <a:chExt cx="3758864" cy="1016627"/>
          </a:xfrm>
        </p:grpSpPr>
        <p:sp>
          <p:nvSpPr>
            <p:cNvPr id="6" name="矩形: 圓角 5">
              <a:extLst>
                <a:ext uri="{FF2B5EF4-FFF2-40B4-BE49-F238E27FC236}">
                  <a16:creationId xmlns:a16="http://schemas.microsoft.com/office/drawing/2014/main" id="{22DD263B-B916-780D-B511-D69FD0B4FCB7}"/>
                </a:ext>
              </a:extLst>
            </p:cNvPr>
            <p:cNvSpPr/>
            <p:nvPr/>
          </p:nvSpPr>
          <p:spPr bwMode="auto">
            <a:xfrm>
              <a:off x="2717794" y="3669692"/>
              <a:ext cx="3708412" cy="983443"/>
            </a:xfrm>
            <a:prstGeom prst="roundRect">
              <a:avLst>
                <a:gd name="adj" fmla="val 20817"/>
              </a:avLst>
            </a:prstGeom>
            <a:noFill/>
            <a:ln w="19050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lvl="0" fontAlgn="base">
                <a:spcBef>
                  <a:spcPct val="20000"/>
                </a:spcBef>
                <a:spcAft>
                  <a:spcPct val="0"/>
                </a:spcAft>
                <a:buClr>
                  <a:srgbClr val="3333CC"/>
                </a:buClr>
                <a:defRPr/>
              </a:pPr>
              <a:r>
                <a:rPr kumimoji="1" lang="en-US" altLang="zh-TW" sz="1600" kern="0" dirty="0">
                  <a:solidFill>
                    <a:prstClr val="black"/>
                  </a:solidFill>
                  <a:latin typeface="Arial"/>
                  <a:ea typeface="標楷體" pitchFamily="65" charset="-120"/>
                </a:rPr>
                <a:t>LSH</a:t>
              </a:r>
              <a:r>
                <a:rPr kumimoji="1" lang="zh-TW" altLang="en-US" sz="1600" kern="0" dirty="0">
                  <a:solidFill>
                    <a:prstClr val="black"/>
                  </a:solidFill>
                  <a:latin typeface="Arial"/>
                  <a:ea typeface="標楷體" pitchFamily="65" charset="-120"/>
                </a:rPr>
                <a:t> </a:t>
              </a:r>
              <a:r>
                <a:rPr kumimoji="1" lang="en-US" altLang="zh-TW" sz="1600" kern="0" dirty="0">
                  <a:solidFill>
                    <a:prstClr val="black"/>
                  </a:solidFill>
                  <a:latin typeface="Arial"/>
                  <a:ea typeface="標楷體" pitchFamily="65" charset="-120"/>
                </a:rPr>
                <a:t>can simulate the performance of cosine similarity with Hamming distance as metric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31DEAE89-0842-EAF5-48AC-F7E0588EC074}"/>
                </a:ext>
              </a:extLst>
            </p:cNvPr>
            <p:cNvSpPr txBox="1"/>
            <p:nvPr/>
          </p:nvSpPr>
          <p:spPr>
            <a:xfrm>
              <a:off x="5756578" y="4378542"/>
              <a:ext cx="720080" cy="307777"/>
            </a:xfrm>
            <a:prstGeom prst="rect">
              <a:avLst/>
            </a:prstGeom>
            <a:ln>
              <a:solidFill>
                <a:srgbClr val="0000FF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altLang="zh-TW" sz="1400" dirty="0"/>
                <a:t>Part 3</a:t>
              </a:r>
              <a:endParaRPr lang="zh-TW" altLang="en-US" sz="1400" dirty="0"/>
            </a:p>
          </p:txBody>
        </p:sp>
      </p:grp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6633C01-AD5E-22D2-D00F-23D94CF8FC16}"/>
              </a:ext>
            </a:extLst>
          </p:cNvPr>
          <p:cNvSpPr txBox="1"/>
          <p:nvPr/>
        </p:nvSpPr>
        <p:spPr>
          <a:xfrm>
            <a:off x="5757929" y="6048830"/>
            <a:ext cx="720080" cy="307777"/>
          </a:xfrm>
          <a:prstGeom prst="rect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400" dirty="0"/>
              <a:t>Part 4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49375108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167017</TotalTime>
  <Words>1354</Words>
  <Application>Microsoft Office PowerPoint</Application>
  <PresentationFormat>如螢幕大小 (4:3)</PresentationFormat>
  <Paragraphs>298</Paragraphs>
  <Slides>23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23</vt:i4>
      </vt:variant>
    </vt:vector>
  </HeadingPairs>
  <TitlesOfParts>
    <vt:vector size="39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Handling Noise and Metric Issue in Few-Shot Learning Tasks with In-Memory Search</vt:lpstr>
      <vt:lpstr>Outline</vt:lpstr>
      <vt:lpstr>Analog Non-Ideal Effects of TCAM</vt:lpstr>
      <vt:lpstr>Method 1 : Noise-Aware Training</vt:lpstr>
      <vt:lpstr>Method 2 : Bayesian Neural Network</vt:lpstr>
      <vt:lpstr>Robustness Against Noise</vt:lpstr>
      <vt:lpstr>Origin of Noise Resilience in NN</vt:lpstr>
      <vt:lpstr>Conclusion 1</vt:lpstr>
      <vt:lpstr>Impact of Metric Selection on Accuracy</vt:lpstr>
      <vt:lpstr>Experiment Setup</vt:lpstr>
      <vt:lpstr>Evaluate Accuracy with Different Metrics</vt:lpstr>
      <vt:lpstr>Observation Across Distance Metrics</vt:lpstr>
      <vt:lpstr>Conclusion 2</vt:lpstr>
      <vt:lpstr>Approximation of Cosine Similarity</vt:lpstr>
      <vt:lpstr>Effect of Locality-Sensitive Hashing</vt:lpstr>
      <vt:lpstr>What Else Can LSH Do</vt:lpstr>
      <vt:lpstr>2-D Data Visualization with LSH</vt:lpstr>
      <vt:lpstr>Conclusion 3</vt:lpstr>
      <vt:lpstr>A General Way to Resolve Metric Issue</vt:lpstr>
      <vt:lpstr>Noise Strength of Metrics</vt:lpstr>
      <vt:lpstr>Noise-Resilient Model Resolves Metric Issue</vt:lpstr>
      <vt:lpstr>Conclusion 4</vt:lpstr>
      <vt:lpstr>Conclusion of All Experiments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1864</cp:revision>
  <cp:lastPrinted>2025-06-16T02:08:01Z</cp:lastPrinted>
  <dcterms:created xsi:type="dcterms:W3CDTF">2014-07-23T04:37:50Z</dcterms:created>
  <dcterms:modified xsi:type="dcterms:W3CDTF">2025-06-16T02:08:10Z</dcterms:modified>
</cp:coreProperties>
</file>