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72" r:id="rId3"/>
    <p:sldMasterId id="2147483684" r:id="rId4"/>
    <p:sldMasterId id="2147483696" r:id="rId5"/>
    <p:sldMasterId id="2147483701" r:id="rId6"/>
    <p:sldMasterId id="2147483718" r:id="rId7"/>
  </p:sldMasterIdLst>
  <p:notesMasterIdLst>
    <p:notesMasterId r:id="rId24"/>
  </p:notesMasterIdLst>
  <p:handoutMasterIdLst>
    <p:handoutMasterId r:id="rId25"/>
  </p:handoutMasterIdLst>
  <p:sldIdLst>
    <p:sldId id="256" r:id="rId8"/>
    <p:sldId id="257" r:id="rId9"/>
    <p:sldId id="275" r:id="rId10"/>
    <p:sldId id="276" r:id="rId11"/>
    <p:sldId id="277" r:id="rId12"/>
    <p:sldId id="278" r:id="rId13"/>
    <p:sldId id="279" r:id="rId14"/>
    <p:sldId id="280" r:id="rId15"/>
    <p:sldId id="285" r:id="rId16"/>
    <p:sldId id="282" r:id="rId17"/>
    <p:sldId id="289" r:id="rId18"/>
    <p:sldId id="283" r:id="rId19"/>
    <p:sldId id="284" r:id="rId20"/>
    <p:sldId id="286" r:id="rId21"/>
    <p:sldId id="287" r:id="rId22"/>
    <p:sldId id="288" r:id="rId23"/>
  </p:sldIdLst>
  <p:sldSz cx="9144000" cy="6858000" type="screen4x3"/>
  <p:notesSz cx="9874250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019901"/>
    <a:srgbClr val="FF0000"/>
    <a:srgbClr val="E7D4E6"/>
    <a:srgbClr val="8EB4E3"/>
    <a:srgbClr val="E6E6E6"/>
    <a:srgbClr val="F5F5F5"/>
    <a:srgbClr val="ECECEC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6" autoAdjust="0"/>
    <p:restoredTop sz="94128" autoAdjust="0"/>
  </p:normalViewPr>
  <p:slideViewPr>
    <p:cSldViewPr>
      <p:cViewPr varScale="1">
        <p:scale>
          <a:sx n="114" d="100"/>
          <a:sy n="114" d="100"/>
        </p:scale>
        <p:origin x="2122" y="91"/>
      </p:cViewPr>
      <p:guideLst>
        <p:guide pos="288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4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F37E1-976C-4D68-AAA1-E18BCAC423B3}" type="datetimeFigureOut">
              <a:rPr lang="zh-TW" altLang="en-US" smtClean="0"/>
              <a:t>2026/1/25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BF533-2A2D-4D77-8B65-2DF21E0EF6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88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65A04-DEC0-490E-BE54-AD23B90E8F9F}" type="datetimeFigureOut">
              <a:rPr lang="zh-TW" altLang="en-US" smtClean="0"/>
              <a:t>2026/1/25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87425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0520D-9A8A-4E05-BB16-8C1AC1960E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56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5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6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fld id="{879D0262-E162-403E-858F-A7EB6D269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60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12782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78179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6786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63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「台大校徽」的圖片搜尋結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022"/>
            <a:ext cx="1416496" cy="14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6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fld id="{879D0262-E162-403E-858F-A7EB6D269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1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234947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9425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0735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464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224116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26213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20536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46149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73011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768411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462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79409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479378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43808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37364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647302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511021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385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800010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284307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808170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2924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73224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085336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533710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883865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0" y="2362200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554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7712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1273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5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5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5" y="3700463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055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tulogo3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5562600" y="6172200"/>
            <a:ext cx="279082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ea typeface="新細明體"/>
                <a:cs typeface="Arial" charset="0"/>
              </a:rPr>
              <a:t>Graduate Institute of Electronics Engineering, NTU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55362-DAEE-40C4-8CB1-EA266F18E455}" type="slidenum">
              <a:rPr kumimoji="0" lang="zh-TW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4442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5754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1978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844675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2151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6365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8578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4387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8175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3106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0421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498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4213" y="914400"/>
            <a:ext cx="5678487" cy="534987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268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8603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842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842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66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7530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4213" y="1844675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4213" y="4130675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7456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84213" y="1844675"/>
            <a:ext cx="7772400" cy="4419600"/>
          </a:xfrm>
        </p:spPr>
        <p:txBody>
          <a:bodyPr/>
          <a:lstStyle/>
          <a:p>
            <a:r>
              <a:rPr lang="zh-TW" altLang="en-US"/>
              <a:t>按一下圖示以新增表格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3132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66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4172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「台大校徽」的圖片搜尋結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022"/>
            <a:ext cx="1416496" cy="14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9D0262-E162-403E-858F-A7EB6D2690C2}" type="slidenum">
              <a:rPr kumimoji="0" lang="zh-TW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6274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7720055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2749594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087844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1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ti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pic>
        <p:nvPicPr>
          <p:cNvPr id="1028" name="Picture 6" descr="Ntulogo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lang="en-US" altLang="zh-TW" sz="1400" b="1"/>
              <a:t>P</a:t>
            </a:r>
            <a:fld id="{E0FF8C92-A794-40BC-BAC1-2D3349E2F883}" type="slidenum">
              <a:rPr lang="en-US" altLang="zh-TW" sz="1400" b="1"/>
              <a:pPr eaLnBrk="0" hangingPunct="0"/>
              <a:t>‹#›</a:t>
            </a:fld>
            <a:endParaRPr lang="en-US" altLang="zh-TW" sz="140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台大校徽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23" y="79943"/>
            <a:ext cx="653523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 dirty="0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 dirty="0">
                <a:latin typeface="Arial Black" pitchFamily="34" charset="0"/>
              </a:rPr>
              <a:t>               </a:t>
            </a:r>
            <a:r>
              <a:rPr kumimoji="0" lang="en-US" altLang="zh-TW" sz="1200" i="1" dirty="0">
                <a:latin typeface="Arial Black" pitchFamily="34" charset="0"/>
              </a:rPr>
              <a:t>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lang="en-US" altLang="zh-TW" sz="1400" b="1"/>
              <a:t>P</a:t>
            </a:r>
            <a:fld id="{E0FF8C92-A794-40BC-BAC1-2D3349E2F883}" type="slidenum">
              <a:rPr lang="en-US" altLang="zh-TW" sz="1400" b="1"/>
              <a:pPr eaLnBrk="0" hangingPunct="0"/>
              <a:t>‹#›</a:t>
            </a:fld>
            <a:endParaRPr lang="en-US" altLang="zh-TW" sz="140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62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105479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362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0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981075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3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2000">
          <a:solidFill>
            <a:srgbClr val="000099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2400">
          <a:solidFill>
            <a:srgbClr val="003300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2000">
          <a:solidFill>
            <a:srgbClr val="990000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714356"/>
            <a:ext cx="8229600" cy="5929513"/>
            <a:chOff x="288" y="480"/>
            <a:chExt cx="5184" cy="3644"/>
          </a:xfrm>
        </p:grpSpPr>
        <p:sp>
          <p:nvSpPr>
            <p:cNvPr id="3075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3076" name="Rectangle 4"/>
            <p:cNvSpPr>
              <a:spLocks noChangeArrowheads="1"/>
            </p:cNvSpPr>
            <p:nvPr/>
          </p:nvSpPr>
          <p:spPr bwMode="auto">
            <a:xfrm>
              <a:off x="288" y="4076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</p:grp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457200" y="381000"/>
            <a:ext cx="7391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              </a:t>
            </a:r>
            <a:r>
              <a:rPr kumimoji="0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ea typeface="新細明體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3078" name="Picture 6" descr="Ntulogo3"/>
          <p:cNvPicPr>
            <a:picLocks noChangeAspect="1" noChangeArrowheads="1"/>
          </p:cNvPicPr>
          <p:nvPr/>
        </p:nvPicPr>
        <p:blipFill>
          <a:blip r:embed="rId18" cstate="screen"/>
          <a:srcRect/>
          <a:stretch>
            <a:fillRect/>
          </a:stretch>
        </p:blipFill>
        <p:spPr bwMode="auto">
          <a:xfrm>
            <a:off x="7924800" y="228600"/>
            <a:ext cx="779463" cy="760413"/>
          </a:xfrm>
          <a:prstGeom prst="rect">
            <a:avLst/>
          </a:prstGeom>
          <a:noFill/>
        </p:spPr>
      </p:pic>
      <p:sp>
        <p:nvSpPr>
          <p:cNvPr id="307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844675"/>
            <a:ext cx="7772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8582376" y="6480137"/>
            <a:ext cx="466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8ADC59-A20A-46E1-B02E-8653EE84F743}" type="slidenum">
              <a:rPr kumimoji="0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5288" y="6453188"/>
            <a:ext cx="28956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14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9"/>
        </a:buBlip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台大校徽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23" y="79943"/>
            <a:ext cx="653523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A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E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S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S 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I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L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A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B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              </a:t>
            </a:r>
            <a:r>
              <a:rPr kumimoji="0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P</a:t>
            </a:r>
            <a:fld id="{E0FF8C92-A794-40BC-BAC1-2D3349E2F883}" type="slidenum"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55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6220A-6C4C-46E7-C888-ECE599CD2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16" y="2133600"/>
            <a:ext cx="8928980" cy="1214438"/>
          </a:xfrm>
        </p:spPr>
        <p:txBody>
          <a:bodyPr/>
          <a:lstStyle/>
          <a:p>
            <a:r>
              <a:rPr lang="en-US" altLang="zh-TW" dirty="0"/>
              <a:t>Experiments on Dimension Reduction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FC9B766-499C-8277-B8CA-0F28632EC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068763"/>
            <a:ext cx="9144000" cy="1880517"/>
          </a:xfrm>
        </p:spPr>
        <p:txBody>
          <a:bodyPr/>
          <a:lstStyle/>
          <a:p>
            <a:r>
              <a:rPr lang="en-US" altLang="zh-TW" dirty="0"/>
              <a:t>Speaker :</a:t>
            </a:r>
            <a:r>
              <a:rPr lang="zh-TW" altLang="en-US" dirty="0"/>
              <a:t> </a:t>
            </a:r>
            <a:r>
              <a:rPr lang="en-US" altLang="zh-TW" dirty="0"/>
              <a:t>Oniontow</a:t>
            </a:r>
          </a:p>
          <a:p>
            <a:r>
              <a:rPr lang="en-US" altLang="zh-TW" dirty="0"/>
              <a:t>Mentor : Rick Huang</a:t>
            </a:r>
          </a:p>
          <a:p>
            <a:r>
              <a:rPr lang="en-US" altLang="zh-TW" dirty="0"/>
              <a:t>Advisor: Prof. An-Yeu (Andy) Wu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Dr. Hsiang-Yun Cheng </a:t>
            </a:r>
          </a:p>
          <a:p>
            <a:r>
              <a:rPr lang="en-US" altLang="zh-TW" dirty="0"/>
              <a:t>Date : 2026/01/26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267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748684-C775-7306-A334-BC575AA9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7F710D-9324-9990-BA9E-93FCAFCC0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/>
              <a:t>Embedding dimension reduction</a:t>
            </a:r>
          </a:p>
          <a:p>
            <a:r>
              <a:rPr lang="en-US" altLang="zh-TW" sz="2200" dirty="0"/>
              <a:t>Analysis of PCA (Principle Component Analysis)</a:t>
            </a:r>
          </a:p>
          <a:p>
            <a:r>
              <a:rPr lang="en-US" altLang="zh-TW" sz="2200" dirty="0"/>
              <a:t>Analysis of quantization methods</a:t>
            </a:r>
          </a:p>
          <a:p>
            <a:r>
              <a:rPr lang="en-US" altLang="zh-TW" sz="2200" dirty="0"/>
              <a:t>Modification of </a:t>
            </a:r>
            <a:r>
              <a:rPr lang="en-US" altLang="zh-TW" sz="2200" dirty="0" err="1"/>
              <a:t>AutoEncoder</a:t>
            </a:r>
            <a:r>
              <a:rPr lang="en-US" altLang="zh-TW" sz="2200" dirty="0"/>
              <a:t> method</a:t>
            </a:r>
          </a:p>
          <a:p>
            <a:endParaRPr lang="en-US" altLang="zh-TW" sz="22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3748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03DC24-3692-49A7-7B91-66F3184D2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Curse of Dimensionality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85E385-E04F-FCE5-4FD7-A652D5B6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 dimensions increases, data become increasingly sparce, causing traditional algorithms to struggle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number of dimensions should meet the HW provided by MXIC </a:t>
            </a:r>
          </a:p>
          <a:p>
            <a:pPr lvl="1"/>
            <a:r>
              <a:rPr lang="en-US" altLang="zh-TW" dirty="0"/>
              <a:t>64-dimensional INT3 L2-norm search</a:t>
            </a:r>
            <a:endParaRPr lang="zh-TW" altLang="en-US" dirty="0"/>
          </a:p>
        </p:txBody>
      </p:sp>
      <p:pic>
        <p:nvPicPr>
          <p:cNvPr id="1026" name="Picture 2" descr="The effect of the curse of dimensionality when projected in (1) one... |  Download Scientific Diagram">
            <a:extLst>
              <a:ext uri="{FF2B5EF4-FFF2-40B4-BE49-F238E27FC236}">
                <a16:creationId xmlns:a16="http://schemas.microsoft.com/office/drawing/2014/main" id="{0305CBD4-92D3-DAB9-BD7A-0E34D7ABF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420888"/>
            <a:ext cx="4032448" cy="123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3474FAF8-2B0C-1F88-B62F-B93AD7780436}"/>
              </a:ext>
            </a:extLst>
          </p:cNvPr>
          <p:cNvGrpSpPr/>
          <p:nvPr/>
        </p:nvGrpSpPr>
        <p:grpSpPr>
          <a:xfrm>
            <a:off x="1560832" y="4725144"/>
            <a:ext cx="6022336" cy="1662735"/>
            <a:chOff x="935596" y="4422186"/>
            <a:chExt cx="6022336" cy="166273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89E2022-74D5-5DF1-6715-C4D3CCFA0769}"/>
                </a:ext>
              </a:extLst>
            </p:cNvPr>
            <p:cNvSpPr/>
            <p:nvPr/>
          </p:nvSpPr>
          <p:spPr bwMode="auto">
            <a:xfrm>
              <a:off x="935596" y="5101217"/>
              <a:ext cx="1656184" cy="983704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altLang="zh-TW" dirty="0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IMS Macro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EF244B5-78AE-B8C5-8696-6CFADC386E3A}"/>
                </a:ext>
              </a:extLst>
            </p:cNvPr>
            <p:cNvSpPr/>
            <p:nvPr/>
          </p:nvSpPr>
          <p:spPr bwMode="auto">
            <a:xfrm>
              <a:off x="2735796" y="5101217"/>
              <a:ext cx="1656184" cy="983704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TW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IMS Macro</a:t>
              </a:r>
              <a:endParaRPr kumimoji="1" lang="zh-TW" altLang="en-US" dirty="0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B2A0200-3FE8-1E01-E442-D4AC1FCDA8DE}"/>
                </a:ext>
              </a:extLst>
            </p:cNvPr>
            <p:cNvSpPr/>
            <p:nvPr/>
          </p:nvSpPr>
          <p:spPr bwMode="auto">
            <a:xfrm>
              <a:off x="1403648" y="4424309"/>
              <a:ext cx="720080" cy="600708"/>
            </a:xfrm>
            <a:prstGeom prst="rect">
              <a:avLst/>
            </a:prstGeom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Input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64D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0AE2DCFF-3F47-6933-BB1D-5BFC8BAB79F7}"/>
                </a:ext>
              </a:extLst>
            </p:cNvPr>
            <p:cNvCxnSpPr>
              <a:cxnSpLocks/>
              <a:stCxn id="6" idx="1"/>
            </p:cNvCxnSpPr>
            <p:nvPr/>
          </p:nvCxnSpPr>
          <p:spPr bwMode="auto">
            <a:xfrm flipH="1">
              <a:off x="935596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0D26E7E2-FE65-CF41-D8B4-36B0927C8A33}"/>
                </a:ext>
              </a:extLst>
            </p:cNvPr>
            <p:cNvCxnSpPr>
              <a:cxnSpLocks/>
              <a:stCxn id="6" idx="3"/>
            </p:cNvCxnSpPr>
            <p:nvPr/>
          </p:nvCxnSpPr>
          <p:spPr bwMode="auto">
            <a:xfrm>
              <a:off x="2123728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7E4C3E4-F3AF-A108-F207-A68649B428CA}"/>
                </a:ext>
              </a:extLst>
            </p:cNvPr>
            <p:cNvSpPr/>
            <p:nvPr/>
          </p:nvSpPr>
          <p:spPr bwMode="auto">
            <a:xfrm>
              <a:off x="3182380" y="4424309"/>
              <a:ext cx="720080" cy="600708"/>
            </a:xfrm>
            <a:prstGeom prst="rect">
              <a:avLst/>
            </a:prstGeom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Input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64D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1002B7AA-8176-9A2B-0627-3B9C86C163B6}"/>
                </a:ext>
              </a:extLst>
            </p:cNvPr>
            <p:cNvCxnSpPr>
              <a:cxnSpLocks/>
              <a:stCxn id="16" idx="1"/>
            </p:cNvCxnSpPr>
            <p:nvPr/>
          </p:nvCxnSpPr>
          <p:spPr bwMode="auto">
            <a:xfrm flipH="1">
              <a:off x="2714328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DCA60C92-71BA-6D18-C2CD-4E02DD3F16F7}"/>
                </a:ext>
              </a:extLst>
            </p:cNvPr>
            <p:cNvCxnSpPr>
              <a:cxnSpLocks/>
              <a:stCxn id="16" idx="3"/>
            </p:cNvCxnSpPr>
            <p:nvPr/>
          </p:nvCxnSpPr>
          <p:spPr bwMode="auto">
            <a:xfrm>
              <a:off x="3902460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A9E9141B-7FD3-5BDE-DA56-F285557D3F37}"/>
                </a:ext>
              </a:extLst>
            </p:cNvPr>
            <p:cNvSpPr txBox="1"/>
            <p:nvPr/>
          </p:nvSpPr>
          <p:spPr>
            <a:xfrm>
              <a:off x="4504529" y="5301208"/>
              <a:ext cx="7398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latin typeface="Arial" charset="0"/>
                  <a:ea typeface="新細明體" charset="-120"/>
                </a:rPr>
                <a:t>……</a:t>
              </a:r>
              <a:endPara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AFEE0A6-3428-AB96-7508-47255449AFE7}"/>
                </a:ext>
              </a:extLst>
            </p:cNvPr>
            <p:cNvSpPr/>
            <p:nvPr/>
          </p:nvSpPr>
          <p:spPr bwMode="auto">
            <a:xfrm>
              <a:off x="5301748" y="5099094"/>
              <a:ext cx="1656184" cy="983704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altLang="zh-TW" dirty="0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IMS Macro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1FAF1AC-9054-3D70-5C9F-4EAA3F3042F1}"/>
                </a:ext>
              </a:extLst>
            </p:cNvPr>
            <p:cNvSpPr/>
            <p:nvPr/>
          </p:nvSpPr>
          <p:spPr bwMode="auto">
            <a:xfrm>
              <a:off x="5769800" y="4422186"/>
              <a:ext cx="720080" cy="600708"/>
            </a:xfrm>
            <a:prstGeom prst="rect">
              <a:avLst/>
            </a:prstGeom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Input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64D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D53C8F20-9E0A-AFFB-7994-C267996BE03C}"/>
                </a:ext>
              </a:extLst>
            </p:cNvPr>
            <p:cNvCxnSpPr>
              <a:cxnSpLocks/>
              <a:stCxn id="22" idx="1"/>
            </p:cNvCxnSpPr>
            <p:nvPr/>
          </p:nvCxnSpPr>
          <p:spPr bwMode="auto">
            <a:xfrm flipH="1">
              <a:off x="5301748" y="4722540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2D68CD2E-0BD5-3792-3668-0ECC2589F885}"/>
                </a:ext>
              </a:extLst>
            </p:cNvPr>
            <p:cNvCxnSpPr>
              <a:cxnSpLocks/>
              <a:stCxn id="22" idx="3"/>
            </p:cNvCxnSpPr>
            <p:nvPr/>
          </p:nvCxnSpPr>
          <p:spPr bwMode="auto">
            <a:xfrm>
              <a:off x="6489880" y="4722540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714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ECBC02-8376-A872-8B2B-6D508FF95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Methods of Dimension Reduction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33A287-D37C-DE3C-0A56-8EE658DF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Linear</a:t>
            </a:r>
          </a:p>
          <a:p>
            <a:pPr lvl="1"/>
            <a:r>
              <a:rPr lang="en-US" altLang="zh-TW" dirty="0"/>
              <a:t>Pooling</a:t>
            </a:r>
          </a:p>
          <a:p>
            <a:pPr lvl="2"/>
            <a:r>
              <a:rPr lang="en-US" altLang="zh-TW" dirty="0"/>
              <a:t>Average Pooling</a:t>
            </a:r>
          </a:p>
          <a:p>
            <a:pPr lvl="2"/>
            <a:r>
              <a:rPr lang="en-US" altLang="zh-TW" dirty="0"/>
              <a:t>Magnitude Pooling</a:t>
            </a:r>
          </a:p>
          <a:p>
            <a:pPr lvl="1"/>
            <a:r>
              <a:rPr lang="en-US" altLang="zh-TW" dirty="0"/>
              <a:t>Principle Component Analysis</a:t>
            </a:r>
          </a:p>
          <a:p>
            <a:r>
              <a:rPr lang="en-US" altLang="zh-TW" dirty="0"/>
              <a:t>Non-Linear</a:t>
            </a:r>
          </a:p>
          <a:p>
            <a:pPr lvl="1"/>
            <a:r>
              <a:rPr lang="en-US" altLang="zh-TW" dirty="0"/>
              <a:t>UMAP</a:t>
            </a:r>
          </a:p>
          <a:p>
            <a:pPr lvl="1"/>
            <a:r>
              <a:rPr lang="en-US" altLang="zh-TW" dirty="0"/>
              <a:t>Autoencoder (AE)</a:t>
            </a:r>
          </a:p>
          <a:p>
            <a:endParaRPr lang="en-US" altLang="zh-TW" dirty="0"/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071176AB-8BAE-E26C-26DA-0BEFFA89B781}"/>
              </a:ext>
            </a:extLst>
          </p:cNvPr>
          <p:cNvGrpSpPr/>
          <p:nvPr/>
        </p:nvGrpSpPr>
        <p:grpSpPr>
          <a:xfrm>
            <a:off x="4598876" y="1507520"/>
            <a:ext cx="864096" cy="1691097"/>
            <a:chOff x="4860032" y="1530694"/>
            <a:chExt cx="864096" cy="169109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DB24705-DAC9-E71D-8234-A9FFCD96FA8F}"/>
                </a:ext>
              </a:extLst>
            </p:cNvPr>
            <p:cNvSpPr/>
            <p:nvPr/>
          </p:nvSpPr>
          <p:spPr bwMode="auto">
            <a:xfrm>
              <a:off x="4860032" y="1530694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49397CC-13CE-EC9F-B60B-69AB447A9FEA}"/>
                </a:ext>
              </a:extLst>
            </p:cNvPr>
            <p:cNvSpPr/>
            <p:nvPr/>
          </p:nvSpPr>
          <p:spPr bwMode="auto">
            <a:xfrm>
              <a:off x="4860032" y="1743506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1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76B9DC3-C530-87B3-EE02-8557D8103631}"/>
                </a:ext>
              </a:extLst>
            </p:cNvPr>
            <p:cNvSpPr/>
            <p:nvPr/>
          </p:nvSpPr>
          <p:spPr bwMode="auto">
            <a:xfrm>
              <a:off x="4860032" y="1949794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9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83A75EA-6219-64F8-AF3F-0150F9B19A26}"/>
                </a:ext>
              </a:extLst>
            </p:cNvPr>
            <p:cNvSpPr/>
            <p:nvPr/>
          </p:nvSpPr>
          <p:spPr bwMode="auto">
            <a:xfrm>
              <a:off x="4860032" y="2162606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5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BCEB0C6-4491-95E6-B410-028AAE1F1A77}"/>
                </a:ext>
              </a:extLst>
            </p:cNvPr>
            <p:cNvSpPr/>
            <p:nvPr/>
          </p:nvSpPr>
          <p:spPr bwMode="auto">
            <a:xfrm>
              <a:off x="4860032" y="2373855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A3CE3B0-6DF1-EACA-4260-F69F2291FEB0}"/>
                </a:ext>
              </a:extLst>
            </p:cNvPr>
            <p:cNvSpPr/>
            <p:nvPr/>
          </p:nvSpPr>
          <p:spPr bwMode="auto">
            <a:xfrm>
              <a:off x="4860032" y="2586667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2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438B4BC-E752-0CC9-489E-175D80883D96}"/>
                </a:ext>
              </a:extLst>
            </p:cNvPr>
            <p:cNvSpPr/>
            <p:nvPr/>
          </p:nvSpPr>
          <p:spPr bwMode="auto">
            <a:xfrm>
              <a:off x="4860032" y="2792955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8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B803CF8-ACDE-BFC9-D780-95FA7710BC7B}"/>
                </a:ext>
              </a:extLst>
            </p:cNvPr>
            <p:cNvSpPr/>
            <p:nvPr/>
          </p:nvSpPr>
          <p:spPr bwMode="auto">
            <a:xfrm>
              <a:off x="4860032" y="3005767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0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2BF7806-4DAE-A960-A331-AA1FB72FAB4E}"/>
                </a:ext>
              </a:extLst>
            </p:cNvPr>
            <p:cNvSpPr/>
            <p:nvPr/>
          </p:nvSpPr>
          <p:spPr bwMode="auto">
            <a:xfrm>
              <a:off x="5508104" y="19450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2</a:t>
              </a:r>
              <a:endParaRPr kumimoji="1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EA0D762-7030-1A7A-707F-9814CBA469E1}"/>
                </a:ext>
              </a:extLst>
            </p:cNvPr>
            <p:cNvSpPr/>
            <p:nvPr/>
          </p:nvSpPr>
          <p:spPr bwMode="auto">
            <a:xfrm>
              <a:off x="5508104" y="21578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77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2943308-9010-AA32-8790-21A6946F9C88}"/>
                </a:ext>
              </a:extLst>
            </p:cNvPr>
            <p:cNvSpPr/>
            <p:nvPr/>
          </p:nvSpPr>
          <p:spPr bwMode="auto">
            <a:xfrm>
              <a:off x="5508104" y="23641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5766347-8ADD-8682-8197-877F2F6CE371}"/>
                </a:ext>
              </a:extLst>
            </p:cNvPr>
            <p:cNvSpPr/>
            <p:nvPr/>
          </p:nvSpPr>
          <p:spPr bwMode="auto">
            <a:xfrm>
              <a:off x="5508104" y="25769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8875435F-9FA7-0273-528E-27DA513D016E}"/>
                </a:ext>
              </a:extLst>
            </p:cNvPr>
            <p:cNvCxnSpPr>
              <a:stCxn id="4" idx="3"/>
              <a:endCxn id="14" idx="1"/>
            </p:cNvCxnSpPr>
            <p:nvPr/>
          </p:nvCxnSpPr>
          <p:spPr bwMode="auto">
            <a:xfrm>
              <a:off x="5076056" y="1638706"/>
              <a:ext cx="432048" cy="414325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B06728FF-0F3D-3583-026E-2D61AD401666}"/>
                </a:ext>
              </a:extLst>
            </p:cNvPr>
            <p:cNvCxnSpPr>
              <a:cxnSpLocks/>
              <a:stCxn id="5" idx="3"/>
              <a:endCxn id="14" idx="1"/>
            </p:cNvCxnSpPr>
            <p:nvPr/>
          </p:nvCxnSpPr>
          <p:spPr bwMode="auto">
            <a:xfrm>
              <a:off x="5076056" y="1851518"/>
              <a:ext cx="432048" cy="201513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C2B0A98-F14F-55F4-23ED-25CE5DF904D9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 bwMode="auto">
            <a:xfrm flipV="1">
              <a:off x="5076056" y="2684943"/>
              <a:ext cx="432048" cy="428836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F763F80D-3A05-D98F-6EFF-C0E194B5484F}"/>
                </a:ext>
              </a:extLst>
            </p:cNvPr>
            <p:cNvCxnSpPr>
              <a:cxnSpLocks/>
              <a:stCxn id="12" idx="3"/>
              <a:endCxn id="17" idx="1"/>
            </p:cNvCxnSpPr>
            <p:nvPr/>
          </p:nvCxnSpPr>
          <p:spPr bwMode="auto">
            <a:xfrm flipV="1">
              <a:off x="5076056" y="2684943"/>
              <a:ext cx="4320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CF07B6B1-68E7-F463-B3EE-B92FFE44DA75}"/>
                </a:ext>
              </a:extLst>
            </p:cNvPr>
            <p:cNvCxnSpPr>
              <a:cxnSpLocks/>
              <a:stCxn id="8" idx="3"/>
              <a:endCxn id="15" idx="1"/>
            </p:cNvCxnSpPr>
            <p:nvPr/>
          </p:nvCxnSpPr>
          <p:spPr bwMode="auto">
            <a:xfrm>
              <a:off x="5076056" y="2057806"/>
              <a:ext cx="432048" cy="2080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ADE6FF13-28A1-9DD8-B279-6D0FFD3D01F6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 bwMode="auto">
            <a:xfrm flipV="1">
              <a:off x="5076056" y="2472131"/>
              <a:ext cx="432048" cy="222548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76189299-751E-7B07-9FA5-731DD5B68C00}"/>
                </a:ext>
              </a:extLst>
            </p:cNvPr>
            <p:cNvCxnSpPr>
              <a:cxnSpLocks/>
              <a:stCxn id="10" idx="3"/>
              <a:endCxn id="16" idx="1"/>
            </p:cNvCxnSpPr>
            <p:nvPr/>
          </p:nvCxnSpPr>
          <p:spPr bwMode="auto">
            <a:xfrm flipV="1">
              <a:off x="5076056" y="2472131"/>
              <a:ext cx="432048" cy="9736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52388BFC-6F50-D8B7-D75D-696EBC0306B3}"/>
                </a:ext>
              </a:extLst>
            </p:cNvPr>
            <p:cNvCxnSpPr>
              <a:cxnSpLocks/>
              <a:stCxn id="9" idx="3"/>
              <a:endCxn id="15" idx="1"/>
            </p:cNvCxnSpPr>
            <p:nvPr/>
          </p:nvCxnSpPr>
          <p:spPr bwMode="auto">
            <a:xfrm flipV="1">
              <a:off x="5076056" y="2265843"/>
              <a:ext cx="432048" cy="4775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FDE45B03-D715-56FE-F847-3D8E31C8451F}"/>
              </a:ext>
            </a:extLst>
          </p:cNvPr>
          <p:cNvGrpSpPr/>
          <p:nvPr/>
        </p:nvGrpSpPr>
        <p:grpSpPr>
          <a:xfrm>
            <a:off x="6242384" y="1524000"/>
            <a:ext cx="864096" cy="1691097"/>
            <a:chOff x="6156176" y="1530694"/>
            <a:chExt cx="864096" cy="1691097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9517EAA-7557-314F-9AA7-0FE9E5DCA49F}"/>
                </a:ext>
              </a:extLst>
            </p:cNvPr>
            <p:cNvSpPr/>
            <p:nvPr/>
          </p:nvSpPr>
          <p:spPr bwMode="auto">
            <a:xfrm>
              <a:off x="6156176" y="1530694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2BDC94D-84B1-FA33-F2E5-F78FF5A4603C}"/>
                </a:ext>
              </a:extLst>
            </p:cNvPr>
            <p:cNvSpPr/>
            <p:nvPr/>
          </p:nvSpPr>
          <p:spPr bwMode="auto">
            <a:xfrm>
              <a:off x="6156176" y="1743506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1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B4471DC-124C-C500-6B59-BA873E507786}"/>
                </a:ext>
              </a:extLst>
            </p:cNvPr>
            <p:cNvSpPr/>
            <p:nvPr/>
          </p:nvSpPr>
          <p:spPr bwMode="auto">
            <a:xfrm>
              <a:off x="6156176" y="1949794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9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14E76C38-8896-DD3C-4A6B-1A07E62BD16A}"/>
                </a:ext>
              </a:extLst>
            </p:cNvPr>
            <p:cNvSpPr/>
            <p:nvPr/>
          </p:nvSpPr>
          <p:spPr bwMode="auto">
            <a:xfrm>
              <a:off x="6156176" y="2162606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5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1DE691BA-72D4-FEE9-F020-014F964F6B3F}"/>
                </a:ext>
              </a:extLst>
            </p:cNvPr>
            <p:cNvSpPr/>
            <p:nvPr/>
          </p:nvSpPr>
          <p:spPr bwMode="auto">
            <a:xfrm>
              <a:off x="6156176" y="2373855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FE573E6-5965-5B31-B9D4-918C268E0093}"/>
                </a:ext>
              </a:extLst>
            </p:cNvPr>
            <p:cNvSpPr/>
            <p:nvPr/>
          </p:nvSpPr>
          <p:spPr bwMode="auto">
            <a:xfrm>
              <a:off x="6156176" y="2586667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2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74121FD-3752-7238-AC4A-2D8D3D999952}"/>
                </a:ext>
              </a:extLst>
            </p:cNvPr>
            <p:cNvSpPr/>
            <p:nvPr/>
          </p:nvSpPr>
          <p:spPr bwMode="auto">
            <a:xfrm>
              <a:off x="6156176" y="2792955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8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A739EC3-1886-F6B1-FC08-5A27E3C8A2DC}"/>
                </a:ext>
              </a:extLst>
            </p:cNvPr>
            <p:cNvSpPr/>
            <p:nvPr/>
          </p:nvSpPr>
          <p:spPr bwMode="auto">
            <a:xfrm>
              <a:off x="6156176" y="3005767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0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F37EA93B-7C2E-1BF4-7973-6545C8333E1B}"/>
                </a:ext>
              </a:extLst>
            </p:cNvPr>
            <p:cNvSpPr/>
            <p:nvPr/>
          </p:nvSpPr>
          <p:spPr bwMode="auto">
            <a:xfrm>
              <a:off x="6804248" y="19450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BAD43BF-A3E6-D557-3A5D-8AE22307D933}"/>
                </a:ext>
              </a:extLst>
            </p:cNvPr>
            <p:cNvSpPr/>
            <p:nvPr/>
          </p:nvSpPr>
          <p:spPr bwMode="auto">
            <a:xfrm>
              <a:off x="6804248" y="21578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97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AA05E78-7E8D-71BD-B1F4-95DA9DBB86E4}"/>
                </a:ext>
              </a:extLst>
            </p:cNvPr>
            <p:cNvSpPr/>
            <p:nvPr/>
          </p:nvSpPr>
          <p:spPr bwMode="auto">
            <a:xfrm>
              <a:off x="6804248" y="23641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4A758ED9-B97E-F15F-1358-28F6364F97CD}"/>
                </a:ext>
              </a:extLst>
            </p:cNvPr>
            <p:cNvSpPr/>
            <p:nvPr/>
          </p:nvSpPr>
          <p:spPr bwMode="auto">
            <a:xfrm>
              <a:off x="6804248" y="25769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8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58" name="直線單箭頭接點 57">
              <a:extLst>
                <a:ext uri="{FF2B5EF4-FFF2-40B4-BE49-F238E27FC236}">
                  <a16:creationId xmlns:a16="http://schemas.microsoft.com/office/drawing/2014/main" id="{7BEC2604-75EA-88C4-A57F-8D51CB96AC76}"/>
                </a:ext>
              </a:extLst>
            </p:cNvPr>
            <p:cNvCxnSpPr>
              <a:stCxn id="46" idx="3"/>
              <a:endCxn id="54" idx="1"/>
            </p:cNvCxnSpPr>
            <p:nvPr/>
          </p:nvCxnSpPr>
          <p:spPr bwMode="auto">
            <a:xfrm>
              <a:off x="6372200" y="1638706"/>
              <a:ext cx="432048" cy="414325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8D54BCE9-2679-88DC-4A5F-6A76726EE640}"/>
                </a:ext>
              </a:extLst>
            </p:cNvPr>
            <p:cNvCxnSpPr>
              <a:cxnSpLocks/>
              <a:stCxn id="47" idx="3"/>
              <a:endCxn id="54" idx="1"/>
            </p:cNvCxnSpPr>
            <p:nvPr/>
          </p:nvCxnSpPr>
          <p:spPr bwMode="auto">
            <a:xfrm>
              <a:off x="6372200" y="1851518"/>
              <a:ext cx="432048" cy="201513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CAC5F8C5-21BB-8132-01DD-1BB8D892558C}"/>
                </a:ext>
              </a:extLst>
            </p:cNvPr>
            <p:cNvCxnSpPr>
              <a:cxnSpLocks/>
              <a:stCxn id="53" idx="3"/>
              <a:endCxn id="57" idx="1"/>
            </p:cNvCxnSpPr>
            <p:nvPr/>
          </p:nvCxnSpPr>
          <p:spPr bwMode="auto">
            <a:xfrm flipV="1">
              <a:off x="6372200" y="2684943"/>
              <a:ext cx="432048" cy="428836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8D975093-B3AE-4D3C-9DD8-18E2198F1DA7}"/>
                </a:ext>
              </a:extLst>
            </p:cNvPr>
            <p:cNvCxnSpPr>
              <a:cxnSpLocks/>
              <a:stCxn id="52" idx="3"/>
              <a:endCxn id="57" idx="1"/>
            </p:cNvCxnSpPr>
            <p:nvPr/>
          </p:nvCxnSpPr>
          <p:spPr bwMode="auto">
            <a:xfrm flipV="1">
              <a:off x="6372200" y="2684943"/>
              <a:ext cx="4320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441D509F-A2CC-1511-F8DD-76EFF8797CFA}"/>
                </a:ext>
              </a:extLst>
            </p:cNvPr>
            <p:cNvCxnSpPr>
              <a:cxnSpLocks/>
              <a:stCxn id="48" idx="3"/>
              <a:endCxn id="55" idx="1"/>
            </p:cNvCxnSpPr>
            <p:nvPr/>
          </p:nvCxnSpPr>
          <p:spPr bwMode="auto">
            <a:xfrm>
              <a:off x="6372200" y="2057806"/>
              <a:ext cx="432048" cy="2080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90B8C2BE-88E6-8FC0-1E11-78083B2685D8}"/>
                </a:ext>
              </a:extLst>
            </p:cNvPr>
            <p:cNvCxnSpPr>
              <a:cxnSpLocks/>
              <a:stCxn id="51" idx="3"/>
              <a:endCxn id="56" idx="1"/>
            </p:cNvCxnSpPr>
            <p:nvPr/>
          </p:nvCxnSpPr>
          <p:spPr bwMode="auto">
            <a:xfrm flipV="1">
              <a:off x="6372200" y="2472131"/>
              <a:ext cx="432048" cy="222548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95FF5E07-F043-4DE8-1984-3748714881E2}"/>
                </a:ext>
              </a:extLst>
            </p:cNvPr>
            <p:cNvCxnSpPr>
              <a:cxnSpLocks/>
              <a:stCxn id="50" idx="3"/>
              <a:endCxn id="56" idx="1"/>
            </p:cNvCxnSpPr>
            <p:nvPr/>
          </p:nvCxnSpPr>
          <p:spPr bwMode="auto">
            <a:xfrm flipV="1">
              <a:off x="6372200" y="2472131"/>
              <a:ext cx="432048" cy="9736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線單箭頭接點 64">
              <a:extLst>
                <a:ext uri="{FF2B5EF4-FFF2-40B4-BE49-F238E27FC236}">
                  <a16:creationId xmlns:a16="http://schemas.microsoft.com/office/drawing/2014/main" id="{97C41000-575C-484B-BF32-86BE8459CFEB}"/>
                </a:ext>
              </a:extLst>
            </p:cNvPr>
            <p:cNvCxnSpPr>
              <a:cxnSpLocks/>
              <a:stCxn id="49" idx="3"/>
              <a:endCxn id="55" idx="1"/>
            </p:cNvCxnSpPr>
            <p:nvPr/>
          </p:nvCxnSpPr>
          <p:spPr bwMode="auto">
            <a:xfrm flipV="1">
              <a:off x="6372200" y="2265843"/>
              <a:ext cx="432048" cy="4775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38501F4B-62C0-A41A-FF22-D9789A8976FE}"/>
              </a:ext>
            </a:extLst>
          </p:cNvPr>
          <p:cNvSpPr txBox="1"/>
          <p:nvPr/>
        </p:nvSpPr>
        <p:spPr>
          <a:xfrm>
            <a:off x="4105428" y="3220333"/>
            <a:ext cx="17472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Average Pooling</a:t>
            </a:r>
            <a:endParaRPr lang="zh-TW" altLang="en-US" sz="1600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7CBF7D6A-B2D6-721E-BEF1-ED1E89021113}"/>
              </a:ext>
            </a:extLst>
          </p:cNvPr>
          <p:cNvSpPr txBox="1"/>
          <p:nvPr/>
        </p:nvSpPr>
        <p:spPr>
          <a:xfrm>
            <a:off x="5692703" y="3226462"/>
            <a:ext cx="19398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Magnitude Pooling</a:t>
            </a:r>
            <a:endParaRPr lang="zh-TW" altLang="en-US" sz="1600" dirty="0"/>
          </a:p>
        </p:txBody>
      </p:sp>
      <p:pic>
        <p:nvPicPr>
          <p:cNvPr id="2050" name="Picture 2" descr="Linear Algebra - 主成分分析Principal components analysis, PCA | Mr. Opengate">
            <a:extLst>
              <a:ext uri="{FF2B5EF4-FFF2-40B4-BE49-F238E27FC236}">
                <a16:creationId xmlns:a16="http://schemas.microsoft.com/office/drawing/2014/main" id="{72D1340C-EF54-A312-2DDE-86E52DC054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1" t="9452" r="50970" b="7232"/>
          <a:stretch>
            <a:fillRect/>
          </a:stretch>
        </p:blipFill>
        <p:spPr bwMode="auto">
          <a:xfrm>
            <a:off x="7538528" y="1483861"/>
            <a:ext cx="1440496" cy="171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文字方塊 72">
            <a:extLst>
              <a:ext uri="{FF2B5EF4-FFF2-40B4-BE49-F238E27FC236}">
                <a16:creationId xmlns:a16="http://schemas.microsoft.com/office/drawing/2014/main" id="{C380A6F5-26E4-796A-15D1-7422209631A8}"/>
              </a:ext>
            </a:extLst>
          </p:cNvPr>
          <p:cNvSpPr txBox="1"/>
          <p:nvPr/>
        </p:nvSpPr>
        <p:spPr>
          <a:xfrm>
            <a:off x="7429482" y="3237827"/>
            <a:ext cx="16585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/>
              <a:t>PCA</a:t>
            </a:r>
            <a:endParaRPr lang="zh-TW" altLang="en-US" sz="1400" dirty="0"/>
          </a:p>
        </p:txBody>
      </p:sp>
      <p:pic>
        <p:nvPicPr>
          <p:cNvPr id="2052" name="Picture 4" descr="Easy UMAP – explained with an example - biostatsquid.com">
            <a:extLst>
              <a:ext uri="{FF2B5EF4-FFF2-40B4-BE49-F238E27FC236}">
                <a16:creationId xmlns:a16="http://schemas.microsoft.com/office/drawing/2014/main" id="{35A0B8B1-9626-B927-1A56-FEEFF42E9D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8" t="26073" r="28120" b="26935"/>
          <a:stretch>
            <a:fillRect/>
          </a:stretch>
        </p:blipFill>
        <p:spPr bwMode="auto">
          <a:xfrm>
            <a:off x="1326327" y="4357722"/>
            <a:ext cx="3003875" cy="171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文字方塊 73">
            <a:extLst>
              <a:ext uri="{FF2B5EF4-FFF2-40B4-BE49-F238E27FC236}">
                <a16:creationId xmlns:a16="http://schemas.microsoft.com/office/drawing/2014/main" id="{F728F0FE-5BA3-6F66-F67C-E41419075967}"/>
              </a:ext>
            </a:extLst>
          </p:cNvPr>
          <p:cNvSpPr txBox="1"/>
          <p:nvPr/>
        </p:nvSpPr>
        <p:spPr>
          <a:xfrm>
            <a:off x="228709" y="6072932"/>
            <a:ext cx="5199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Closer  points -&gt; exponential decay to maintain local distance</a:t>
            </a:r>
          </a:p>
          <a:p>
            <a:r>
              <a:rPr lang="en-US" altLang="zh-TW" sz="1400" dirty="0"/>
              <a:t>Farther points -&gt; inverse-polynomial to maintain global distance</a:t>
            </a:r>
            <a:endParaRPr lang="zh-TW" altLang="en-US" sz="1400" dirty="0"/>
          </a:p>
        </p:txBody>
      </p:sp>
      <p:pic>
        <p:nvPicPr>
          <p:cNvPr id="2054" name="Picture 6" descr="筆記]Tensorflow-Lesson9_自動編碼器(Auto Encoder) - iT 邦幫忙::一起幫忙解決難題，拯救IT 人的一天">
            <a:extLst>
              <a:ext uri="{FF2B5EF4-FFF2-40B4-BE49-F238E27FC236}">
                <a16:creationId xmlns:a16="http://schemas.microsoft.com/office/drawing/2014/main" id="{E590D2A5-5A57-91DC-B632-8A752BA16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769" y="4080423"/>
            <a:ext cx="3603284" cy="205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文字方塊 87">
            <a:extLst>
              <a:ext uri="{FF2B5EF4-FFF2-40B4-BE49-F238E27FC236}">
                <a16:creationId xmlns:a16="http://schemas.microsoft.com/office/drawing/2014/main" id="{28E832AA-88CA-9155-BE7D-0354C0E95736}"/>
              </a:ext>
            </a:extLst>
          </p:cNvPr>
          <p:cNvSpPr txBox="1"/>
          <p:nvPr/>
        </p:nvSpPr>
        <p:spPr>
          <a:xfrm>
            <a:off x="935093" y="5520128"/>
            <a:ext cx="7824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UMAP</a:t>
            </a:r>
            <a:endParaRPr lang="zh-TW" altLang="en-US" sz="1400" dirty="0"/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6ADF008C-00C0-623D-333B-CB546AF42BF1}"/>
              </a:ext>
            </a:extLst>
          </p:cNvPr>
          <p:cNvSpPr txBox="1"/>
          <p:nvPr/>
        </p:nvSpPr>
        <p:spPr>
          <a:xfrm>
            <a:off x="6323761" y="6064787"/>
            <a:ext cx="1493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/>
              <a:t>Autoencoder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2398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21D966-3EB7-0E76-992C-C7D8D57D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(SIFT-1M)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25772-15B3-398F-871A-CB088F010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Using SIFT-1M dataset</a:t>
            </a:r>
          </a:p>
          <a:p>
            <a:pPr lvl="1"/>
            <a:r>
              <a:rPr lang="en-US" altLang="zh-TW" dirty="0"/>
              <a:t>Vector dimension: 128 -&gt; 64</a:t>
            </a:r>
          </a:p>
          <a:p>
            <a:pPr lvl="1"/>
            <a:r>
              <a:rPr lang="en-US" altLang="zh-TW" dirty="0"/>
              <a:t>Quantization method: min-max quantization</a:t>
            </a:r>
          </a:p>
          <a:p>
            <a:pPr lvl="1"/>
            <a:r>
              <a:rPr lang="en-US" altLang="zh-TW" dirty="0"/>
              <a:t>Avg. Pooling &gt; PCA &gt;= AE &gt; UMAP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F7634A3-2F7E-491A-9C27-721EF3E967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3016"/>
            <a:ext cx="9144000" cy="27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49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A262-BEB5-B11C-4625-5D3DDEA9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3172B-E5CE-124A-73C8-B983F2F4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(SIFT-1M)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2648EC-8381-BDC5-1685-09DFDC3E3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727504" cy="4800600"/>
          </a:xfrm>
        </p:spPr>
        <p:txBody>
          <a:bodyPr/>
          <a:lstStyle/>
          <a:p>
            <a:r>
              <a:rPr lang="en-US" altLang="zh-TW" dirty="0"/>
              <a:t>Using SIFT-1M dataset</a:t>
            </a:r>
          </a:p>
          <a:p>
            <a:pPr lvl="1"/>
            <a:r>
              <a:rPr lang="en-US" altLang="zh-TW" dirty="0"/>
              <a:t>Vector dimension: 128 -&gt; 64</a:t>
            </a:r>
          </a:p>
          <a:p>
            <a:pPr lvl="1"/>
            <a:r>
              <a:rPr lang="en-US" altLang="zh-TW" dirty="0"/>
              <a:t>Quantization method: min-max quantization</a:t>
            </a:r>
          </a:p>
          <a:p>
            <a:pPr lvl="1"/>
            <a:r>
              <a:rPr lang="en-US" altLang="zh-TW" dirty="0"/>
              <a:t>Since the performance of UMAP is worst, it is replaced by magnitude pooling</a:t>
            </a:r>
          </a:p>
          <a:p>
            <a:pPr lvl="1"/>
            <a:r>
              <a:rPr lang="en-US" altLang="zh-TW" dirty="0"/>
              <a:t>Avg. Pooling =</a:t>
            </a:r>
            <a:r>
              <a:rPr lang="zh-TW" altLang="en-US" dirty="0"/>
              <a:t> </a:t>
            </a:r>
            <a:r>
              <a:rPr lang="en-US" altLang="zh-TW" dirty="0"/>
              <a:t>Mag. Pooling &gt;= PCA &gt;= AE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51D0A35-29B6-84AC-0CFE-1DFE00C6C9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3016"/>
            <a:ext cx="9144000" cy="27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5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26C0-C17A-45D9-6083-6BBE79A5C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D35338-3A8A-DB49-AF88-19DD3B00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(</a:t>
            </a:r>
            <a:r>
              <a:rPr lang="en-US" altLang="zh-TW" dirty="0" err="1"/>
              <a:t>Omniglot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46035D-873F-F12F-987A-A9A6AFCC1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727504" cy="4800600"/>
          </a:xfrm>
        </p:spPr>
        <p:txBody>
          <a:bodyPr/>
          <a:lstStyle/>
          <a:p>
            <a:r>
              <a:rPr lang="en-US" altLang="zh-TW" dirty="0"/>
              <a:t>Using </a:t>
            </a:r>
            <a:r>
              <a:rPr lang="en-US" altLang="zh-TW" dirty="0" err="1"/>
              <a:t>Omniglot</a:t>
            </a:r>
            <a:r>
              <a:rPr lang="en-US" altLang="zh-TW" dirty="0"/>
              <a:t> 20-way-5-shot experiment</a:t>
            </a:r>
          </a:p>
          <a:p>
            <a:pPr lvl="1"/>
            <a:r>
              <a:rPr lang="en-US" altLang="zh-TW" dirty="0"/>
              <a:t>Embedding dimension: 128 -&gt; 64</a:t>
            </a:r>
          </a:p>
          <a:p>
            <a:pPr lvl="1"/>
            <a:r>
              <a:rPr lang="en-US" altLang="zh-TW" dirty="0"/>
              <a:t>Quantization method: min-max quantization</a:t>
            </a:r>
          </a:p>
          <a:p>
            <a:pPr lvl="1"/>
            <a:r>
              <a:rPr lang="en-US" altLang="zh-TW" dirty="0"/>
              <a:t>AE = Avg. Pooling =</a:t>
            </a:r>
            <a:r>
              <a:rPr lang="zh-TW" altLang="en-US" dirty="0"/>
              <a:t> </a:t>
            </a:r>
            <a:r>
              <a:rPr lang="en-US" altLang="zh-TW" dirty="0"/>
              <a:t>PCA &gt;= Mag. Pooling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926C33A-C783-DD37-DCBF-D2A38D7731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090" y="3061908"/>
            <a:ext cx="5945820" cy="356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0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B6B7-BEF1-7290-82DC-66F64D2BB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1EEBE2-0B43-1B45-1F94-4153F609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 of PCA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D90CE6-801B-7912-72C0-DEF04B528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727504" cy="4800600"/>
          </a:xfrm>
        </p:spPr>
        <p:txBody>
          <a:bodyPr/>
          <a:lstStyle/>
          <a:p>
            <a:r>
              <a:rPr lang="en-US" altLang="zh-TW" dirty="0"/>
              <a:t>PCA seems cannot win against average pooling</a:t>
            </a:r>
          </a:p>
          <a:p>
            <a:pPr lvl="1"/>
            <a:r>
              <a:rPr lang="en-US" altLang="zh-TW" dirty="0"/>
              <a:t>Is this true for all dimensions?</a:t>
            </a:r>
          </a:p>
          <a:p>
            <a:pPr lvl="1"/>
            <a:r>
              <a:rPr lang="en-US" altLang="zh-TW" dirty="0"/>
              <a:t>Why PCA achieves better recall rate when dim &lt; 60</a:t>
            </a:r>
          </a:p>
          <a:p>
            <a:pPr lvl="1"/>
            <a:r>
              <a:rPr lang="en-US" altLang="zh-TW" dirty="0"/>
              <a:t>Too much noise from less representative dimensions</a:t>
            </a:r>
          </a:p>
          <a:p>
            <a:pPr lvl="1"/>
            <a:r>
              <a:rPr lang="en-US" altLang="zh-TW" dirty="0"/>
              <a:t>Low explained var. from dim 60 to 128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8D044B1-DECA-E7D7-C4C2-5223FDA7C3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2371"/>
            <a:ext cx="4572000" cy="273728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466FE36-3F2B-AF76-F7C9-96D8884F0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688" r="9051" b="2083"/>
          <a:stretch>
            <a:fillRect/>
          </a:stretch>
        </p:blipFill>
        <p:spPr>
          <a:xfrm>
            <a:off x="4860032" y="3292624"/>
            <a:ext cx="3744416" cy="333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8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CF099-D077-795F-93CC-641DD77F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460D16-094D-A843-FC1A-C30C46E0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Distribution under Different Methods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F6F85-4027-8554-2F94-E16F2FA0E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does the distributions look like after different dimension reduction methods</a:t>
            </a:r>
          </a:p>
          <a:p>
            <a:pPr lvl="1"/>
            <a:r>
              <a:rPr lang="en-US" altLang="zh-TW" dirty="0"/>
              <a:t>Pooling produces long-tail distributions</a:t>
            </a:r>
          </a:p>
          <a:p>
            <a:pPr lvl="1"/>
            <a:r>
              <a:rPr lang="en-US" altLang="zh-TW" dirty="0"/>
              <a:t>PCA/AE produces bell-shaped distributions</a:t>
            </a:r>
          </a:p>
          <a:p>
            <a:pPr lvl="1"/>
            <a:r>
              <a:rPr lang="en-US" altLang="zh-TW" dirty="0"/>
              <a:t>Can our quantization method fit all of these distributions?</a:t>
            </a:r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E4987C58-4F96-DFDD-32E0-0EF540F265D6}"/>
              </a:ext>
            </a:extLst>
          </p:cNvPr>
          <p:cNvGrpSpPr/>
          <p:nvPr/>
        </p:nvGrpSpPr>
        <p:grpSpPr>
          <a:xfrm>
            <a:off x="1133709" y="5853578"/>
            <a:ext cx="7355523" cy="369332"/>
            <a:chOff x="1094086" y="6021288"/>
            <a:chExt cx="7355523" cy="369332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BACA38F6-1FE5-4DD1-E35F-A833B0302728}"/>
                </a:ext>
              </a:extLst>
            </p:cNvPr>
            <p:cNvSpPr txBox="1"/>
            <p:nvPr/>
          </p:nvSpPr>
          <p:spPr>
            <a:xfrm>
              <a:off x="1094086" y="6021288"/>
              <a:ext cx="95292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Pooling</a:t>
              </a:r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B6BE3B5-C895-8D0D-0867-56774D2FBE73}"/>
                </a:ext>
              </a:extLst>
            </p:cNvPr>
            <p:cNvSpPr txBox="1"/>
            <p:nvPr/>
          </p:nvSpPr>
          <p:spPr>
            <a:xfrm>
              <a:off x="4316353" y="6021288"/>
              <a:ext cx="72248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PCA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FFD830A-A3F8-AA99-7275-E4AE8EE91CAC}"/>
                </a:ext>
              </a:extLst>
            </p:cNvPr>
            <p:cNvSpPr txBox="1"/>
            <p:nvPr/>
          </p:nvSpPr>
          <p:spPr>
            <a:xfrm>
              <a:off x="6908641" y="6021288"/>
              <a:ext cx="15409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 err="1"/>
                <a:t>AutoEncoder</a:t>
              </a:r>
              <a:endParaRPr lang="zh-TW" altLang="en-US" dirty="0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6C1D97E4-99B9-0637-F9DE-C191E03A7CA5}"/>
              </a:ext>
            </a:extLst>
          </p:cNvPr>
          <p:cNvGrpSpPr/>
          <p:nvPr/>
        </p:nvGrpSpPr>
        <p:grpSpPr>
          <a:xfrm>
            <a:off x="109399" y="3933056"/>
            <a:ext cx="8922795" cy="1884663"/>
            <a:chOff x="61177" y="4054462"/>
            <a:chExt cx="8922795" cy="188466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9FA3D8A-1A98-529E-B790-1044A4C34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2717" y="4076700"/>
              <a:ext cx="2961916" cy="1862425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9C6AE06E-FC6B-4D54-54E4-FC8050B22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2056" y="4054462"/>
              <a:ext cx="2961916" cy="1862425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D20D7B7-12FD-62CC-07BF-8501BE2BB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77" y="4070435"/>
              <a:ext cx="3001540" cy="18686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4768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8247CF-54B7-5BCE-B93A-E1935D64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Distribution under Different Methods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CD271-53F2-2AEB-7926-85178D25B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does the distributions look like after different dimension reduction methods</a:t>
            </a:r>
          </a:p>
          <a:p>
            <a:pPr lvl="1"/>
            <a:r>
              <a:rPr lang="en-US" altLang="zh-TW" dirty="0"/>
              <a:t>Pooling produces long-tail distributions</a:t>
            </a:r>
          </a:p>
          <a:p>
            <a:pPr lvl="1"/>
            <a:r>
              <a:rPr lang="en-US" altLang="zh-TW" dirty="0"/>
              <a:t>PCA/AE produces bell-shaped distributions</a:t>
            </a:r>
          </a:p>
          <a:p>
            <a:pPr lvl="1"/>
            <a:r>
              <a:rPr lang="en-US" altLang="zh-TW" dirty="0"/>
              <a:t>Can our quantization method fit all of these distributions?</a:t>
            </a:r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11C4EFFB-4D57-5391-12F2-5B2B87A82D88}"/>
              </a:ext>
            </a:extLst>
          </p:cNvPr>
          <p:cNvGrpSpPr/>
          <p:nvPr/>
        </p:nvGrpSpPr>
        <p:grpSpPr>
          <a:xfrm>
            <a:off x="1049600" y="3379666"/>
            <a:ext cx="7044800" cy="3478334"/>
            <a:chOff x="1098801" y="2912286"/>
            <a:chExt cx="7044800" cy="347833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63E625F-D4E9-BF93-8B7C-EA711FC5D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801" y="2912288"/>
              <a:ext cx="2347465" cy="3183714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272148F0-3DE9-FD04-ACB2-9B3A9FDAA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6266" y="2912287"/>
              <a:ext cx="2347466" cy="3183715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63D0DF53-C054-D54D-9D82-FF9347B2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6136" y="2912286"/>
              <a:ext cx="2347465" cy="3183714"/>
            </a:xfrm>
            <a:prstGeom prst="rect">
              <a:avLst/>
            </a:prstGeom>
          </p:spPr>
        </p:pic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964B7ABA-89F3-902E-DFBC-1CEB45B9EA9B}"/>
                </a:ext>
              </a:extLst>
            </p:cNvPr>
            <p:cNvSpPr txBox="1"/>
            <p:nvPr/>
          </p:nvSpPr>
          <p:spPr>
            <a:xfrm>
              <a:off x="1796073" y="6021288"/>
              <a:ext cx="95292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Pooling</a:t>
              </a:r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2A816CCC-7123-8244-2E97-CBD84F194B94}"/>
                </a:ext>
              </a:extLst>
            </p:cNvPr>
            <p:cNvSpPr txBox="1"/>
            <p:nvPr/>
          </p:nvSpPr>
          <p:spPr>
            <a:xfrm>
              <a:off x="4258755" y="6021288"/>
              <a:ext cx="72248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PCA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8FFF6F7-DEA6-8D3A-EE64-6D7D420DB42C}"/>
                </a:ext>
              </a:extLst>
            </p:cNvPr>
            <p:cNvSpPr txBox="1"/>
            <p:nvPr/>
          </p:nvSpPr>
          <p:spPr>
            <a:xfrm>
              <a:off x="6199384" y="6021288"/>
              <a:ext cx="15409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 err="1"/>
                <a:t>AutoEncoder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54803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65BA7-949A-4C5E-A147-30396E82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Distribution of Top-100 Neighbors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35733E-0802-316C-54C0-B22F9E0B3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Top-K Neighbors locate close to query</a:t>
            </a:r>
          </a:p>
          <a:p>
            <a:pPr lvl="1"/>
            <a:r>
              <a:rPr lang="en-US" altLang="zh-TW" dirty="0" err="1"/>
              <a:t>Discrminating</a:t>
            </a:r>
            <a:r>
              <a:rPr lang="en-US" altLang="zh-TW" dirty="0"/>
              <a:t> top-K neighbor from others is the key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E4A672-92D7-3E11-9071-DE3177B7F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973942" y="2878333"/>
            <a:ext cx="3563888" cy="285111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EDB36030-CACF-3AB7-536C-B21D6990AF09}"/>
              </a:ext>
            </a:extLst>
          </p:cNvPr>
          <p:cNvSpPr/>
          <p:nvPr/>
        </p:nvSpPr>
        <p:spPr bwMode="auto">
          <a:xfrm>
            <a:off x="1261964" y="3861022"/>
            <a:ext cx="1296144" cy="1170791"/>
          </a:xfrm>
          <a:prstGeom prst="ellipse">
            <a:avLst/>
          </a:pr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551D41F-63B9-38A0-3231-7C68B88C0401}"/>
              </a:ext>
            </a:extLst>
          </p:cNvPr>
          <p:cNvCxnSpPr>
            <a:cxnSpLocks/>
            <a:stCxn id="15" idx="0"/>
          </p:cNvCxnSpPr>
          <p:nvPr/>
        </p:nvCxnSpPr>
        <p:spPr bwMode="auto">
          <a:xfrm flipV="1">
            <a:off x="1484785" y="5050423"/>
            <a:ext cx="225152" cy="779413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D8AF058-D7A6-BBE7-4738-591E1F8E12F4}"/>
              </a:ext>
            </a:extLst>
          </p:cNvPr>
          <p:cNvSpPr txBox="1"/>
          <p:nvPr/>
        </p:nvSpPr>
        <p:spPr>
          <a:xfrm>
            <a:off x="557809" y="5829836"/>
            <a:ext cx="1853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Where we focus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4649D63-A721-5E23-A716-16860BD8BF89}"/>
              </a:ext>
            </a:extLst>
          </p:cNvPr>
          <p:cNvSpPr txBox="1"/>
          <p:nvPr/>
        </p:nvSpPr>
        <p:spPr>
          <a:xfrm>
            <a:off x="2682186" y="5829836"/>
            <a:ext cx="1313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Don’t care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DE7BBEF-4D04-5590-DF24-6F61EF20FFD0}"/>
              </a:ext>
            </a:extLst>
          </p:cNvPr>
          <p:cNvCxnSpPr>
            <a:cxnSpLocks/>
            <a:stCxn id="16" idx="0"/>
          </p:cNvCxnSpPr>
          <p:nvPr/>
        </p:nvCxnSpPr>
        <p:spPr bwMode="auto">
          <a:xfrm flipH="1" flipV="1">
            <a:off x="2967149" y="5229200"/>
            <a:ext cx="371588" cy="600636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1" name="圖片 20">
            <a:extLst>
              <a:ext uri="{FF2B5EF4-FFF2-40B4-BE49-F238E27FC236}">
                <a16:creationId xmlns:a16="http://schemas.microsoft.com/office/drawing/2014/main" id="{0C5FAB8E-BC87-52FF-93E0-B19267EFC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4609837" y="2878333"/>
            <a:ext cx="3563888" cy="2851111"/>
          </a:xfrm>
          <a:prstGeom prst="rect">
            <a:avLst/>
          </a:prstGeom>
        </p:spPr>
      </p:pic>
      <p:sp>
        <p:nvSpPr>
          <p:cNvPr id="25" name="橢圓 24">
            <a:extLst>
              <a:ext uri="{FF2B5EF4-FFF2-40B4-BE49-F238E27FC236}">
                <a16:creationId xmlns:a16="http://schemas.microsoft.com/office/drawing/2014/main" id="{C5F36213-A982-8D21-5A6C-A39B6127DB04}"/>
              </a:ext>
            </a:extLst>
          </p:cNvPr>
          <p:cNvSpPr/>
          <p:nvPr/>
        </p:nvSpPr>
        <p:spPr bwMode="auto">
          <a:xfrm>
            <a:off x="6788323" y="3470476"/>
            <a:ext cx="1296144" cy="1170791"/>
          </a:xfrm>
          <a:prstGeom prst="ellipse">
            <a:avLst/>
          </a:pr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A297F17-6D4A-1E54-48B1-22E28C2DC892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H="1" flipV="1">
            <a:off x="7517215" y="4725144"/>
            <a:ext cx="495618" cy="1092298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1E4F7E2-F679-45DB-480B-8B4D0F7B0DE0}"/>
              </a:ext>
            </a:extLst>
          </p:cNvPr>
          <p:cNvSpPr txBox="1"/>
          <p:nvPr/>
        </p:nvSpPr>
        <p:spPr>
          <a:xfrm>
            <a:off x="7085857" y="5817442"/>
            <a:ext cx="1853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Where we focus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9C540B4-5525-587C-5A6B-130CC4366A28}"/>
              </a:ext>
            </a:extLst>
          </p:cNvPr>
          <p:cNvSpPr txBox="1"/>
          <p:nvPr/>
        </p:nvSpPr>
        <p:spPr>
          <a:xfrm>
            <a:off x="5502330" y="5851349"/>
            <a:ext cx="1313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Don’t care</a:t>
            </a:r>
            <a:endParaRPr lang="zh-TW" altLang="en-US" dirty="0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F3B3E39-EDA4-0622-3863-440C98113035}"/>
              </a:ext>
            </a:extLst>
          </p:cNvPr>
          <p:cNvCxnSpPr>
            <a:cxnSpLocks/>
            <a:stCxn id="28" idx="0"/>
          </p:cNvCxnSpPr>
          <p:nvPr/>
        </p:nvCxnSpPr>
        <p:spPr bwMode="auto">
          <a:xfrm flipV="1">
            <a:off x="6158881" y="5181600"/>
            <a:ext cx="337701" cy="669749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3902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04C9-8BF4-29F2-05DF-3CC5FAA0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8B7E02-44BE-42E3-B063-8ED8BC08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 Makes Big Differences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25818-E234-E001-8D4F-7C89FF985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 quantization method : Percentile Quantization</a:t>
            </a:r>
          </a:p>
          <a:p>
            <a:pPr lvl="1"/>
            <a:r>
              <a:rPr lang="en-US" altLang="zh-TW" dirty="0"/>
              <a:t>Quantize data according to its percentile among all data</a:t>
            </a:r>
          </a:p>
          <a:p>
            <a:pPr lvl="1"/>
            <a:r>
              <a:rPr lang="en-US" altLang="zh-TW" dirty="0"/>
              <a:t>Non-linear quantization</a:t>
            </a:r>
          </a:p>
          <a:p>
            <a:pPr lvl="1"/>
            <a:r>
              <a:rPr lang="en-US" altLang="zh-TW" dirty="0"/>
              <a:t>Better to distinguish top-k nearest neighbors</a:t>
            </a:r>
            <a:endParaRPr lang="zh-TW" altLang="en-US" dirty="0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DEAE0928-555D-EC6B-C89E-B6ECEBB88A62}"/>
              </a:ext>
            </a:extLst>
          </p:cNvPr>
          <p:cNvGrpSpPr/>
          <p:nvPr/>
        </p:nvGrpSpPr>
        <p:grpSpPr>
          <a:xfrm>
            <a:off x="95510" y="3501008"/>
            <a:ext cx="4644008" cy="2328454"/>
            <a:chOff x="95510" y="3501008"/>
            <a:chExt cx="4644008" cy="2328454"/>
          </a:xfrm>
        </p:grpSpPr>
        <p:pic>
          <p:nvPicPr>
            <p:cNvPr id="4098" name="Picture 2" descr="Bell Curve - Overview, Characteristics, Uses">
              <a:extLst>
                <a:ext uri="{FF2B5EF4-FFF2-40B4-BE49-F238E27FC236}">
                  <a16:creationId xmlns:a16="http://schemas.microsoft.com/office/drawing/2014/main" id="{091EE6F3-DF19-3802-175B-7F9FDEE420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50" b="97348" l="1425" r="95157">
                          <a14:foregroundMark x1="4938" y1="11364" x2="3039" y2="89205"/>
                          <a14:foregroundMark x1="3039" y1="89205" x2="73504" y2="96212"/>
                          <a14:foregroundMark x1="73504" y1="96212" x2="98670" y2="85606"/>
                          <a14:foregroundMark x1="50118" y1="10777" x2="45584" y2="3788"/>
                          <a14:foregroundMark x1="98670" y1="85606" x2="51997" y2="13672"/>
                          <a14:foregroundMark x1="45584" y1="3788" x2="8737" y2="6250"/>
                          <a14:foregroundMark x1="8737" y1="6250" x2="1519" y2="10227"/>
                          <a14:foregroundMark x1="58120" y1="28409" x2="33333" y2="57765"/>
                          <a14:foregroundMark x1="33333" y1="57765" x2="60589" y2="83144"/>
                          <a14:foregroundMark x1="60589" y1="83144" x2="73124" y2="78409"/>
                          <a14:foregroundMark x1="91928" y1="38258" x2="73124" y2="25947"/>
                          <a14:foregroundMark x1="73124" y1="25947" x2="74549" y2="51515"/>
                          <a14:foregroundMark x1="74549" y1="51515" x2="92403" y2="95455"/>
                          <a14:foregroundMark x1="92403" y1="95455" x2="95157" y2="97348"/>
                          <a14:foregroundMark x1="32289" y1="27841" x2="22697" y2="73295"/>
                          <a14:foregroundMark x1="22697" y1="73295" x2="39981" y2="53220"/>
                          <a14:foregroundMark x1="39981" y1="53220" x2="39981" y2="52273"/>
                          <a14:foregroundMark x1="43590" y1="67614" x2="31529" y2="67235"/>
                          <a14:foregroundMark x1="31529" y1="67235" x2="28490" y2="93371"/>
                          <a14:foregroundMark x1="28490" y1="93371" x2="41690" y2="90720"/>
                          <a14:foregroundMark x1="3609" y1="8712" x2="2659" y2="83333"/>
                          <a14:foregroundMark x1="2659" y1="83333" x2="8737" y2="61364"/>
                          <a14:foregroundMark x1="8737" y1="61364" x2="6268" y2="59280"/>
                          <a14:backgroundMark x1="49858" y1="12311" x2="60399" y2="4735"/>
                          <a14:backgroundMark x1="61064" y1="3030" x2="65242" y2="4167"/>
                          <a14:backgroundMark x1="60494" y1="12121" x2="64862" y2="13258"/>
                          <a14:backgroundMark x1="61254" y1="11553" x2="65717" y2="12689"/>
                          <a14:backgroundMark x1="61443" y1="12121" x2="65242" y2="12689"/>
                          <a14:backgroundMark x1="60589" y1="13447" x2="66382" y2="13068"/>
                          <a14:backgroundMark x1="60969" y1="2083" x2="67331" y2="4356"/>
                          <a14:backgroundMark x1="59829" y1="3598" x2="64103" y2="3598"/>
                          <a14:backgroundMark x1="49953" y1="11364" x2="53086" y2="10038"/>
                          <a14:backgroundMark x1="52612" y1="10417" x2="59639" y2="5114"/>
                          <a14:backgroundMark x1="59069" y1="4735" x2="54416" y2="852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10" y="3501008"/>
              <a:ext cx="4644008" cy="2328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D56F2383-8A9B-133D-51A2-B92A37646E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03116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3FEBA6F0-3F0A-CF19-80AF-BD0E0D96924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0197" y="3704864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65FA100C-FAEF-4369-4211-64EAD051097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426655" y="3704864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C008CAF9-CF5D-2A7B-3C9D-7A599E36FC1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209150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81D77961-E860-BA7A-EA56-AFB57704080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276419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8AA3EBE9-D962-AD16-C454-D5B5180304FC}"/>
                </a:ext>
              </a:extLst>
            </p:cNvPr>
            <p:cNvSpPr txBox="1"/>
            <p:nvPr/>
          </p:nvSpPr>
          <p:spPr>
            <a:xfrm>
              <a:off x="1572330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33%</a:t>
              </a:r>
              <a:endParaRPr lang="zh-TW" altLang="en-US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A0E61E69-A361-7E42-2F59-ED4145B3983A}"/>
                </a:ext>
              </a:extLst>
            </p:cNvPr>
            <p:cNvSpPr txBox="1"/>
            <p:nvPr/>
          </p:nvSpPr>
          <p:spPr>
            <a:xfrm>
              <a:off x="595869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17%</a:t>
              </a:r>
              <a:endParaRPr lang="zh-TW" altLang="en-US" dirty="0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76D487CC-A6B5-7281-7FB4-9FA725F817C6}"/>
                </a:ext>
              </a:extLst>
            </p:cNvPr>
            <p:cNvSpPr txBox="1"/>
            <p:nvPr/>
          </p:nvSpPr>
          <p:spPr>
            <a:xfrm>
              <a:off x="3412434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17%</a:t>
              </a:r>
              <a:endParaRPr lang="zh-TW" altLang="en-US" dirty="0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E4CF187-8C5B-1AB9-D33B-EC49C8925F50}"/>
                </a:ext>
              </a:extLst>
            </p:cNvPr>
            <p:cNvSpPr txBox="1"/>
            <p:nvPr/>
          </p:nvSpPr>
          <p:spPr>
            <a:xfrm>
              <a:off x="2492382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33%</a:t>
              </a:r>
              <a:endParaRPr lang="zh-TW" altLang="en-US" dirty="0"/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F90A30FE-98E8-5381-EDDC-C3AA4A873199}"/>
              </a:ext>
            </a:extLst>
          </p:cNvPr>
          <p:cNvGrpSpPr/>
          <p:nvPr/>
        </p:nvGrpSpPr>
        <p:grpSpPr>
          <a:xfrm>
            <a:off x="4427984" y="3501008"/>
            <a:ext cx="4644008" cy="2328454"/>
            <a:chOff x="4427984" y="3501008"/>
            <a:chExt cx="4644008" cy="2328454"/>
          </a:xfrm>
        </p:grpSpPr>
        <p:pic>
          <p:nvPicPr>
            <p:cNvPr id="44" name="Picture 2" descr="Bell Curve - Overview, Characteristics, Uses">
              <a:extLst>
                <a:ext uri="{FF2B5EF4-FFF2-40B4-BE49-F238E27FC236}">
                  <a16:creationId xmlns:a16="http://schemas.microsoft.com/office/drawing/2014/main" id="{9CE33561-209B-E288-6AA4-B32B367C5B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50" b="97348" l="1425" r="95157">
                          <a14:foregroundMark x1="4938" y1="11364" x2="3039" y2="89205"/>
                          <a14:foregroundMark x1="3039" y1="89205" x2="73504" y2="96212"/>
                          <a14:foregroundMark x1="73504" y1="96212" x2="98670" y2="85606"/>
                          <a14:foregroundMark x1="50118" y1="10777" x2="45584" y2="3788"/>
                          <a14:foregroundMark x1="98670" y1="85606" x2="51997" y2="13672"/>
                          <a14:foregroundMark x1="45584" y1="3788" x2="8737" y2="6250"/>
                          <a14:foregroundMark x1="8737" y1="6250" x2="1519" y2="10227"/>
                          <a14:foregroundMark x1="58120" y1="28409" x2="33333" y2="57765"/>
                          <a14:foregroundMark x1="33333" y1="57765" x2="60589" y2="83144"/>
                          <a14:foregroundMark x1="60589" y1="83144" x2="73124" y2="78409"/>
                          <a14:foregroundMark x1="91928" y1="38258" x2="73124" y2="25947"/>
                          <a14:foregroundMark x1="73124" y1="25947" x2="74549" y2="51515"/>
                          <a14:foregroundMark x1="74549" y1="51515" x2="92403" y2="95455"/>
                          <a14:foregroundMark x1="92403" y1="95455" x2="95157" y2="97348"/>
                          <a14:foregroundMark x1="32289" y1="27841" x2="22697" y2="73295"/>
                          <a14:foregroundMark x1="22697" y1="73295" x2="39981" y2="53220"/>
                          <a14:foregroundMark x1="39981" y1="53220" x2="39981" y2="52273"/>
                          <a14:foregroundMark x1="43590" y1="67614" x2="31529" y2="67235"/>
                          <a14:foregroundMark x1="31529" y1="67235" x2="28490" y2="93371"/>
                          <a14:foregroundMark x1="28490" y1="93371" x2="41690" y2="90720"/>
                          <a14:foregroundMark x1="3609" y1="8712" x2="2659" y2="83333"/>
                          <a14:foregroundMark x1="2659" y1="83333" x2="8737" y2="61364"/>
                          <a14:foregroundMark x1="8737" y1="61364" x2="6268" y2="59280"/>
                          <a14:backgroundMark x1="49858" y1="12311" x2="60399" y2="4735"/>
                          <a14:backgroundMark x1="61064" y1="3030" x2="65242" y2="4167"/>
                          <a14:backgroundMark x1="60494" y1="12121" x2="64862" y2="13258"/>
                          <a14:backgroundMark x1="61254" y1="11553" x2="65717" y2="12689"/>
                          <a14:backgroundMark x1="61443" y1="12121" x2="65242" y2="12689"/>
                          <a14:backgroundMark x1="60589" y1="13447" x2="66382" y2="13068"/>
                          <a14:backgroundMark x1="60969" y1="2083" x2="67331" y2="4356"/>
                          <a14:backgroundMark x1="59829" y1="3598" x2="64103" y2="3598"/>
                          <a14:backgroundMark x1="49953" y1="11364" x2="53086" y2="10038"/>
                          <a14:backgroundMark x1="52612" y1="10417" x2="59639" y2="5114"/>
                          <a14:backgroundMark x1="59069" y1="4735" x2="54416" y2="852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984" y="3501008"/>
              <a:ext cx="4644008" cy="2328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46F5E95C-5279-E541-F3D6-9A487A09E69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35590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4D7F2EF9-8632-3BFB-DE04-E97B5F4D8B6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82671" y="3704864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79B4BC78-DFCD-9E95-25E5-3840F307E88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983737" y="3711351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E5D68D93-612D-020D-60DB-DE559B6AA03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41624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95BB2CCB-24B7-8E7E-4E54-4F11BA4C24D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476147" y="3711351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F6364B40-EBB6-51ED-0DCB-E8B986A0D2D9}"/>
                </a:ext>
              </a:extLst>
            </p:cNvPr>
            <p:cNvSpPr txBox="1"/>
            <p:nvPr/>
          </p:nvSpPr>
          <p:spPr>
            <a:xfrm>
              <a:off x="5983737" y="3678576"/>
              <a:ext cx="7421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ACFFAF90-7F5F-1B11-D70B-AAF05A432B8B}"/>
                </a:ext>
              </a:extLst>
            </p:cNvPr>
            <p:cNvSpPr txBox="1"/>
            <p:nvPr/>
          </p:nvSpPr>
          <p:spPr>
            <a:xfrm>
              <a:off x="4782671" y="3678576"/>
              <a:ext cx="12010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E1FBCBA2-CF6D-126D-4AC0-9095F6AFB308}"/>
                </a:ext>
              </a:extLst>
            </p:cNvPr>
            <p:cNvSpPr txBox="1"/>
            <p:nvPr/>
          </p:nvSpPr>
          <p:spPr>
            <a:xfrm>
              <a:off x="7466487" y="3678576"/>
              <a:ext cx="10654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FB916A5E-F401-5C39-7512-2DFC6C350C7F}"/>
                </a:ext>
              </a:extLst>
            </p:cNvPr>
            <p:cNvSpPr txBox="1"/>
            <p:nvPr/>
          </p:nvSpPr>
          <p:spPr>
            <a:xfrm>
              <a:off x="6725932" y="3678576"/>
              <a:ext cx="7405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</p:grp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53BDD7DF-0CB2-BCC7-63B4-38C79B70FCB6}"/>
              </a:ext>
            </a:extLst>
          </p:cNvPr>
          <p:cNvSpPr txBox="1"/>
          <p:nvPr/>
        </p:nvSpPr>
        <p:spPr>
          <a:xfrm>
            <a:off x="1043608" y="5740278"/>
            <a:ext cx="262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Min-max quantization</a:t>
            </a:r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86C1FF1-33B9-6ACA-F9E0-0EAC6E35F2BE}"/>
              </a:ext>
            </a:extLst>
          </p:cNvPr>
          <p:cNvSpPr txBox="1"/>
          <p:nvPr/>
        </p:nvSpPr>
        <p:spPr>
          <a:xfrm>
            <a:off x="5439631" y="5783899"/>
            <a:ext cx="262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Percentile quantization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5320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6A1FDB-DBBA-FD64-5277-A111B2BB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3F6637-ADDA-2121-7650-16AB63C41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Percentile quantization boosts the recall rate of </a:t>
            </a:r>
            <a:r>
              <a:rPr lang="en-US" altLang="zh-TW" dirty="0" err="1"/>
              <a:t>AutoEncoder</a:t>
            </a:r>
            <a:r>
              <a:rPr lang="en-US" altLang="zh-TW" dirty="0"/>
              <a:t> method</a:t>
            </a:r>
          </a:p>
          <a:p>
            <a:pPr lvl="1"/>
            <a:r>
              <a:rPr lang="en-US" altLang="zh-TW" dirty="0"/>
              <a:t>Embedding dimension: 128 -&gt; 64</a:t>
            </a:r>
          </a:p>
          <a:p>
            <a:pPr lvl="1"/>
            <a:r>
              <a:rPr lang="en-US" altLang="zh-TW" b="1" dirty="0">
                <a:solidFill>
                  <a:srgbClr val="0070C0"/>
                </a:solidFill>
              </a:rPr>
              <a:t>Blue: Min-max Quantization.    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Orange: Percentile Quantization.</a:t>
            </a:r>
          </a:p>
          <a:p>
            <a:pPr lvl="1"/>
            <a:r>
              <a:rPr lang="en-US" altLang="zh-TW" dirty="0"/>
              <a:t>Min-max   -&gt; better for long-tail distribution</a:t>
            </a:r>
          </a:p>
          <a:p>
            <a:pPr lvl="1"/>
            <a:r>
              <a:rPr lang="en-US" altLang="zh-TW" dirty="0"/>
              <a:t>Percentile -&gt; better for bell-shaped distribution </a:t>
            </a:r>
          </a:p>
          <a:p>
            <a:pPr lvl="1"/>
            <a:endParaRPr lang="en-US" altLang="zh-TW" b="1" dirty="0"/>
          </a:p>
          <a:p>
            <a:pPr lvl="1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75BDA44-20F3-266D-DB3E-C3836C60D8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9" b="50431"/>
          <a:stretch>
            <a:fillRect/>
          </a:stretch>
        </p:blipFill>
        <p:spPr>
          <a:xfrm>
            <a:off x="69089" y="3573016"/>
            <a:ext cx="6015079" cy="272614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A5DDFD6-4988-C088-42C1-AEAAA153E2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05" r="50412"/>
          <a:stretch>
            <a:fillRect/>
          </a:stretch>
        </p:blipFill>
        <p:spPr>
          <a:xfrm>
            <a:off x="6084168" y="3573016"/>
            <a:ext cx="2988329" cy="272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6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13FA79-968B-7ED0-059D-2FD06B8DE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Modification of </a:t>
            </a:r>
            <a:r>
              <a:rPr lang="en-US" altLang="zh-TW" dirty="0" err="1"/>
              <a:t>AutoEncoder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2AE16F-2490-F786-9EA3-47810A1E2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Original </a:t>
                </a:r>
                <a:r>
                  <a:rPr lang="en-US" altLang="zh-TW" dirty="0" err="1"/>
                  <a:t>AutoEncoders</a:t>
                </a:r>
                <a:r>
                  <a:rPr lang="en-US" altLang="zh-TW" dirty="0"/>
                  <a:t> consider reconstruction loss as loss function</a:t>
                </a:r>
              </a:p>
              <a:p>
                <a:pPr lvl="1"/>
                <a:r>
                  <a:rPr lang="en-US" altLang="zh-TW" dirty="0"/>
                  <a:t>Construct a low dimension space</a:t>
                </a:r>
              </a:p>
              <a:p>
                <a:pPr lvl="1"/>
                <a:r>
                  <a:rPr lang="en-US" altLang="zh-TW" dirty="0"/>
                  <a:t>Can it preserve distance information?</a:t>
                </a:r>
              </a:p>
              <a:p>
                <a:pPr lvl="1"/>
                <a:endParaRPr lang="en-US" altLang="zh-TW" dirty="0"/>
              </a:p>
              <a:p>
                <a:r>
                  <a:rPr lang="en-US" altLang="zh-TW" dirty="0"/>
                  <a:t>New loss function</a:t>
                </a:r>
              </a:p>
              <a:p>
                <a:pPr lvl="1"/>
                <a:r>
                  <a:rPr lang="en-US" altLang="zh-TW" dirty="0"/>
                  <a:t>Distance loss = MSE(distance before and after dimension reduction)</a:t>
                </a:r>
              </a:p>
              <a:p>
                <a:pPr lvl="1"/>
                <a:r>
                  <a:rPr lang="en-US" altLang="zh-TW" dirty="0"/>
                  <a:t>k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/>
                  <a:t> reconstruction loss  +  (1 - k)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distance loss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2AE16F-2490-F786-9EA3-47810A1E2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7" t="-6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 descr="筆記]Tensorflow-Lesson9_自動編碼器(Auto Encoder) - iT 邦幫忙::一起幫忙解決難題，拯救IT 人的一天">
            <a:extLst>
              <a:ext uri="{FF2B5EF4-FFF2-40B4-BE49-F238E27FC236}">
                <a16:creationId xmlns:a16="http://schemas.microsoft.com/office/drawing/2014/main" id="{F55C94A1-C14B-EE52-8BBB-9AC536AF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076700"/>
            <a:ext cx="3603284" cy="205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572FD49-F9B0-B69A-E4FF-8317D44A6331}"/>
              </a:ext>
            </a:extLst>
          </p:cNvPr>
          <p:cNvSpPr txBox="1"/>
          <p:nvPr/>
        </p:nvSpPr>
        <p:spPr>
          <a:xfrm>
            <a:off x="6372200" y="4717175"/>
            <a:ext cx="2233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Reconstruction loss 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961EF56-275B-A01C-B7C2-1B7276234433}"/>
              </a:ext>
            </a:extLst>
          </p:cNvPr>
          <p:cNvCxnSpPr>
            <a:cxnSpLocks/>
            <a:endCxn id="6" idx="1"/>
          </p:cNvCxnSpPr>
          <p:nvPr/>
        </p:nvCxnSpPr>
        <p:spPr bwMode="auto">
          <a:xfrm>
            <a:off x="6006334" y="4901841"/>
            <a:ext cx="365866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13640E9-18CA-54D7-4F4F-001B46DD2AFF}"/>
              </a:ext>
            </a:extLst>
          </p:cNvPr>
          <p:cNvSpPr txBox="1"/>
          <p:nvPr/>
        </p:nvSpPr>
        <p:spPr>
          <a:xfrm>
            <a:off x="6375058" y="5943279"/>
            <a:ext cx="2088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Distance loss 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8DC34D4-6606-2DC8-1448-4BDB7374B450}"/>
              </a:ext>
            </a:extLst>
          </p:cNvPr>
          <p:cNvCxnSpPr>
            <a:cxnSpLocks/>
            <a:stCxn id="4" idx="2"/>
            <a:endCxn id="10" idx="1"/>
          </p:cNvCxnSpPr>
          <p:nvPr/>
        </p:nvCxnSpPr>
        <p:spPr bwMode="auto">
          <a:xfrm>
            <a:off x="4141394" y="6127945"/>
            <a:ext cx="2233664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4609F08-53B4-E436-13BB-82A82EAA65D5}"/>
              </a:ext>
            </a:extLst>
          </p:cNvPr>
          <p:cNvCxnSpPr>
            <a:cxnSpLocks/>
            <a:stCxn id="4" idx="2"/>
          </p:cNvCxnSpPr>
          <p:nvPr/>
        </p:nvCxnSpPr>
        <p:spPr bwMode="auto">
          <a:xfrm flipV="1">
            <a:off x="4141394" y="5229200"/>
            <a:ext cx="0" cy="898745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31993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5C54-E031-0B99-CD38-0A47F1D8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029B80-2E24-7046-9EAA-EDCFA436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715629A-A5B6-CBE2-AD05-A15C9E87AB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76400"/>
                <a:ext cx="8511480" cy="4800600"/>
              </a:xfrm>
            </p:spPr>
            <p:txBody>
              <a:bodyPr/>
              <a:lstStyle/>
              <a:p>
                <a:r>
                  <a:rPr lang="en-US" altLang="zh-TW" dirty="0"/>
                  <a:t>New loss function</a:t>
                </a:r>
              </a:p>
              <a:p>
                <a:pPr lvl="1"/>
                <a:r>
                  <a:rPr lang="en-US" altLang="zh-TW" dirty="0"/>
                  <a:t>k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/>
                  <a:t> reconstruction loss  +  (1 - k)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distance loss</a:t>
                </a:r>
              </a:p>
              <a:p>
                <a:pPr lvl="1"/>
                <a:r>
                  <a:rPr lang="en-US" altLang="zh-TW" dirty="0"/>
                  <a:t>Recall rate increased significantly by adding distance loss into loss function</a:t>
                </a:r>
              </a:p>
              <a:p>
                <a:pPr lvl="1"/>
                <a:r>
                  <a:rPr lang="en-US" altLang="zh-TW" dirty="0"/>
                  <a:t>Considering both reconstruction and distance info achieves best recall rate</a:t>
                </a:r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715629A-A5B6-CBE2-AD05-A15C9E87AB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76400"/>
                <a:ext cx="8511480" cy="4800600"/>
              </a:xfrm>
              <a:blipFill>
                <a:blip r:embed="rId2"/>
                <a:stretch>
                  <a:fillRect l="-716" t="-6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85C22579-8B83-9FA0-0EC4-F066F1FFD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3" t="6850" r="9231" b="6813"/>
          <a:stretch>
            <a:fillRect/>
          </a:stretch>
        </p:blipFill>
        <p:spPr>
          <a:xfrm>
            <a:off x="2166869" y="3352101"/>
            <a:ext cx="4856243" cy="30003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9FA4F6BD-13BD-FEF4-FCB8-1102770E2E8F}"/>
              </a:ext>
            </a:extLst>
          </p:cNvPr>
          <p:cNvSpPr txBox="1"/>
          <p:nvPr/>
        </p:nvSpPr>
        <p:spPr>
          <a:xfrm>
            <a:off x="4594991" y="6352401"/>
            <a:ext cx="2697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k</a:t>
            </a:r>
            <a:endParaRPr lang="zh-TW" altLang="en-US" sz="1200" dirty="0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43A25F4B-5B09-EC55-12A7-02B6488E6093}"/>
              </a:ext>
            </a:extLst>
          </p:cNvPr>
          <p:cNvSpPr/>
          <p:nvPr/>
        </p:nvSpPr>
        <p:spPr bwMode="auto">
          <a:xfrm>
            <a:off x="3491880" y="3429000"/>
            <a:ext cx="432048" cy="230425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656BA3B-1473-0886-68BF-143B69A36D75}"/>
              </a:ext>
            </a:extLst>
          </p:cNvPr>
          <p:cNvCxnSpPr/>
          <p:nvPr/>
        </p:nvCxnSpPr>
        <p:spPr bwMode="auto">
          <a:xfrm flipH="1" flipV="1">
            <a:off x="3779912" y="4437112"/>
            <a:ext cx="576064" cy="288032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2653B65-410F-6DD9-8B20-89707FF25CAA}"/>
              </a:ext>
            </a:extLst>
          </p:cNvPr>
          <p:cNvSpPr txBox="1"/>
          <p:nvPr/>
        </p:nvSpPr>
        <p:spPr>
          <a:xfrm>
            <a:off x="4326015" y="4548372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Best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320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9C107-8CFF-2647-B5F4-7A2411A8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F73F66-FC7D-9602-5545-3D2E2254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ADDB44-50D7-D124-82AA-E3AEBB791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/>
              <a:t>Embedding dimension reduction</a:t>
            </a:r>
          </a:p>
          <a:p>
            <a:pPr lvl="1"/>
            <a:r>
              <a:rPr lang="en-US" altLang="zh-TW" sz="2000" dirty="0"/>
              <a:t>Average pooling is simple but effective </a:t>
            </a:r>
          </a:p>
          <a:p>
            <a:r>
              <a:rPr lang="en-US" altLang="zh-TW" sz="2200" dirty="0"/>
              <a:t>Analysis of PCA (Principle Component Analysis)</a:t>
            </a:r>
          </a:p>
          <a:p>
            <a:pPr lvl="1"/>
            <a:r>
              <a:rPr lang="en-US" altLang="zh-TW" sz="2000" dirty="0"/>
              <a:t>PCA outperforms average pooling when dimensions &lt; 60</a:t>
            </a:r>
          </a:p>
          <a:p>
            <a:r>
              <a:rPr lang="en-US" altLang="zh-TW" sz="2200" dirty="0"/>
              <a:t>Analysis of quantization method</a:t>
            </a:r>
          </a:p>
          <a:p>
            <a:pPr lvl="1"/>
            <a:r>
              <a:rPr lang="en-US" altLang="zh-TW" sz="2000" dirty="0"/>
              <a:t>Min-max quantization is better for pooling methods</a:t>
            </a:r>
          </a:p>
          <a:p>
            <a:pPr lvl="1"/>
            <a:r>
              <a:rPr lang="en-US" altLang="zh-TW" sz="2000" dirty="0"/>
              <a:t>Quantile is better for PCA and </a:t>
            </a:r>
            <a:r>
              <a:rPr lang="en-US" altLang="zh-TW" sz="2000" dirty="0" err="1"/>
              <a:t>AutoEncoders</a:t>
            </a:r>
            <a:endParaRPr lang="en-US" altLang="zh-TW" sz="2000" dirty="0"/>
          </a:p>
          <a:p>
            <a:r>
              <a:rPr lang="en-US" altLang="zh-TW" sz="2200" dirty="0"/>
              <a:t>Modification of </a:t>
            </a:r>
            <a:r>
              <a:rPr lang="en-US" altLang="zh-TW" sz="2200" dirty="0" err="1"/>
              <a:t>AutoEncoder</a:t>
            </a:r>
            <a:r>
              <a:rPr lang="en-US" altLang="zh-TW" sz="2200" dirty="0"/>
              <a:t> method</a:t>
            </a:r>
          </a:p>
          <a:p>
            <a:pPr lvl="1"/>
            <a:r>
              <a:rPr lang="en-US" altLang="zh-TW" sz="2000" dirty="0"/>
              <a:t>Preserving distance information increases recall rate</a:t>
            </a:r>
          </a:p>
          <a:p>
            <a:pPr lvl="1"/>
            <a:r>
              <a:rPr lang="en-US" altLang="zh-TW" sz="2000" dirty="0"/>
              <a:t>Best recall @ reconstruction : distance = 3 : 1</a:t>
            </a:r>
          </a:p>
          <a:p>
            <a:endParaRPr lang="en-US" altLang="zh-TW" sz="22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44590954"/>
      </p:ext>
    </p:extLst>
  </p:cSld>
  <p:clrMapOvr>
    <a:masterClrMapping/>
  </p:clrMapOvr>
</p:sld>
</file>

<file path=ppt/theme/theme1.xml><?xml version="1.0" encoding="utf-8"?>
<a:theme xmlns:a="http://schemas.openxmlformats.org/drawingml/2006/main" name="20140724_James_IC Training Final Project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84499EF8-B3CF-49EF-8C27-588E979EA3AC}" vid="{185E0B34-4C48-479A-A23B-D0210B66C092}"/>
    </a:ext>
  </a:extLst>
</a:theme>
</file>

<file path=ppt/theme/theme3.xml><?xml version="1.0" encoding="utf-8"?>
<a:theme xmlns:a="http://schemas.openxmlformats.org/drawingml/2006/main" name="1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Access2">
  <a:themeElements>
    <a:clrScheme name="自然力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>
          <a:solidFill>
            <a:schemeClr val="accent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20140724_James_IC Training Final Project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20140724_James_IC Training Final Project_v2</Template>
  <TotalTime>165841</TotalTime>
  <Words>657</Words>
  <Application>Microsoft Office PowerPoint</Application>
  <PresentationFormat>如螢幕大小 (4:3)</PresentationFormat>
  <Paragraphs>165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7</vt:i4>
      </vt:variant>
      <vt:variant>
        <vt:lpstr>投影片標題</vt:lpstr>
      </vt:variant>
      <vt:variant>
        <vt:i4>16</vt:i4>
      </vt:variant>
    </vt:vector>
  </HeadingPairs>
  <TitlesOfParts>
    <vt:vector size="32" baseType="lpstr">
      <vt:lpstr>新細明體</vt:lpstr>
      <vt:lpstr>標楷體</vt:lpstr>
      <vt:lpstr>Arial</vt:lpstr>
      <vt:lpstr>Arial Black</vt:lpstr>
      <vt:lpstr>Calibri</vt:lpstr>
      <vt:lpstr>Cambria Math</vt:lpstr>
      <vt:lpstr>Symbol</vt:lpstr>
      <vt:lpstr>Tahoma</vt:lpstr>
      <vt:lpstr>Wingdings</vt:lpstr>
      <vt:lpstr>20140724_James_IC Training Final Project_v2</vt:lpstr>
      <vt:lpstr>佈景主題1</vt:lpstr>
      <vt:lpstr>1_Access Lab</vt:lpstr>
      <vt:lpstr>2_Access Lab</vt:lpstr>
      <vt:lpstr>1_Blends</vt:lpstr>
      <vt:lpstr>Access2</vt:lpstr>
      <vt:lpstr>2_20140724_James_IC Training Final Project_v2</vt:lpstr>
      <vt:lpstr>Experiments on Dimension Reduction</vt:lpstr>
      <vt:lpstr>Outline</vt:lpstr>
      <vt:lpstr>Curse of Dimensionality</vt:lpstr>
      <vt:lpstr>Methods of Dimension Reduction</vt:lpstr>
      <vt:lpstr>Experimental Results (SIFT-1M)</vt:lpstr>
      <vt:lpstr>Experimental Results (SIFT-1M)</vt:lpstr>
      <vt:lpstr>Experimental Results (Omniglot)</vt:lpstr>
      <vt:lpstr>Analysis of PCA</vt:lpstr>
      <vt:lpstr>Data Distribution under Different Methods</vt:lpstr>
      <vt:lpstr>Data Distribution under Different Methods</vt:lpstr>
      <vt:lpstr>Distribution of Top-100 Neighbors</vt:lpstr>
      <vt:lpstr>Quantization Makes Big Differences</vt:lpstr>
      <vt:lpstr>Experimental Results</vt:lpstr>
      <vt:lpstr>Modification of AutoEncoder</vt:lpstr>
      <vt:lpstr>Experimental 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Training  Final Project</dc:title>
  <dc:creator>user</dc:creator>
  <cp:lastModifiedBy>仁軒 王</cp:lastModifiedBy>
  <cp:revision>1839</cp:revision>
  <cp:lastPrinted>2025-05-02T08:25:41Z</cp:lastPrinted>
  <dcterms:created xsi:type="dcterms:W3CDTF">2014-07-23T04:37:50Z</dcterms:created>
  <dcterms:modified xsi:type="dcterms:W3CDTF">2026-01-25T08:55:49Z</dcterms:modified>
</cp:coreProperties>
</file>