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16"/>
  </p:notesMasterIdLst>
  <p:handoutMasterIdLst>
    <p:handoutMasterId r:id="rId1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019901"/>
    <a:srgbClr val="FF0000"/>
    <a:srgbClr val="E7D4E6"/>
    <a:srgbClr val="8EB4E3"/>
    <a:srgbClr val="E6E6E6"/>
    <a:srgbClr val="F5F5F5"/>
    <a:srgbClr val="ECECEC"/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16" autoAdjust="0"/>
    <p:restoredTop sz="94573" autoAdjust="0"/>
  </p:normalViewPr>
  <p:slideViewPr>
    <p:cSldViewPr>
      <p:cViewPr varScale="1">
        <p:scale>
          <a:sx n="115" d="100"/>
          <a:sy n="115" d="100"/>
        </p:scale>
        <p:origin x="2074" y="67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10" Type="http://schemas.openxmlformats.org/officeDocument/2006/relationships/slide" Target="slides/slide3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2026/2/13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2026/2/13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6619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3770-EADD-F5D0-C37D-ABA651A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16AB0B-31E2-FBF7-342A-E15792F70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0140E31-451B-BB85-2892-36CDD7036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E2A937-9A5E-E87E-248D-7B6C77090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5111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30.png"/><Relationship Id="rId3" Type="http://schemas.openxmlformats.org/officeDocument/2006/relationships/image" Target="../media/image7.png"/><Relationship Id="rId7" Type="http://schemas.openxmlformats.org/officeDocument/2006/relationships/image" Target="../media/image19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8.png"/><Relationship Id="rId5" Type="http://schemas.openxmlformats.org/officeDocument/2006/relationships/image" Target="../media/image17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8.png"/><Relationship Id="rId9" Type="http://schemas.openxmlformats.org/officeDocument/2006/relationships/image" Target="../media/image21.png"/><Relationship Id="rId1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16" y="2133600"/>
            <a:ext cx="8928980" cy="1214438"/>
          </a:xfrm>
        </p:spPr>
        <p:txBody>
          <a:bodyPr/>
          <a:lstStyle/>
          <a:p>
            <a:r>
              <a:rPr lang="en-US" altLang="zh-TW" dirty="0"/>
              <a:t>Experiments on Dimension Reduction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068763"/>
            <a:ext cx="9144000" cy="1880517"/>
          </a:xfrm>
        </p:spPr>
        <p:txBody>
          <a:bodyPr/>
          <a:lstStyle/>
          <a:p>
            <a:r>
              <a:rPr lang="en-US" altLang="zh-TW" dirty="0"/>
              <a:t>Speaker :</a:t>
            </a:r>
            <a:r>
              <a:rPr lang="zh-TW" altLang="en-US" dirty="0"/>
              <a:t> </a:t>
            </a:r>
            <a:r>
              <a:rPr lang="en-US" altLang="zh-TW" dirty="0"/>
              <a:t>Oniontow</a:t>
            </a:r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</a:t>
            </a:r>
            <a:r>
              <a:rPr lang="en-US" altLang="zh-TW" dirty="0"/>
              <a:t>Dr. Hsiang-Yun Cheng </a:t>
            </a:r>
          </a:p>
          <a:p>
            <a:r>
              <a:rPr lang="en-US" altLang="zh-TW" dirty="0"/>
              <a:t>Date </a:t>
            </a:r>
            <a:r>
              <a:rPr lang="en-US" altLang="zh-TW"/>
              <a:t>: 2026/02/03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7F710D-9324-9990-BA9E-93FCAFCC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856154A8-0F79-2BB8-92E7-C26BD970049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5B1C783B-A109-161C-A3BB-CE2DD972B07E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CD37634A-A780-C738-043A-B3A65B4709E4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D7094E1C-911C-5B72-948A-3F16AAD4E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A38A62-4AF3-7508-AECA-EABBEBE87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C169796-AFC3-AE1A-632F-7EA3869E4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198034"/>
              </p:ext>
            </p:extLst>
          </p:nvPr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A490873-3540-E97D-ECFF-F93DFDB48F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7805073"/>
              </p:ext>
            </p:extLst>
          </p:nvPr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897DB5C-B9E1-35AF-DC61-1C7B08EE4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197028"/>
              </p:ext>
            </p:extLst>
          </p:nvPr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DD7E636-2AC5-9341-77EA-C28FC6BDC2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525736"/>
              </p:ext>
            </p:extLst>
          </p:nvPr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26F0D79F-B2A3-4F51-B1F0-B257F46B642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B6DF931-DEE9-78A2-2D12-41F6E6E368EA}"/>
              </a:ext>
            </a:extLst>
          </p:cNvPr>
          <p:cNvSpPr txBox="1"/>
          <p:nvPr/>
        </p:nvSpPr>
        <p:spPr>
          <a:xfrm>
            <a:off x="5487040" y="3802582"/>
            <a:ext cx="35127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dir.  = 0   Opposite dir. = 1</a:t>
            </a:r>
            <a:endParaRPr lang="zh-TW" altLang="en-US" sz="1600" dirty="0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4F551525-C946-DAB2-22B7-32AED5FB1044}"/>
              </a:ext>
            </a:extLst>
          </p:cNvPr>
          <p:cNvGrpSpPr/>
          <p:nvPr/>
        </p:nvGrpSpPr>
        <p:grpSpPr>
          <a:xfrm>
            <a:off x="5334074" y="4042607"/>
            <a:ext cx="3445317" cy="1128137"/>
            <a:chOff x="5240210" y="4303383"/>
            <a:chExt cx="3445317" cy="1128137"/>
          </a:xfrm>
        </p:grpSpPr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D120099C-385F-3602-4142-F9E8C860A25E}"/>
                </a:ext>
              </a:extLst>
            </p:cNvPr>
            <p:cNvGrpSpPr/>
            <p:nvPr/>
          </p:nvGrpSpPr>
          <p:grpSpPr>
            <a:xfrm>
              <a:off x="5240210" y="4303383"/>
              <a:ext cx="3445317" cy="1128137"/>
              <a:chOff x="5623920" y="4008726"/>
              <a:chExt cx="3445317" cy="1128137"/>
            </a:xfrm>
          </p:grpSpPr>
          <p:cxnSp>
            <p:nvCxnSpPr>
              <p:cNvPr id="34" name="直線單箭頭接點 33">
                <a:extLst>
                  <a:ext uri="{FF2B5EF4-FFF2-40B4-BE49-F238E27FC236}">
                    <a16:creationId xmlns:a16="http://schemas.microsoft.com/office/drawing/2014/main" id="{7BF16AF3-876E-AC4A-CD1E-1A6E9DFD087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38129" y="471903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/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直線單箭頭接點 35">
                <a:extLst>
                  <a:ext uri="{FF2B5EF4-FFF2-40B4-BE49-F238E27FC236}">
                    <a16:creationId xmlns:a16="http://schemas.microsoft.com/office/drawing/2014/main" id="{E2979B15-7891-9255-F14D-6A3913880E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8129" y="4719039"/>
                <a:ext cx="471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/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直線單箭頭接點 37">
                <a:extLst>
                  <a:ext uri="{FF2B5EF4-FFF2-40B4-BE49-F238E27FC236}">
                    <a16:creationId xmlns:a16="http://schemas.microsoft.com/office/drawing/2014/main" id="{08CC0E5C-2245-8564-BA03-07D03D1BD9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44984" y="471232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/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0" name="直線單箭頭接點 39">
                <a:extLst>
                  <a:ext uri="{FF2B5EF4-FFF2-40B4-BE49-F238E27FC236}">
                    <a16:creationId xmlns:a16="http://schemas.microsoft.com/office/drawing/2014/main" id="{B56AFDDA-83C4-C875-F40C-6414F90710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8624" y="4712329"/>
                <a:ext cx="38023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/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/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/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1−</m:t>
                          </m:r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=2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橢圓 43">
                <a:extLst>
                  <a:ext uri="{FF2B5EF4-FFF2-40B4-BE49-F238E27FC236}">
                    <a16:creationId xmlns:a16="http://schemas.microsoft.com/office/drawing/2014/main" id="{7E3859A3-1369-7064-93DE-AED0C074B566}"/>
                  </a:ext>
                </a:extLst>
              </p:cNvPr>
              <p:cNvSpPr/>
              <p:nvPr/>
            </p:nvSpPr>
            <p:spPr>
              <a:xfrm>
                <a:off x="5900922" y="4674594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5" name="橢圓 44">
                <a:extLst>
                  <a:ext uri="{FF2B5EF4-FFF2-40B4-BE49-F238E27FC236}">
                    <a16:creationId xmlns:a16="http://schemas.microsoft.com/office/drawing/2014/main" id="{FC9E4BB0-2293-3DE9-B6F9-C1DD7EF3846B}"/>
                  </a:ext>
                </a:extLst>
              </p:cNvPr>
              <p:cNvSpPr/>
              <p:nvPr/>
            </p:nvSpPr>
            <p:spPr>
              <a:xfrm>
                <a:off x="7906009" y="4666179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/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  <m:r>
                            <a:rPr kumimoji="0" lang="en-US" altLang="zh-TW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弧形 51">
              <a:extLst>
                <a:ext uri="{FF2B5EF4-FFF2-40B4-BE49-F238E27FC236}">
                  <a16:creationId xmlns:a16="http://schemas.microsoft.com/office/drawing/2014/main" id="{A88B7D27-A865-3BE8-60C0-48906044CC9E}"/>
                </a:ext>
              </a:extLst>
            </p:cNvPr>
            <p:cNvSpPr/>
            <p:nvPr/>
          </p:nvSpPr>
          <p:spPr bwMode="auto">
            <a:xfrm rot="16200000" flipH="1" flipV="1">
              <a:off x="7436191" y="4861013"/>
              <a:ext cx="249049" cy="309019"/>
            </a:xfrm>
            <a:prstGeom prst="arc">
              <a:avLst>
                <a:gd name="adj1" fmla="val 16200000"/>
                <a:gd name="adj2" fmla="val 5260261"/>
              </a:avLst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/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DC41DE76-3298-6A06-8DF2-023226A29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669746"/>
              </p:ext>
            </p:extLst>
          </p:nvPr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896CDE99-2423-EE04-A802-F0A1CA344BE1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12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14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1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C143DF13-3898-B1DC-4C0F-F510B3ECD410}"/>
              </a:ext>
            </a:extLst>
          </p:cNvPr>
          <p:cNvCxnSpPr>
            <a:cxnSpLocks/>
            <a:stCxn id="88" idx="3"/>
            <a:endCxn id="91" idx="1"/>
          </p:cNvCxnSpPr>
          <p:nvPr/>
        </p:nvCxnSpPr>
        <p:spPr bwMode="auto">
          <a:xfrm>
            <a:off x="9977036" y="5360161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0B75018E-362E-0C9F-5645-4487252538BB}"/>
              </a:ext>
            </a:extLst>
          </p:cNvPr>
          <p:cNvCxnSpPr>
            <a:cxnSpLocks/>
            <a:stCxn id="90" idx="3"/>
            <a:endCxn id="89" idx="1"/>
          </p:cNvCxnSpPr>
          <p:nvPr/>
        </p:nvCxnSpPr>
        <p:spPr bwMode="auto">
          <a:xfrm flipV="1">
            <a:off x="10517022" y="5899164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F713BB33-97F8-4823-1727-E696EE5F830D}"/>
              </a:ext>
            </a:extLst>
          </p:cNvPr>
          <p:cNvCxnSpPr>
            <a:cxnSpLocks/>
            <a:stCxn id="91" idx="3"/>
            <a:endCxn id="92" idx="1"/>
          </p:cNvCxnSpPr>
          <p:nvPr/>
        </p:nvCxnSpPr>
        <p:spPr bwMode="auto">
          <a:xfrm>
            <a:off x="11389089" y="5360161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F71682D9-BAF7-1EDC-4190-901B4F6FB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86361"/>
              </p:ext>
            </p:extLst>
          </p:nvPr>
        </p:nvGraphicFramePr>
        <p:xfrm>
          <a:off x="9617036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45CE7E8E-CF38-233C-C4A8-DB4A82FF3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597276"/>
              </p:ext>
            </p:extLst>
          </p:nvPr>
        </p:nvGraphicFramePr>
        <p:xfrm>
          <a:off x="11551532" y="516290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17C22520-4806-BCC4-445C-A50F7C0ABB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32541"/>
              </p:ext>
            </p:extLst>
          </p:nvPr>
        </p:nvGraphicFramePr>
        <p:xfrm>
          <a:off x="10157022" y="517074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835718B-8A62-7049-72AB-A36BD603A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261659"/>
              </p:ext>
            </p:extLst>
          </p:nvPr>
        </p:nvGraphicFramePr>
        <p:xfrm>
          <a:off x="11029089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627BA6DB-20D7-AF25-6FD5-3A71EBB23D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535949"/>
              </p:ext>
            </p:extLst>
          </p:nvPr>
        </p:nvGraphicFramePr>
        <p:xfrm>
          <a:off x="12411786" y="479160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93" name="直線單箭頭接點 92">
            <a:extLst>
              <a:ext uri="{FF2B5EF4-FFF2-40B4-BE49-F238E27FC236}">
                <a16:creationId xmlns:a16="http://schemas.microsoft.com/office/drawing/2014/main" id="{96F7CDE9-14EE-F039-19B5-CEAC86CEED2F}"/>
              </a:ext>
            </a:extLst>
          </p:cNvPr>
          <p:cNvCxnSpPr>
            <a:cxnSpLocks/>
            <a:stCxn id="89" idx="3"/>
            <a:endCxn id="92" idx="1"/>
          </p:cNvCxnSpPr>
          <p:nvPr/>
        </p:nvCxnSpPr>
        <p:spPr bwMode="auto">
          <a:xfrm flipV="1">
            <a:off x="11911532" y="5527866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/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blipFill>
                <a:blip r:embed="rId17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/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/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blipFill>
                <a:blip r:embed="rId19"/>
                <a:stretch>
                  <a:fillRect r="-4828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/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blipFill>
                <a:blip r:embed="rId20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/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24231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799A-551E-EC07-8F2A-A585274A6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7FFB9083-ECCC-211A-36DA-5AF2853734D3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E5C6E7C2-16EF-DBB9-D5C8-CBEA799323AC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33848D30-2DB2-295D-5EF6-1A98CF6529A3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4975CDF5-600E-4DBB-CE35-541134C6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2AEABA-500C-E0E8-1483-C9B33CAC7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21" y="1672435"/>
            <a:ext cx="8382000" cy="4800600"/>
          </a:xfrm>
        </p:spPr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8EF4BCD-D552-68E7-CF11-2235ED94EE8C}"/>
              </a:ext>
            </a:extLst>
          </p:cNvPr>
          <p:cNvGraphicFramePr>
            <a:graphicFrameLocks noGrp="1"/>
          </p:cNvGraphicFramePr>
          <p:nvPr/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EDC360C-F9CD-8794-8A61-AA9C51666711}"/>
              </a:ext>
            </a:extLst>
          </p:cNvPr>
          <p:cNvGraphicFramePr>
            <a:graphicFrameLocks noGrp="1"/>
          </p:cNvGraphicFramePr>
          <p:nvPr/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AE02A4B-FACA-3124-131E-6EE995FC0BBC}"/>
              </a:ext>
            </a:extLst>
          </p:cNvPr>
          <p:cNvGraphicFramePr>
            <a:graphicFrameLocks noGrp="1"/>
          </p:cNvGraphicFramePr>
          <p:nvPr/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E295374-370E-07EC-EC7E-662F171B8514}"/>
              </a:ext>
            </a:extLst>
          </p:cNvPr>
          <p:cNvGraphicFramePr>
            <a:graphicFrameLocks noGrp="1"/>
          </p:cNvGraphicFramePr>
          <p:nvPr/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78301353-E6E3-8375-16B9-CB926EE825C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53A9B6C6-EC81-14B1-2497-962471F5D9FF}"/>
              </a:ext>
            </a:extLst>
          </p:cNvPr>
          <p:cNvGraphicFramePr>
            <a:graphicFrameLocks noGrp="1"/>
          </p:cNvGraphicFramePr>
          <p:nvPr/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971B55E-FEF7-29B1-BC68-870D785EA832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7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8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AECF5ACC-66F2-AE13-B107-FAAFE6C0EF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297928"/>
              </p:ext>
            </p:extLst>
          </p:nvPr>
        </p:nvGraphicFramePr>
        <p:xfrm>
          <a:off x="5837132" y="379282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4E39EFD6-2E5C-F327-97A5-77A600CEAE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426130"/>
              </p:ext>
            </p:extLst>
          </p:nvPr>
        </p:nvGraphicFramePr>
        <p:xfrm>
          <a:off x="6444208" y="533382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D1158DB4-25B8-813D-E942-476C8AFA7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440996"/>
              </p:ext>
            </p:extLst>
          </p:nvPr>
        </p:nvGraphicFramePr>
        <p:xfrm>
          <a:off x="8437647" y="381133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/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/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/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964FB320-FD80-361A-D867-BDE9924C5110}"/>
              </a:ext>
            </a:extLst>
          </p:cNvPr>
          <p:cNvCxnSpPr/>
          <p:nvPr/>
        </p:nvCxnSpPr>
        <p:spPr bwMode="auto">
          <a:xfrm>
            <a:off x="6197132" y="3973661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83ECE87F-284B-698C-D0B3-27279EDA4236}"/>
              </a:ext>
            </a:extLst>
          </p:cNvPr>
          <p:cNvCxnSpPr/>
          <p:nvPr/>
        </p:nvCxnSpPr>
        <p:spPr bwMode="auto">
          <a:xfrm>
            <a:off x="6197132" y="4360937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BA4C91A5-8822-75DE-B502-979CE898C42D}"/>
              </a:ext>
            </a:extLst>
          </p:cNvPr>
          <p:cNvCxnSpPr/>
          <p:nvPr/>
        </p:nvCxnSpPr>
        <p:spPr bwMode="auto">
          <a:xfrm>
            <a:off x="6197132" y="4726606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0E5EB748-332A-FF55-9CD9-7C1174DB90BA}"/>
              </a:ext>
            </a:extLst>
          </p:cNvPr>
          <p:cNvCxnSpPr/>
          <p:nvPr/>
        </p:nvCxnSpPr>
        <p:spPr bwMode="auto">
          <a:xfrm>
            <a:off x="6197132" y="5085184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/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/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/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/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E69794C-0F66-471B-DFA1-409E31ED015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517158"/>
            <a:ext cx="225149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551EC79-B775-3F4F-9F2E-C16338A7FF2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863886"/>
            <a:ext cx="533826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5760C888-EC11-AB8E-D492-E8EBFC09D4D0}"/>
              </a:ext>
            </a:extLst>
          </p:cNvPr>
          <p:cNvCxnSpPr>
            <a:cxnSpLocks/>
          </p:cNvCxnSpPr>
          <p:nvPr/>
        </p:nvCxnSpPr>
        <p:spPr bwMode="auto">
          <a:xfrm>
            <a:off x="6804208" y="6237312"/>
            <a:ext cx="849894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C409908-0CDC-DD71-BC9F-7DF08374E2C7}"/>
              </a:ext>
            </a:extLst>
          </p:cNvPr>
          <p:cNvCxnSpPr>
            <a:cxnSpLocks/>
          </p:cNvCxnSpPr>
          <p:nvPr/>
        </p:nvCxnSpPr>
        <p:spPr bwMode="auto">
          <a:xfrm flipV="1">
            <a:off x="6804208" y="6595889"/>
            <a:ext cx="1156475" cy="1463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A013D181-A1C1-1352-C68C-4BC5C8B17547}"/>
              </a:ext>
            </a:extLst>
          </p:cNvPr>
          <p:cNvCxnSpPr>
            <a:cxnSpLocks/>
            <a:endCxn id="13" idx="2"/>
          </p:cNvCxnSpPr>
          <p:nvPr/>
        </p:nvCxnSpPr>
        <p:spPr bwMode="auto">
          <a:xfrm flipV="1">
            <a:off x="7025165" y="4124145"/>
            <a:ext cx="4192" cy="139232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1BCCEEC7-3511-E415-D078-C14A16280686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V="1">
            <a:off x="7338034" y="4519085"/>
            <a:ext cx="17082" cy="134480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F97268E9-E629-A19E-3771-72497CF2AF0F}"/>
              </a:ext>
            </a:extLst>
          </p:cNvPr>
          <p:cNvCxnSpPr>
            <a:cxnSpLocks/>
            <a:endCxn id="15" idx="2"/>
          </p:cNvCxnSpPr>
          <p:nvPr/>
        </p:nvCxnSpPr>
        <p:spPr bwMode="auto">
          <a:xfrm flipV="1">
            <a:off x="7646711" y="4898697"/>
            <a:ext cx="14783" cy="133861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F05F45BE-3578-F05F-21FA-1D3EE3A511BE}"/>
              </a:ext>
            </a:extLst>
          </p:cNvPr>
          <p:cNvCxnSpPr>
            <a:cxnSpLocks/>
            <a:endCxn id="16" idx="2"/>
          </p:cNvCxnSpPr>
          <p:nvPr/>
        </p:nvCxnSpPr>
        <p:spPr bwMode="auto">
          <a:xfrm flipV="1">
            <a:off x="7960683" y="5283854"/>
            <a:ext cx="7595" cy="131203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93645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472CE-1970-CAB9-646C-D4E89A9F8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95086-E178-825D-845C-C6CA3AF1E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</p:spPr>
            <p:txBody>
              <a:bodyPr/>
              <a:lstStyle/>
              <a:p>
                <a:r>
                  <a:rPr lang="en-US" altLang="zh-TW" dirty="0"/>
                  <a:t>Difference between Hamming distance &amp; cosine distance</a:t>
                </a:r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What if we can roughly estimate the weight?</a:t>
                </a:r>
              </a:p>
              <a:p>
                <a:pPr lvl="1"/>
                <a:r>
                  <a:rPr lang="en-US" altLang="zh-TW" dirty="0"/>
                  <a:t>Make Hamming distance more similar to cosine distance</a:t>
                </a:r>
              </a:p>
              <a:p>
                <a:pPr lvl="1"/>
                <a:r>
                  <a:rPr lang="en-US" altLang="zh-TW" dirty="0"/>
                  <a:t>Weights are multiplier in summation</a:t>
                </a:r>
              </a:p>
              <a:p>
                <a:pPr lvl="2"/>
                <a:r>
                  <a:rPr lang="en-US" altLang="zh-TW" dirty="0"/>
                  <a:t>Use logarithmic function to separate weights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COS</m:t>
                    </m:r>
                    <m:d>
                      <m:dPr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  <a:blipFill>
                <a:blip r:embed="rId3"/>
                <a:stretch>
                  <a:fillRect l="-655" t="-5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/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/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/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/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COS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a:rPr lang="en-US" altLang="zh-TW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E22206C1-A102-3EF0-A445-073A86B5AD61}"/>
              </a:ext>
            </a:extLst>
          </p:cNvPr>
          <p:cNvCxnSpPr>
            <a:cxnSpLocks/>
          </p:cNvCxnSpPr>
          <p:nvPr/>
        </p:nvCxnSpPr>
        <p:spPr bwMode="auto">
          <a:xfrm>
            <a:off x="4139153" y="3288727"/>
            <a:ext cx="115292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71C5835-1906-67FD-91EC-BE45B88F666C}"/>
              </a:ext>
            </a:extLst>
          </p:cNvPr>
          <p:cNvSpPr txBox="1"/>
          <p:nvPr/>
        </p:nvSpPr>
        <p:spPr>
          <a:xfrm>
            <a:off x="2980738" y="3643925"/>
            <a:ext cx="36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Unweighted     vs     Weighted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0525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AF1A7-A1E0-245B-2840-955175DCA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81A98F-36D0-69AC-4107-243389D01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First using Cauchy-Schwarz </a:t>
            </a:r>
            <a:r>
              <a:rPr lang="en-US" altLang="zh-TW" dirty="0" err="1"/>
              <a:t>ineq</a:t>
            </a:r>
            <a:r>
              <a:rPr lang="en-US" altLang="zh-TW" dirty="0"/>
              <a:t>.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/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nary>
                      <m:r>
                        <a:rPr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/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/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33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EFE18-FDDB-27B5-7EF5-D476605A5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4E1501-28CA-4530-4F39-F0BCBA56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56D3C0-38D6-C8F8-5196-48E064E22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Using Jensen’s </a:t>
            </a:r>
            <a:r>
              <a:rPr lang="en-US" altLang="zh-TW" dirty="0" err="1"/>
              <a:t>ineq</a:t>
            </a:r>
            <a:r>
              <a:rPr lang="en-US" altLang="zh-TW" dirty="0"/>
              <a:t>. &amp; log-cosine </a:t>
            </a:r>
            <a:r>
              <a:rPr lang="en-US" altLang="zh-TW" dirty="0" err="1"/>
              <a:t>ineq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/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/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/>
              <p:nvPr/>
            </p:nvSpPr>
            <p:spPr>
              <a:xfrm>
                <a:off x="379985" y="2132856"/>
                <a:ext cx="457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(1</m:t>
                      </m:r>
                      <m: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cos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(</m:t>
                      </m:r>
                      <m:r>
                        <a:rPr kumimoji="0" lang="zh-TW" alt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a:rPr kumimoji="0" lang="zh-TW" alt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(1</m:t>
                      </m:r>
                      <m: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cos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(</m:t>
                      </m:r>
                      <m:r>
                        <a:rPr kumimoji="0" lang="zh-TW" alt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en-US" altLang="zh-TW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5" y="2132856"/>
                <a:ext cx="4572000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圖片 12">
            <a:extLst>
              <a:ext uri="{FF2B5EF4-FFF2-40B4-BE49-F238E27FC236}">
                <a16:creationId xmlns:a16="http://schemas.microsoft.com/office/drawing/2014/main" id="{61876DC0-C79C-1930-AF2C-DE1372678A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122" y="1679534"/>
            <a:ext cx="831098" cy="10363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/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/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−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  <m: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≤−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2643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994D35-D6F5-0652-A67C-933C040CB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</p:spPr>
            <p:txBody>
              <a:bodyPr/>
              <a:lstStyle/>
              <a:p>
                <a:endParaRPr lang="en-US" altLang="zh-TW" dirty="0"/>
              </a:p>
              <a:p>
                <a:r>
                  <a:rPr lang="en-US" altLang="zh-TW" dirty="0"/>
                  <a:t>Non-linear relation between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zh-TW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</m:oMath>
                </a14:m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r>
                  <a:rPr lang="en-US" altLang="zh-TW" dirty="0"/>
                  <a:t>Loose upper/lower bound</a:t>
                </a:r>
              </a:p>
              <a:p>
                <a:pPr marL="933450" lvl="3" indent="0">
                  <a:buNone/>
                </a:pPr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A3A52A4-5627-0D62-0634-09A6AAECA68F}"/>
                  </a:ext>
                </a:extLst>
              </p:cNvPr>
              <p:cNvSpPr txBox="1"/>
              <p:nvPr/>
            </p:nvSpPr>
            <p:spPr>
              <a:xfrm>
                <a:off x="1835696" y="6986320"/>
                <a:ext cx="5272135" cy="661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≈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0" lang="en-US" altLang="zh-TW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sin</m:t>
                              </m:r>
                            </m:fName>
                            <m:e>
                              <m:r>
                                <a:rPr kumimoji="0" lang="en-US" altLang="zh-TW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1−</m:t>
                          </m:r>
                          <m:func>
                            <m:funcPr>
                              <m:ctrlPr>
                                <a:rPr kumimoji="0" lang="en-US" altLang="zh-TW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r>
                                <a:rPr kumimoji="0" lang="en-US" altLang="zh-TW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𝜙</m:t>
                              </m:r>
                            </m:e>
                          </m:func>
                        </m:den>
                      </m:f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𝜙</m:t>
                          </m:r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1−</m:t>
                          </m:r>
                          <m:func>
                            <m:funcPr>
                              <m:ctrlPr>
                                <a:rPr kumimoji="0" lang="en-US" altLang="zh-TW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r>
                                <a:rPr kumimoji="0" lang="en-US" altLang="zh-TW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𝜙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kumimoji="0" lang="en-US" altLang="zh-TW" sz="180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A3A52A4-5627-0D62-0634-09A6AAECA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696" y="6986320"/>
                <a:ext cx="5272135" cy="6617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/>
              <p:nvPr/>
            </p:nvSpPr>
            <p:spPr>
              <a:xfrm>
                <a:off x="1763350" y="2509237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3350" y="2509237"/>
                <a:ext cx="1861456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/>
              <p:nvPr/>
            </p:nvSpPr>
            <p:spPr>
              <a:xfrm>
                <a:off x="1066675" y="3616009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675" y="3616009"/>
                <a:ext cx="1861456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群組 18">
            <a:extLst>
              <a:ext uri="{FF2B5EF4-FFF2-40B4-BE49-F238E27FC236}">
                <a16:creationId xmlns:a16="http://schemas.microsoft.com/office/drawing/2014/main" id="{255397A5-E97F-0829-AE3B-A7C29F250D98}"/>
              </a:ext>
            </a:extLst>
          </p:cNvPr>
          <p:cNvGrpSpPr/>
          <p:nvPr/>
        </p:nvGrpSpPr>
        <p:grpSpPr>
          <a:xfrm>
            <a:off x="0" y="1325163"/>
            <a:ext cx="2829863" cy="4345208"/>
            <a:chOff x="103938" y="3310467"/>
            <a:chExt cx="2829863" cy="4345208"/>
          </a:xfrm>
        </p:grpSpPr>
        <p:sp>
          <p:nvSpPr>
            <p:cNvPr id="14" name="弧形 13">
              <a:extLst>
                <a:ext uri="{FF2B5EF4-FFF2-40B4-BE49-F238E27FC236}">
                  <a16:creationId xmlns:a16="http://schemas.microsoft.com/office/drawing/2014/main" id="{F277FAB6-ED46-7160-5FDC-AD466B4EC319}"/>
                </a:ext>
              </a:extLst>
            </p:cNvPr>
            <p:cNvSpPr/>
            <p:nvPr/>
          </p:nvSpPr>
          <p:spPr bwMode="auto">
            <a:xfrm flipV="1">
              <a:off x="103938" y="3310467"/>
              <a:ext cx="1887619" cy="2330378"/>
            </a:xfrm>
            <a:prstGeom prst="arc">
              <a:avLst>
                <a:gd name="adj1" fmla="val 16200000"/>
                <a:gd name="adj2" fmla="val 413"/>
              </a:avLst>
            </a:prstGeom>
            <a:noFill/>
            <a:ln w="381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8F3CEBDD-01C9-1848-1402-36BA179E40E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0681" y="4447997"/>
              <a:ext cx="0" cy="2099072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1115ACE9-F86B-87E8-D94A-7A0CA181268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950400" y="5451162"/>
              <a:ext cx="1074058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85D596A2-4FE4-89B1-7AB5-14605A0F663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6617" y="5117857"/>
              <a:ext cx="944902" cy="689430"/>
            </a:xfrm>
            <a:prstGeom prst="line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67783E4A-241C-F41D-9A06-59CD8D3B77D9}"/>
                </a:ext>
              </a:extLst>
            </p:cNvPr>
            <p:cNvSpPr/>
            <p:nvPr/>
          </p:nvSpPr>
          <p:spPr bwMode="auto">
            <a:xfrm flipH="1">
              <a:off x="1046182" y="5325297"/>
              <a:ext cx="1887619" cy="2330378"/>
            </a:xfrm>
            <a:prstGeom prst="arc">
              <a:avLst>
                <a:gd name="adj1" fmla="val 16200000"/>
                <a:gd name="adj2" fmla="val 413"/>
              </a:avLst>
            </a:prstGeom>
            <a:noFill/>
            <a:ln w="38100" cap="flat" cmpd="sng" algn="ctr">
              <a:solidFill>
                <a:srgbClr val="39663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/>
              <p:nvPr/>
            </p:nvSpPr>
            <p:spPr>
              <a:xfrm>
                <a:off x="1873688" y="2876227"/>
                <a:ext cx="847127" cy="5107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altLang="zh-TW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6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π</m:t>
                          </m:r>
                        </m:num>
                        <m:den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688" y="2876227"/>
                <a:ext cx="847127" cy="510781"/>
              </a:xfrm>
              <a:prstGeom prst="rect">
                <a:avLst/>
              </a:prstGeom>
              <a:blipFill>
                <a:blip r:embed="rId6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字方塊 22">
            <a:extLst>
              <a:ext uri="{FF2B5EF4-FFF2-40B4-BE49-F238E27FC236}">
                <a16:creationId xmlns:a16="http://schemas.microsoft.com/office/drawing/2014/main" id="{FD21E7DF-174C-7956-7769-39B9C3CA5B89}"/>
              </a:ext>
            </a:extLst>
          </p:cNvPr>
          <p:cNvSpPr txBox="1"/>
          <p:nvPr/>
        </p:nvSpPr>
        <p:spPr>
          <a:xfrm>
            <a:off x="3898302" y="2537673"/>
            <a:ext cx="2430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Apply Taylor Expansion</a:t>
            </a:r>
            <a:endParaRPr lang="zh-TW" altLang="en-US" sz="16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3FB13055-7FAA-8B25-549E-72BF3412826E}"/>
              </a:ext>
            </a:extLst>
          </p:cNvPr>
          <p:cNvSpPr txBox="1"/>
          <p:nvPr/>
        </p:nvSpPr>
        <p:spPr>
          <a:xfrm>
            <a:off x="2050834" y="5223075"/>
            <a:ext cx="10931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Clamping</a:t>
            </a:r>
            <a:endParaRPr lang="zh-TW" altLang="en-US" sz="1600" dirty="0"/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23507EFB-7380-C585-4B40-735E5BFE778E}"/>
              </a:ext>
            </a:extLst>
          </p:cNvPr>
          <p:cNvGrpSpPr/>
          <p:nvPr/>
        </p:nvGrpSpPr>
        <p:grpSpPr>
          <a:xfrm>
            <a:off x="0" y="3650745"/>
            <a:ext cx="2829863" cy="4345208"/>
            <a:chOff x="101350" y="3482174"/>
            <a:chExt cx="2829863" cy="4345208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1F1B7A9A-A7D1-D353-EA32-BCA915838321}"/>
                </a:ext>
              </a:extLst>
            </p:cNvPr>
            <p:cNvGrpSpPr/>
            <p:nvPr/>
          </p:nvGrpSpPr>
          <p:grpSpPr>
            <a:xfrm>
              <a:off x="101350" y="3482174"/>
              <a:ext cx="2829863" cy="4345208"/>
              <a:chOff x="103938" y="3310467"/>
              <a:chExt cx="2829863" cy="4345208"/>
            </a:xfrm>
          </p:grpSpPr>
          <p:sp>
            <p:nvSpPr>
              <p:cNvPr id="26" name="弧形 25">
                <a:extLst>
                  <a:ext uri="{FF2B5EF4-FFF2-40B4-BE49-F238E27FC236}">
                    <a16:creationId xmlns:a16="http://schemas.microsoft.com/office/drawing/2014/main" id="{1320EE43-2CAA-A0FC-D06B-972604534432}"/>
                  </a:ext>
                </a:extLst>
              </p:cNvPr>
              <p:cNvSpPr/>
              <p:nvPr/>
            </p:nvSpPr>
            <p:spPr bwMode="auto">
              <a:xfrm flipV="1">
                <a:off x="103938" y="3310467"/>
                <a:ext cx="1887619" cy="2330378"/>
              </a:xfrm>
              <a:prstGeom prst="arc">
                <a:avLst>
                  <a:gd name="adj1" fmla="val 16200000"/>
                  <a:gd name="adj2" fmla="val 19375330"/>
                </a:avLst>
              </a:prstGeom>
              <a:noFill/>
              <a:ln w="38100" cap="flat" cmpd="sng" algn="ctr">
                <a:solidFill>
                  <a:srgbClr val="C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cxnSp>
            <p:nvCxnSpPr>
              <p:cNvPr id="27" name="直線單箭頭接點 26">
                <a:extLst>
                  <a:ext uri="{FF2B5EF4-FFF2-40B4-BE49-F238E27FC236}">
                    <a16:creationId xmlns:a16="http://schemas.microsoft.com/office/drawing/2014/main" id="{95DE7D9D-7D2F-0FF1-D409-4CCC3BE42CC0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1040681" y="4819230"/>
                <a:ext cx="0" cy="1246375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28" name="直線單箭頭接點 27">
                <a:extLst>
                  <a:ext uri="{FF2B5EF4-FFF2-40B4-BE49-F238E27FC236}">
                    <a16:creationId xmlns:a16="http://schemas.microsoft.com/office/drawing/2014/main" id="{9BBE1A3F-6827-0C8D-7551-7D1FAE821D5F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950400" y="5451162"/>
                <a:ext cx="1074058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29" name="直線接點 28">
                <a:extLst>
                  <a:ext uri="{FF2B5EF4-FFF2-40B4-BE49-F238E27FC236}">
                    <a16:creationId xmlns:a16="http://schemas.microsoft.com/office/drawing/2014/main" id="{A5C9E89B-5846-B0FC-02F6-BC9B0F70235A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1046617" y="5117857"/>
                <a:ext cx="944902" cy="689430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30" name="弧形 29">
                <a:extLst>
                  <a:ext uri="{FF2B5EF4-FFF2-40B4-BE49-F238E27FC236}">
                    <a16:creationId xmlns:a16="http://schemas.microsoft.com/office/drawing/2014/main" id="{C3C37914-585C-9486-EC08-F425AFBA45DA}"/>
                  </a:ext>
                </a:extLst>
              </p:cNvPr>
              <p:cNvSpPr/>
              <p:nvPr/>
            </p:nvSpPr>
            <p:spPr bwMode="auto">
              <a:xfrm flipH="1">
                <a:off x="1046182" y="5325297"/>
                <a:ext cx="1887619" cy="2330378"/>
              </a:xfrm>
              <a:prstGeom prst="arc">
                <a:avLst>
                  <a:gd name="adj1" fmla="val 16200000"/>
                  <a:gd name="adj2" fmla="val 19264087"/>
                </a:avLst>
              </a:prstGeom>
              <a:noFill/>
              <a:ln w="38100" cap="flat" cmpd="sng" algn="ctr">
                <a:solidFill>
                  <a:srgbClr val="396639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p:grp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C0F2C512-5671-6B80-2290-C4AB3D159141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835696" y="5253928"/>
              <a:ext cx="186174" cy="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2D5B6ED5-74F0-17A9-04C0-9707F7268CA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038093" y="6021288"/>
              <a:ext cx="186174" cy="0"/>
            </a:xfrm>
            <a:prstGeom prst="line">
              <a:avLst/>
            </a:prstGeom>
            <a:ln w="38100">
              <a:solidFill>
                <a:schemeClr val="accent3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B7D2E1E1-ED79-2802-DBD6-77F793A2FA7B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053832" y="5253928"/>
              <a:ext cx="781864" cy="22553"/>
            </a:xfrm>
            <a:prstGeom prst="line">
              <a:avLst/>
            </a:prstGeom>
            <a:ln w="38100">
              <a:prstDash val="sysDot"/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7FA1E06C-E5D5-D807-9C61-6346E76E0447}"/>
                  </a:ext>
                </a:extLst>
              </p:cNvPr>
              <p:cNvSpPr txBox="1"/>
              <p:nvPr/>
            </p:nvSpPr>
            <p:spPr>
              <a:xfrm>
                <a:off x="588434" y="5260386"/>
                <a:ext cx="34178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 b="0" i="0" smtClean="0">
                          <a:latin typeface="Cambria Math" panose="02040503050406030204" pitchFamily="18" charset="0"/>
                        </a:rPr>
                        <m:t>β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7FA1E06C-E5D5-D807-9C61-6346E76E04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434" y="5260386"/>
                <a:ext cx="341784" cy="338554"/>
              </a:xfrm>
              <a:prstGeom prst="rect">
                <a:avLst/>
              </a:prstGeom>
              <a:blipFill>
                <a:blip r:embed="rId7"/>
                <a:stretch>
                  <a:fillRect b="-1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/>
              <p:nvPr/>
            </p:nvSpPr>
            <p:spPr>
              <a:xfrm>
                <a:off x="539635" y="5981343"/>
                <a:ext cx="466831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altLang="zh-TW" sz="1600" b="0" dirty="0"/>
                  <a:t>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1600" b="0" i="0" smtClean="0">
                        <a:latin typeface="Cambria Math" panose="02040503050406030204" pitchFamily="18" charset="0"/>
                      </a:rPr>
                      <m:t>β</m:t>
                    </m:r>
                  </m:oMath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635" y="5981343"/>
                <a:ext cx="466831" cy="338554"/>
              </a:xfrm>
              <a:prstGeom prst="rect">
                <a:avLst/>
              </a:prstGeom>
              <a:blipFill>
                <a:blip r:embed="rId8"/>
                <a:stretch>
                  <a:fillRect l="-7895" t="-5357"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/>
              <p:nvPr/>
            </p:nvSpPr>
            <p:spPr>
              <a:xfrm>
                <a:off x="3093711" y="5099718"/>
                <a:ext cx="3578424" cy="6455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unc>
                        <m:func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func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600" b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zh-TW" altLang="en-US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β</m:t>
                                  </m:r>
                                </m:num>
                                <m:den>
                                  <m:r>
                                    <a:rPr lang="en-US" altLang="zh-TW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3711" y="5099718"/>
                <a:ext cx="3578424" cy="64556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/>
              <p:nvPr/>
            </p:nvSpPr>
            <p:spPr>
              <a:xfrm>
                <a:off x="2077762" y="5683255"/>
                <a:ext cx="5154232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  <m:d>
                                    <m:dPr>
                                      <m:ctrlPr>
                                        <a:rPr lang="en-US" altLang="zh-TW" b="1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b="1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b="1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1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𝒒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b="1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𝐬𝐞𝐠</m:t>
                                              </m:r>
                                              <m:r>
                                                <a:rPr lang="en-US" altLang="zh-TW" b="1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1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𝒊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b="1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b="1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b="1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1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b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𝐬𝐞𝐠</m:t>
                                              </m:r>
                                              <m:r>
                                                <a:rPr lang="en-US" altLang="zh-TW" b="1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1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𝒊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7762" y="5683255"/>
                <a:ext cx="5154232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0537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166168</TotalTime>
  <Words>495</Words>
  <Application>Microsoft Office PowerPoint</Application>
  <PresentationFormat>如螢幕大小 (4:3)</PresentationFormat>
  <Paragraphs>194</Paragraphs>
  <Slides>8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8</vt:i4>
      </vt:variant>
    </vt:vector>
  </HeadingPairs>
  <TitlesOfParts>
    <vt:vector size="24" baseType="lpstr">
      <vt:lpstr>新細明體</vt:lpstr>
      <vt:lpstr>標楷體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Experiments on Dimension Reduction</vt:lpstr>
      <vt:lpstr>Outline</vt:lpstr>
      <vt:lpstr>Hamming Distance &amp; Cosine Distance</vt:lpstr>
      <vt:lpstr>Hamming Distance &amp; Cosine Distance</vt:lpstr>
      <vt:lpstr>Hamming Distance &amp; Cosine Distance</vt:lpstr>
      <vt:lpstr>Estimation of Weights</vt:lpstr>
      <vt:lpstr>Estimation of Weights</vt:lpstr>
      <vt:lpstr>Estimation of Weights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仁軒 王</cp:lastModifiedBy>
  <cp:revision>1855</cp:revision>
  <cp:lastPrinted>2025-05-02T08:25:41Z</cp:lastPrinted>
  <dcterms:created xsi:type="dcterms:W3CDTF">2014-07-23T04:37:50Z</dcterms:created>
  <dcterms:modified xsi:type="dcterms:W3CDTF">2026-02-13T08:46:11Z</dcterms:modified>
</cp:coreProperties>
</file>