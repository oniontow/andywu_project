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6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  <p:sldMasterId id="2147483672" r:id="rId3"/>
    <p:sldMasterId id="2147483684" r:id="rId4"/>
    <p:sldMasterId id="2147483696" r:id="rId5"/>
    <p:sldMasterId id="2147483701" r:id="rId6"/>
    <p:sldMasterId id="2147483718" r:id="rId7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9874250" cy="679767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019901"/>
    <a:srgbClr val="FF0000"/>
    <a:srgbClr val="E7D4E6"/>
    <a:srgbClr val="8EB4E3"/>
    <a:srgbClr val="E6E6E6"/>
    <a:srgbClr val="F5F5F5"/>
    <a:srgbClr val="ECECEC"/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16" autoAdjust="0"/>
    <p:restoredTop sz="94573" autoAdjust="0"/>
  </p:normalViewPr>
  <p:slideViewPr>
    <p:cSldViewPr>
      <p:cViewPr varScale="1">
        <p:scale>
          <a:sx n="115" d="100"/>
          <a:sy n="115" d="100"/>
        </p:scale>
        <p:origin x="2074" y="67"/>
      </p:cViewPr>
      <p:guideLst>
        <p:guide pos="288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45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593123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9F37E1-976C-4D68-AAA1-E18BCAC423B3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593123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BF533-2A2D-4D77-8B65-2DF21E0EF6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3881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593123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65A04-DEC0-490E-BE54-AD23B90E8F9F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87425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593123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90520D-9A8A-4E05-BB16-8C1AC1960E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7569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0520D-9A8A-4E05-BB16-8C1AC1960EE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619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13770-EADD-F5D0-C37D-ABA651A8A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B16AB0B-31E2-FBF7-342A-E15792F70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0140E31-451B-BB85-2892-36CDD7036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E2A937-9A5E-E87E-248D-7B6C770907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0520D-9A8A-4E05-BB16-8C1AC1960EE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5111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pic>
        <p:nvPicPr>
          <p:cNvPr id="5" name="Picture 2" descr="Ntulogo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52400"/>
            <a:ext cx="1600200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5562600" y="6172200"/>
            <a:ext cx="2860675" cy="468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eaLnBrk="0" hangingPunct="0"/>
            <a:r>
              <a:rPr kumimoji="0" lang="en-US" altLang="zh-TW" sz="24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4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4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4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4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4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4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kumimoji="0" lang="en-US" altLang="zh-TW" sz="1600" b="1" i="1" dirty="0">
                <a:solidFill>
                  <a:srgbClr val="303030"/>
                </a:solidFill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514600" y="762000"/>
            <a:ext cx="4953000" cy="1158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4213" y="3429000"/>
            <a:ext cx="7739062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014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68763"/>
            <a:ext cx="6400800" cy="141763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  <a:ea typeface="新細明體" pitchFamily="18" charset="-120"/>
              </a:defRPr>
            </a:lvl1pPr>
          </a:lstStyle>
          <a:p>
            <a:fld id="{879D0262-E162-403E-858F-A7EB6D2690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5603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3127822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676404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內容版面配置區 2"/>
          <p:cNvSpPr>
            <a:spLocks noGrp="1"/>
          </p:cNvSpPr>
          <p:nvPr>
            <p:ph sz="half" idx="10"/>
          </p:nvPr>
        </p:nvSpPr>
        <p:spPr>
          <a:xfrm>
            <a:off x="4610100" y="1676400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781795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5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5" y="2906719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50" indent="0">
              <a:buNone/>
              <a:defRPr sz="1800"/>
            </a:lvl2pPr>
            <a:lvl3pPr marL="914101" indent="0">
              <a:buNone/>
              <a:defRPr sz="1600"/>
            </a:lvl3pPr>
            <a:lvl4pPr marL="1371151" indent="0">
              <a:buNone/>
              <a:defRPr sz="1400"/>
            </a:lvl4pPr>
            <a:lvl5pPr marL="1828202" indent="0">
              <a:buNone/>
              <a:defRPr sz="1400"/>
            </a:lvl5pPr>
            <a:lvl6pPr marL="2285251" indent="0">
              <a:buNone/>
              <a:defRPr sz="1400"/>
            </a:lvl6pPr>
            <a:lvl7pPr marL="2742302" indent="0">
              <a:buNone/>
              <a:defRPr sz="1400"/>
            </a:lvl7pPr>
            <a:lvl8pPr marL="3199353" indent="0">
              <a:buNone/>
              <a:defRPr sz="1400"/>
            </a:lvl8pPr>
            <a:lvl9pPr marL="3656403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6786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2634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「台大校徽」的圖片搜尋結果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96022"/>
            <a:ext cx="1416496" cy="140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5562600" y="6172200"/>
            <a:ext cx="2860675" cy="468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eaLnBrk="0" hangingPunct="0"/>
            <a:r>
              <a:rPr kumimoji="0" lang="en-US" altLang="zh-TW" sz="24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4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4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4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4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4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4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kumimoji="0" lang="en-US" altLang="zh-TW" sz="1600" b="1" i="1" dirty="0">
                <a:solidFill>
                  <a:srgbClr val="303030"/>
                </a:solidFill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514600" y="762000"/>
            <a:ext cx="4953000" cy="1158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4213" y="3429000"/>
            <a:ext cx="7739062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014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68763"/>
            <a:ext cx="6400800" cy="141763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  <a:ea typeface="新細明體" pitchFamily="18" charset="-120"/>
              </a:defRPr>
            </a:lvl1pPr>
          </a:lstStyle>
          <a:p>
            <a:fld id="{879D0262-E162-403E-858F-A7EB6D2690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515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2349473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676404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內容版面配置區 2"/>
          <p:cNvSpPr>
            <a:spLocks noGrp="1"/>
          </p:cNvSpPr>
          <p:nvPr>
            <p:ph sz="half" idx="10"/>
          </p:nvPr>
        </p:nvSpPr>
        <p:spPr>
          <a:xfrm>
            <a:off x="4610100" y="1676400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942509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5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5" y="2906719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50" indent="0">
              <a:buNone/>
              <a:defRPr sz="1800"/>
            </a:lvl2pPr>
            <a:lvl3pPr marL="914101" indent="0">
              <a:buNone/>
              <a:defRPr sz="1600"/>
            </a:lvl3pPr>
            <a:lvl4pPr marL="1371151" indent="0">
              <a:buNone/>
              <a:defRPr sz="1400"/>
            </a:lvl4pPr>
            <a:lvl5pPr marL="1828202" indent="0">
              <a:buNone/>
              <a:defRPr sz="1400"/>
            </a:lvl5pPr>
            <a:lvl6pPr marL="2285251" indent="0">
              <a:buNone/>
              <a:defRPr sz="1400"/>
            </a:lvl6pPr>
            <a:lvl7pPr marL="2742302" indent="0">
              <a:buNone/>
              <a:defRPr sz="1400"/>
            </a:lvl7pPr>
            <a:lvl8pPr marL="3199353" indent="0">
              <a:buNone/>
              <a:defRPr sz="1400"/>
            </a:lvl8pPr>
            <a:lvl9pPr marL="3656403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307353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1464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224116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26213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20536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39243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86300" y="1676400"/>
            <a:ext cx="3925888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7461499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730118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768411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462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79409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479378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1438086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7500" y="762000"/>
            <a:ext cx="2095500" cy="5715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762000"/>
            <a:ext cx="6134100" cy="5715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637364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6473028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511021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3855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39243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86300" y="1676400"/>
            <a:ext cx="3925888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6800010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284307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8081703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92924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732248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1085336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533710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7500" y="762000"/>
            <a:ext cx="2095500" cy="5715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762000"/>
            <a:ext cx="6134100" cy="5715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6883865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gray">
          <a:xfrm>
            <a:off x="457200" y="2362200"/>
            <a:ext cx="8226425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270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270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124200"/>
            <a:ext cx="6400800" cy="1752600"/>
          </a:xfrm>
        </p:spPr>
        <p:txBody>
          <a:bodyPr/>
          <a:lstStyle>
            <a:lvl1pPr marL="0" indent="0" algn="ctr">
              <a:buFont typeface="標楷體" pitchFamily="65" charset="-120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04025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ea typeface="新細明體" pitchFamily="18" charset="-120"/>
              </a:defRPr>
            </a:lvl1pPr>
          </a:lstStyle>
          <a:p>
            <a:pPr>
              <a:defRPr/>
            </a:pPr>
            <a:fld id="{B7B1E775-0B96-40A8-8227-29B88E58C56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88" y="6292850"/>
            <a:ext cx="21463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3554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082090" y="6326372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B0E40-838E-44C8-8537-DA4C635197E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7712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355F5-F799-4671-9CB8-7FC2BDF19CF6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1273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070850" cy="68421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981075"/>
            <a:ext cx="3990975" cy="528796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83125" y="981075"/>
            <a:ext cx="3992563" cy="25669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83125" y="3700463"/>
            <a:ext cx="3992563" cy="256857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0B935-75A3-4F97-B8FE-48499DD033B5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2055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Ntulogo3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543800" y="152400"/>
            <a:ext cx="1600200" cy="1603375"/>
          </a:xfrm>
          <a:prstGeom prst="rect">
            <a:avLst/>
          </a:prstGeom>
          <a:noFill/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3048000" y="6858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685800" y="34290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5562600" y="6172200"/>
            <a:ext cx="2790825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06124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0A1D6E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0E2898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1234C2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E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1840EA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2349E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 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4767EF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I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6781F1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3558ED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869BF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L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A7B6F7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CDD6F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B</a:t>
            </a: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1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/>
                <a:ea typeface="新細明體"/>
                <a:cs typeface="Arial" charset="0"/>
              </a:rPr>
              <a:t>Graduate Institute of Electronics Engineering, NTU</a:t>
            </a:r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A55362-DAEE-40C4-8CB1-EA266F18E455}" type="slidenum">
              <a:rPr kumimoji="0" lang="zh-TW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944424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5754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71978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4213" y="1844675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6613" y="1844675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2151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頁尾版面配置區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66365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85789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4387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98175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53106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50421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914400"/>
            <a:ext cx="1943100" cy="534987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84213" y="914400"/>
            <a:ext cx="5678487" cy="534987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12682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4213" y="1844675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6613" y="1844675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58603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標題，四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sz="quarter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684213" y="1844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46613" y="1844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684213" y="4130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6613" y="4130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頁尾版面配置區 6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275300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4213" y="1844675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84213" y="4130675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27456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84213" y="1844675"/>
            <a:ext cx="7772400" cy="4419600"/>
          </a:xfrm>
        </p:spPr>
        <p:txBody>
          <a:bodyPr/>
          <a:lstStyle/>
          <a:p>
            <a:r>
              <a:rPr lang="zh-TW" altLang="en-US"/>
              <a:t>按一下圖示以新增表格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331321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4213" y="1844675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46613" y="1844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46613" y="4130675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0"/>
          </p:nvPr>
        </p:nvSpPr>
        <p:spPr>
          <a:xfrm>
            <a:off x="395288" y="6453188"/>
            <a:ext cx="2895600" cy="238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141729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「台大校徽」的圖片搜尋結果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96022"/>
            <a:ext cx="1416496" cy="140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5562600" y="6172200"/>
            <a:ext cx="2860675" cy="468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6124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A1D6E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E2898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1234C2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E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1840EA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2349E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 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4767EF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I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6781F1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3558ED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869BF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L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A7B6F7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CDD6F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B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1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514600" y="762000"/>
            <a:ext cx="4953000" cy="1158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4213" y="3429000"/>
            <a:ext cx="7739062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014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68763"/>
            <a:ext cx="6400800" cy="141763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  <a:ea typeface="新細明體" pitchFamily="18" charset="-12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9D0262-E162-403E-858F-A7EB6D2690C2}" type="slidenum">
              <a:rPr kumimoji="0" lang="zh-TW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962741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7720055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676404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內容版面配置區 2"/>
          <p:cNvSpPr>
            <a:spLocks noGrp="1"/>
          </p:cNvSpPr>
          <p:nvPr>
            <p:ph sz="half" idx="10"/>
          </p:nvPr>
        </p:nvSpPr>
        <p:spPr>
          <a:xfrm>
            <a:off x="4610100" y="1676400"/>
            <a:ext cx="4152900" cy="4800600"/>
          </a:xfr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2749594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5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5" y="2906719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50" indent="0">
              <a:buNone/>
              <a:defRPr sz="1800"/>
            </a:lvl2pPr>
            <a:lvl3pPr marL="914101" indent="0">
              <a:buNone/>
              <a:defRPr sz="1600"/>
            </a:lvl3pPr>
            <a:lvl4pPr marL="1371151" indent="0">
              <a:buNone/>
              <a:defRPr sz="1400"/>
            </a:lvl4pPr>
            <a:lvl5pPr marL="1828202" indent="0">
              <a:buNone/>
              <a:defRPr sz="1400"/>
            </a:lvl5pPr>
            <a:lvl6pPr marL="2285251" indent="0">
              <a:buNone/>
              <a:defRPr sz="1400"/>
            </a:lvl6pPr>
            <a:lvl7pPr marL="2742302" indent="0">
              <a:buNone/>
              <a:defRPr sz="1400"/>
            </a:lvl7pPr>
            <a:lvl8pPr marL="3199353" indent="0">
              <a:buNone/>
              <a:defRPr sz="1400"/>
            </a:lvl8pPr>
            <a:lvl9pPr marL="3656403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0878441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18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6.tif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3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55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7" name="Rectangle 3"/>
          <p:cNvSpPr>
            <a:spLocks noChangeArrowheads="1"/>
          </p:cNvSpPr>
          <p:nvPr/>
        </p:nvSpPr>
        <p:spPr bwMode="auto">
          <a:xfrm>
            <a:off x="381000" y="533400"/>
            <a:ext cx="784860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0389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2000" i="1">
                <a:latin typeface="Arial Black" pitchFamily="34" charset="0"/>
              </a:rPr>
              <a:t>               </a:t>
            </a:r>
            <a:r>
              <a:rPr kumimoji="0" lang="en-US" altLang="zh-TW" sz="1200" i="1">
                <a:latin typeface="Arial Black" pitchFamily="34" charset="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cs typeface="Arial" pitchFamily="34" charset="0"/>
              </a:rPr>
              <a:t>Graduate Institute of Electronics Engineering, NTU</a:t>
            </a:r>
          </a:p>
        </p:txBody>
      </p:sp>
      <p:pic>
        <p:nvPicPr>
          <p:cNvPr id="1028" name="Picture 6" descr="Ntulogo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338" y="0"/>
            <a:ext cx="779462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039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31" name="Rectangle 9"/>
          <p:cNvSpPr>
            <a:spLocks noChangeArrowheads="1"/>
          </p:cNvSpPr>
          <p:nvPr/>
        </p:nvSpPr>
        <p:spPr bwMode="auto">
          <a:xfrm>
            <a:off x="8545513" y="6519863"/>
            <a:ext cx="5191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eaLnBrk="0" hangingPunct="0"/>
            <a:r>
              <a:rPr lang="en-US" altLang="zh-TW" sz="1400" b="1"/>
              <a:t>P</a:t>
            </a:r>
            <a:fld id="{E0FF8C92-A794-40BC-BAC1-2D3349E2F883}" type="slidenum">
              <a:rPr lang="en-US" altLang="zh-TW" sz="1400" b="1"/>
              <a:pPr eaLnBrk="0" hangingPunct="0"/>
              <a:t>‹#›</a:t>
            </a:fld>
            <a:endParaRPr lang="en-US" altLang="zh-TW" sz="1400" b="1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81000" y="6629400"/>
            <a:ext cx="807085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  <a:cs typeface="新細明體" charset="-12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5pPr>
      <a:lvl6pPr marL="45705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91410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37115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828202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341313" indent="-341313" algn="l" rtl="0" eaLnBrk="1" fontAlgn="base" hangingPunct="1">
        <a:spcBef>
          <a:spcPct val="20000"/>
        </a:spcBef>
        <a:spcAft>
          <a:spcPct val="0"/>
        </a:spcAft>
        <a:buClr>
          <a:srgbClr val="3333CC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1pPr>
      <a:lvl2pPr marL="625475" indent="-28416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2pPr>
      <a:lvl3pPr marL="900113" indent="-227013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Font typeface="Wingdings" pitchFamily="2" charset="2"/>
        <a:buChar char="Ø"/>
        <a:defRPr kumimoji="1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3pPr>
      <a:lvl4pPr marL="1160463" indent="-227013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4pPr>
      <a:lvl5pPr marL="1433513" indent="-22701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  <a:cs typeface="新細明體" charset="-120"/>
        </a:defRPr>
      </a:lvl5pPr>
      <a:lvl6pPr marL="2513776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6pPr>
      <a:lvl7pPr marL="297082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7pPr>
      <a:lvl8pPr marL="342787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8pPr>
      <a:lvl9pPr marL="3884929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5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0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「台大校徽」的圖片搜尋結果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923" y="79943"/>
            <a:ext cx="653523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0387" name="Rectangle 3"/>
          <p:cNvSpPr>
            <a:spLocks noChangeArrowheads="1"/>
          </p:cNvSpPr>
          <p:nvPr/>
        </p:nvSpPr>
        <p:spPr bwMode="auto">
          <a:xfrm>
            <a:off x="381000" y="533400"/>
            <a:ext cx="784860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0389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2000" i="1" dirty="0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000" i="1" dirty="0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000" i="1" dirty="0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000" i="1" dirty="0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 dirty="0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000" i="1" dirty="0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 dirty="0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000" i="1" dirty="0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000" i="1" dirty="0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000" i="1" dirty="0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 dirty="0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 dirty="0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2000" i="1" dirty="0">
                <a:latin typeface="Arial Black" pitchFamily="34" charset="0"/>
              </a:rPr>
              <a:t>               </a:t>
            </a:r>
            <a:r>
              <a:rPr kumimoji="0" lang="en-US" altLang="zh-TW" sz="1200" i="1" dirty="0">
                <a:latin typeface="Arial Black" pitchFamily="34" charset="0"/>
              </a:rPr>
              <a:t> </a:t>
            </a:r>
            <a:r>
              <a:rPr kumimoji="0" lang="en-US" altLang="zh-TW" sz="1200" b="1" i="1" dirty="0">
                <a:solidFill>
                  <a:srgbClr val="303030"/>
                </a:solidFill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40039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1031" name="Rectangle 9"/>
          <p:cNvSpPr>
            <a:spLocks noChangeArrowheads="1"/>
          </p:cNvSpPr>
          <p:nvPr/>
        </p:nvSpPr>
        <p:spPr bwMode="auto">
          <a:xfrm>
            <a:off x="8545513" y="6519863"/>
            <a:ext cx="5191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eaLnBrk="0" hangingPunct="0"/>
            <a:r>
              <a:rPr lang="en-US" altLang="zh-TW" sz="1400" b="1"/>
              <a:t>P</a:t>
            </a:r>
            <a:fld id="{E0FF8C92-A794-40BC-BAC1-2D3349E2F883}" type="slidenum">
              <a:rPr lang="en-US" altLang="zh-TW" sz="1400" b="1"/>
              <a:pPr eaLnBrk="0" hangingPunct="0"/>
              <a:t>‹#›</a:t>
            </a:fld>
            <a:endParaRPr lang="en-US" altLang="zh-TW" sz="1400" b="1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81000" y="6629400"/>
            <a:ext cx="807085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2626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  <a:cs typeface="新細明體" charset="-12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5pPr>
      <a:lvl6pPr marL="45705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91410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37115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828202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341313" indent="-341313" algn="l" rtl="0" eaLnBrk="1" fontAlgn="base" hangingPunct="1">
        <a:spcBef>
          <a:spcPct val="20000"/>
        </a:spcBef>
        <a:spcAft>
          <a:spcPct val="0"/>
        </a:spcAft>
        <a:buClr>
          <a:srgbClr val="3333CC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1pPr>
      <a:lvl2pPr marL="625475" indent="-28416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2pPr>
      <a:lvl3pPr marL="900113" indent="-227013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Font typeface="Wingdings" pitchFamily="2" charset="2"/>
        <a:buChar char="Ø"/>
        <a:defRPr kumimoji="1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3pPr>
      <a:lvl4pPr marL="1160463" indent="-227013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4pPr>
      <a:lvl5pPr marL="1433513" indent="-22701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  <a:cs typeface="新細明體" charset="-120"/>
        </a:defRPr>
      </a:lvl5pPr>
      <a:lvl6pPr marL="2513776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6pPr>
      <a:lvl7pPr marL="297082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7pPr>
      <a:lvl8pPr marL="342787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8pPr>
      <a:lvl9pPr marL="3884929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5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0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373763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373764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</p:grpSp>
      <p:sp>
        <p:nvSpPr>
          <p:cNvPr id="93189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2000" i="1">
                <a:latin typeface="Arial Black" pitchFamily="34" charset="0"/>
              </a:rPr>
              <a:t>               </a:t>
            </a:r>
            <a:r>
              <a:rPr kumimoji="0" lang="en-US" altLang="zh-TW" sz="1200" i="1">
                <a:latin typeface="Arial Black" pitchFamily="34" charset="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5124" name="Picture 6" descr="Ntulogo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338" y="0"/>
            <a:ext cx="779462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/>
          </a:p>
        </p:txBody>
      </p:sp>
      <p:sp>
        <p:nvSpPr>
          <p:cNvPr id="512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8002588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127" name="Rectangle 9"/>
          <p:cNvSpPr>
            <a:spLocks noChangeArrowheads="1"/>
          </p:cNvSpPr>
          <p:nvPr/>
        </p:nvSpPr>
        <p:spPr bwMode="auto">
          <a:xfrm>
            <a:off x="8316913" y="6491288"/>
            <a:ext cx="615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/>
              <a:t>P</a:t>
            </a:r>
            <a:fld id="{77AD3F1B-307F-4955-8069-98C95E8956F5}" type="slidenum">
              <a:rPr kumimoji="0" lang="en-US" altLang="zh-TW"/>
              <a:pPr eaLnBrk="0" hangingPunct="0"/>
              <a:t>‹#›</a:t>
            </a:fld>
            <a:endParaRPr kumimoji="0" lang="en-US" altLang="zh-TW"/>
          </a:p>
        </p:txBody>
      </p:sp>
    </p:spTree>
    <p:extLst>
      <p:ext uri="{BB962C8B-B14F-4D97-AF65-F5344CB8AC3E}">
        <p14:creationId xmlns:p14="http://schemas.microsoft.com/office/powerpoint/2010/main" val="1054790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4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373763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srgbClr val="000000"/>
                </a:solidFill>
                <a:latin typeface="Arial"/>
                <a:ea typeface="新細明體"/>
              </a:endParaRPr>
            </a:p>
          </p:txBody>
        </p:sp>
        <p:sp>
          <p:nvSpPr>
            <p:cNvPr id="373764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srgbClr val="000000"/>
                </a:solidFill>
                <a:latin typeface="Arial"/>
                <a:ea typeface="新細明體"/>
              </a:endParaRPr>
            </a:p>
          </p:txBody>
        </p:sp>
      </p:grp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  <a:ea typeface="新細明體" charset="-12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  <a:ea typeface="新細明體" charset="-12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  <a:ea typeface="新細明體" charset="-12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  <a:ea typeface="新細明體" charset="-12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  <a:ea typeface="新細明體" charset="-12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  <a:ea typeface="新細明體" charset="-12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  <a:ea typeface="新細明體" charset="-12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  <a:ea typeface="新細明體" charset="-12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  <a:ea typeface="新細明體" charset="-120"/>
              </a:rPr>
              <a:t>B</a:t>
            </a:r>
            <a:r>
              <a:rPr kumimoji="0" lang="en-US" altLang="zh-TW" sz="2000" i="1">
                <a:solidFill>
                  <a:srgbClr val="000000"/>
                </a:solidFill>
                <a:latin typeface="Arial Black" pitchFamily="34" charset="0"/>
                <a:ea typeface="新細明體" charset="-120"/>
              </a:rPr>
              <a:t>               </a:t>
            </a:r>
            <a:r>
              <a:rPr kumimoji="0" lang="en-US" altLang="zh-TW" sz="1200" i="1">
                <a:solidFill>
                  <a:srgbClr val="000000"/>
                </a:solidFill>
                <a:latin typeface="Arial Black" pitchFamily="34" charset="0"/>
                <a:ea typeface="新細明體" charset="-12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ea typeface="新細明體" charset="-120"/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60422" name="Picture 6" descr="Ntulogo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288338" y="0"/>
            <a:ext cx="779462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2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/>
          </a:p>
        </p:txBody>
      </p:sp>
      <p:sp>
        <p:nvSpPr>
          <p:cNvPr id="60424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8002588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0425" name="Rectangle 9"/>
          <p:cNvSpPr>
            <a:spLocks noChangeArrowheads="1"/>
          </p:cNvSpPr>
          <p:nvPr/>
        </p:nvSpPr>
        <p:spPr bwMode="auto">
          <a:xfrm>
            <a:off x="8316913" y="6491288"/>
            <a:ext cx="615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>
                <a:solidFill>
                  <a:srgbClr val="000000"/>
                </a:solidFill>
                <a:ea typeface="新細明體" charset="-120"/>
              </a:rPr>
              <a:t>P</a:t>
            </a:r>
            <a:fld id="{C86545E2-EEFB-4DC4-8865-69F029E42BB0}" type="slidenum">
              <a:rPr kumimoji="0" lang="en-US" altLang="zh-TW">
                <a:solidFill>
                  <a:srgbClr val="000000"/>
                </a:solidFill>
                <a:ea typeface="新細明體" charset="-120"/>
              </a:rPr>
              <a:pPr eaLnBrk="0" hangingPunct="0"/>
              <a:t>‹#›</a:t>
            </a:fld>
            <a:endParaRPr kumimoji="0" lang="en-US" altLang="zh-TW">
              <a:solidFill>
                <a:srgbClr val="000000"/>
              </a:solidFill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73620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4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52400"/>
            <a:ext cx="8070850" cy="68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981075"/>
            <a:ext cx="8135938" cy="528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2598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20583" y="6346825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>
                <a:ea typeface="新細明體" pitchFamily="18" charset="-120"/>
              </a:defRPr>
            </a:lvl1pPr>
          </a:lstStyle>
          <a:p>
            <a:pPr>
              <a:defRPr/>
            </a:pPr>
            <a:fld id="{B7B1E775-0B96-40A8-8227-29B88E58C56A}" type="slidenum">
              <a:rPr lang="en-US" altLang="zh-TW" smtClean="0">
                <a:solidFill>
                  <a:srgbClr val="000000"/>
                </a:solidFill>
                <a:latin typeface="Tahoma" pitchFamily="34" charset="0"/>
              </a:rPr>
              <a:pPr>
                <a:defRPr/>
              </a:pPr>
              <a:t>‹#›</a:t>
            </a:fld>
            <a:endParaRPr lang="en-US" altLang="zh-TW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25989" name="Rectangle 5"/>
          <p:cNvSpPr>
            <a:spLocks noChangeArrowheads="1"/>
          </p:cNvSpPr>
          <p:nvPr/>
        </p:nvSpPr>
        <p:spPr bwMode="gray">
          <a:xfrm>
            <a:off x="468313" y="865188"/>
            <a:ext cx="8226425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2400">
              <a:solidFill>
                <a:srgbClr val="000000"/>
              </a:solidFill>
              <a:latin typeface="Tahoma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438" y="6292850"/>
            <a:ext cx="21463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20000"/>
        <a:buFont typeface="標楷體" pitchFamily="65" charset="-120"/>
        <a:buChar char="․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99"/>
        </a:buClr>
        <a:buSzPct val="55000"/>
        <a:buFont typeface="Symbol" pitchFamily="18" charset="2"/>
        <a:buChar char="¾"/>
        <a:defRPr kumimoji="1" sz="2000">
          <a:solidFill>
            <a:srgbClr val="000099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3300"/>
        </a:buClr>
        <a:buSzPct val="50000"/>
        <a:buFont typeface="Wingdings" pitchFamily="2" charset="2"/>
        <a:buChar char="n"/>
        <a:defRPr kumimoji="1" sz="2400">
          <a:solidFill>
            <a:srgbClr val="003300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55000"/>
        <a:buFont typeface="Wingdings" pitchFamily="2" charset="2"/>
        <a:buChar char="n"/>
        <a:defRPr kumimoji="1" sz="2000">
          <a:solidFill>
            <a:srgbClr val="990000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57200" y="714356"/>
            <a:ext cx="8229600" cy="5929513"/>
            <a:chOff x="288" y="480"/>
            <a:chExt cx="5184" cy="3644"/>
          </a:xfrm>
        </p:grpSpPr>
        <p:sp>
          <p:nvSpPr>
            <p:cNvPr id="3075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  <p:sp>
          <p:nvSpPr>
            <p:cNvPr id="3076" name="Rectangle 4"/>
            <p:cNvSpPr>
              <a:spLocks noChangeArrowheads="1"/>
            </p:cNvSpPr>
            <p:nvPr/>
          </p:nvSpPr>
          <p:spPr bwMode="auto">
            <a:xfrm>
              <a:off x="288" y="4076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</p:grp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457200" y="381000"/>
            <a:ext cx="7391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6124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A1D6E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E2898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1234C2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E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1840EA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2349E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S 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4767EF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I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6781F1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C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3558ED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869BF4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L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A7B6F7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A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CDD6FB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B</a:t>
            </a: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              </a:t>
            </a:r>
            <a:r>
              <a:rPr kumimoji="0" lang="en-US" altLang="zh-TW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新細明體"/>
                <a:cs typeface="+mn-cs"/>
              </a:rPr>
              <a:t> </a:t>
            </a:r>
            <a:r>
              <a:rPr kumimoji="0" lang="en-US" altLang="zh-TW" sz="1200" b="1" i="1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/>
                <a:ea typeface="新細明體"/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3078" name="Picture 6" descr="Ntulogo3"/>
          <p:cNvPicPr>
            <a:picLocks noChangeAspect="1" noChangeArrowheads="1"/>
          </p:cNvPicPr>
          <p:nvPr/>
        </p:nvPicPr>
        <p:blipFill>
          <a:blip r:embed="rId18" cstate="screen"/>
          <a:srcRect/>
          <a:stretch>
            <a:fillRect/>
          </a:stretch>
        </p:blipFill>
        <p:spPr bwMode="auto">
          <a:xfrm>
            <a:off x="7924800" y="228600"/>
            <a:ext cx="779463" cy="760413"/>
          </a:xfrm>
          <a:prstGeom prst="rect">
            <a:avLst/>
          </a:prstGeom>
          <a:noFill/>
        </p:spPr>
      </p:pic>
      <p:sp>
        <p:nvSpPr>
          <p:cNvPr id="3079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144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844675"/>
            <a:ext cx="77724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8582376" y="6480137"/>
            <a:ext cx="4667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8ADC59-A20A-46E1-B02E-8653EE84F743}" type="slidenum">
              <a:rPr kumimoji="0" lang="en-US" altLang="zh-TW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95288" y="6453188"/>
            <a:ext cx="28956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4142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1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9"/>
        </a:buBlip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 sz="16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「台大校徽」的圖片搜尋結果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923" y="79943"/>
            <a:ext cx="653523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0387" name="Rectangle 3"/>
          <p:cNvSpPr>
            <a:spLocks noChangeArrowheads="1"/>
          </p:cNvSpPr>
          <p:nvPr/>
        </p:nvSpPr>
        <p:spPr bwMode="auto">
          <a:xfrm>
            <a:off x="381000" y="533400"/>
            <a:ext cx="784860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00389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10" tIns="45706" rIns="91410" bIns="45706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61244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A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A1D6E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C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E2898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C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1234C2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E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1840EA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S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2349EB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S 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4767EF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I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6781F1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C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3558ED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 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869BF4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L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A7B6F7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A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CDD6FB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B</a:t>
            </a:r>
            <a:r>
              <a:rPr kumimoji="0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               </a:t>
            </a:r>
            <a:r>
              <a:rPr kumimoji="0" lang="en-US" altLang="zh-TW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itchFamily="34" charset="0"/>
                <a:ea typeface="新細明體" pitchFamily="18" charset="-120"/>
                <a:cs typeface="+mn-cs"/>
              </a:rPr>
              <a:t> </a:t>
            </a:r>
            <a:r>
              <a:rPr kumimoji="0" lang="en-US" altLang="zh-TW" sz="1200" b="1" i="1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Arial" pitchFamily="34" charset="0"/>
              </a:rPr>
              <a:t>Graduate Institute of Electronics Engineering, NTU</a:t>
            </a:r>
          </a:p>
        </p:txBody>
      </p:sp>
      <p:sp>
        <p:nvSpPr>
          <p:cNvPr id="40039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1031" name="Rectangle 9"/>
          <p:cNvSpPr>
            <a:spLocks noChangeArrowheads="1"/>
          </p:cNvSpPr>
          <p:nvPr/>
        </p:nvSpPr>
        <p:spPr bwMode="auto">
          <a:xfrm>
            <a:off x="8545513" y="6519863"/>
            <a:ext cx="5191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0" tIns="45706" rIns="91410" bIns="45706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t>P</a:t>
            </a:r>
            <a:fld id="{E0FF8C92-A794-40BC-BAC1-2D3349E2F883}" type="slidenum">
              <a:rPr kumimoji="0" lang="en-US" altLang="zh-TW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81000" y="6629400"/>
            <a:ext cx="807085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9553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  <a:cs typeface="新細明體" charset="-12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5pPr>
      <a:lvl6pPr marL="45705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91410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37115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828202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341313" indent="-341313" algn="l" rtl="0" eaLnBrk="1" fontAlgn="base" hangingPunct="1">
        <a:spcBef>
          <a:spcPct val="20000"/>
        </a:spcBef>
        <a:spcAft>
          <a:spcPct val="0"/>
        </a:spcAft>
        <a:buClr>
          <a:srgbClr val="3333CC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1pPr>
      <a:lvl2pPr marL="625475" indent="-28416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2pPr>
      <a:lvl3pPr marL="900113" indent="-227013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Font typeface="Wingdings" pitchFamily="2" charset="2"/>
        <a:buChar char="Ø"/>
        <a:defRPr kumimoji="1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3pPr>
      <a:lvl4pPr marL="1160463" indent="-227013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4pPr>
      <a:lvl5pPr marL="1433513" indent="-22701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  <a:cs typeface="新細明體" charset="-120"/>
        </a:defRPr>
      </a:lvl5pPr>
      <a:lvl6pPr marL="2513776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6pPr>
      <a:lvl7pPr marL="297082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7pPr>
      <a:lvl8pPr marL="342787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8pPr>
      <a:lvl9pPr marL="3884929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5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0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30.pn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8.png"/><Relationship Id="rId5" Type="http://schemas.openxmlformats.org/officeDocument/2006/relationships/image" Target="../media/image17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8.png"/><Relationship Id="rId9" Type="http://schemas.openxmlformats.org/officeDocument/2006/relationships/image" Target="../media/image21.png"/><Relationship Id="rId1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66220A-6C4C-46E7-C888-ECE599CD2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16" y="2133600"/>
            <a:ext cx="8928980" cy="1214438"/>
          </a:xfrm>
        </p:spPr>
        <p:txBody>
          <a:bodyPr/>
          <a:lstStyle/>
          <a:p>
            <a:r>
              <a:rPr lang="en-US" altLang="zh-TW" dirty="0"/>
              <a:t>Experiments on Dimension Reduction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FC9B766-499C-8277-B8CA-0F28632EC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068763"/>
            <a:ext cx="9144000" cy="1880517"/>
          </a:xfrm>
        </p:spPr>
        <p:txBody>
          <a:bodyPr/>
          <a:lstStyle/>
          <a:p>
            <a:r>
              <a:rPr lang="en-US" altLang="zh-TW" dirty="0"/>
              <a:t>Speaker :</a:t>
            </a:r>
            <a:r>
              <a:rPr lang="zh-TW" altLang="en-US" dirty="0"/>
              <a:t> </a:t>
            </a:r>
            <a:r>
              <a:rPr lang="en-US" altLang="zh-TW" dirty="0"/>
              <a:t>Oniontow</a:t>
            </a:r>
          </a:p>
          <a:p>
            <a:r>
              <a:rPr lang="en-US" altLang="zh-TW" dirty="0"/>
              <a:t>Mentor : Rick Huang</a:t>
            </a:r>
          </a:p>
          <a:p>
            <a:r>
              <a:rPr lang="en-US" altLang="zh-TW" dirty="0"/>
              <a:t>Advisor: Prof. An-Yeu (Andy) Wu</a:t>
            </a:r>
            <a:r>
              <a:rPr lang="zh-TW" altLang="en-US" dirty="0"/>
              <a:t> </a:t>
            </a:r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Dr. Hsiang-Yun Cheng </a:t>
            </a:r>
          </a:p>
          <a:p>
            <a:r>
              <a:rPr lang="en-US" altLang="zh-TW" dirty="0"/>
              <a:t>Date </a:t>
            </a:r>
            <a:r>
              <a:rPr lang="en-US" altLang="zh-TW"/>
              <a:t>: 2026/02/03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2671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748684-C775-7306-A334-BC575AA93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7F710D-9324-9990-BA9E-93FCAFCC0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sz="2200" dirty="0"/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37484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856154A8-0F79-2BB8-92E7-C26BD970049C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 bwMode="auto">
          <a:xfrm>
            <a:off x="853901" y="5549157"/>
            <a:ext cx="1052053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5B1C783B-A109-161C-A3BB-CE2DD972B07E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 bwMode="auto">
          <a:xfrm flipV="1">
            <a:off x="1393887" y="6088160"/>
            <a:ext cx="1034510" cy="784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CD37634A-A780-C738-043A-B3A65B4709E4}"/>
              </a:ext>
            </a:extLst>
          </p:cNvPr>
          <p:cNvCxnSpPr>
            <a:cxnSpLocks/>
            <a:stCxn id="7" idx="3"/>
            <a:endCxn id="61" idx="1"/>
          </p:cNvCxnSpPr>
          <p:nvPr/>
        </p:nvCxnSpPr>
        <p:spPr bwMode="auto">
          <a:xfrm>
            <a:off x="2265954" y="5549157"/>
            <a:ext cx="1022697" cy="16770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D7094E1C-911C-5B72-948A-3F16AAD4E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Hamming Distance &amp; Cosine Distance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A38A62-4AF3-7508-AECA-EABBEBE87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Relation between Hamming distance &amp; cosine distance</a:t>
            </a:r>
          </a:p>
          <a:p>
            <a:pPr lvl="1"/>
            <a:r>
              <a:rPr lang="en-US" altLang="zh-TW" dirty="0"/>
              <a:t>Re-interpretation of Hamming distance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Rewrite the formula of Hamming distance using cosine function</a:t>
            </a:r>
          </a:p>
          <a:p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C169796-AFC3-AE1A-632F-7EA3869E4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198034"/>
              </p:ext>
            </p:extLst>
          </p:nvPr>
        </p:nvGraphicFramePr>
        <p:xfrm>
          <a:off x="493901" y="4812897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A490873-3540-E97D-ECFF-F93DFDB48F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805073"/>
              </p:ext>
            </p:extLst>
          </p:nvPr>
        </p:nvGraphicFramePr>
        <p:xfrm>
          <a:off x="2428397" y="5351900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897DB5C-B9E1-35AF-DC61-1C7B08EE4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197028"/>
              </p:ext>
            </p:extLst>
          </p:nvPr>
        </p:nvGraphicFramePr>
        <p:xfrm>
          <a:off x="1033887" y="5359740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DD7E636-2AC5-9341-77EA-C28FC6BDC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525736"/>
              </p:ext>
            </p:extLst>
          </p:nvPr>
        </p:nvGraphicFramePr>
        <p:xfrm>
          <a:off x="1905954" y="4812897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D63A07F7-270F-562B-C115-D6A3C03E2698}"/>
                  </a:ext>
                </a:extLst>
              </p:cNvPr>
              <p:cNvSpPr txBox="1"/>
              <p:nvPr/>
            </p:nvSpPr>
            <p:spPr>
              <a:xfrm>
                <a:off x="817249" y="3789040"/>
                <a:ext cx="4572000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TW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𝜃</m:t>
                              </m:r>
                            </m:num>
                            <m:den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𝜋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D63A07F7-270F-562B-C115-D6A3C03E2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49" y="3789040"/>
                <a:ext cx="4572000" cy="8714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216DD444-FAFF-AFF2-5A4A-7ECE3C167379}"/>
                  </a:ext>
                </a:extLst>
              </p:cNvPr>
              <p:cNvSpPr txBox="1"/>
              <p:nvPr/>
            </p:nvSpPr>
            <p:spPr>
              <a:xfrm>
                <a:off x="899592" y="2364903"/>
                <a:ext cx="4047910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HAM</m:t>
                      </m:r>
                      <m:d>
                        <m:d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𝑞</m:t>
                              </m:r>
                            </m:e>
                          </m:acc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 </m:t>
                          </m:r>
                          <m:acc>
                            <m:accPr>
                              <m:chr m:val="⃑"/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𝛿</m:t>
                          </m:r>
                          <m:d>
                            <m:dPr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0" lang="en-US" altLang="zh-TW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sgn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TW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sgn</m:t>
                              </m:r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216DD444-FAFF-AFF2-5A4A-7ECE3C167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364903"/>
                <a:ext cx="4047910" cy="8714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32">
            <a:extLst>
              <a:ext uri="{FF2B5EF4-FFF2-40B4-BE49-F238E27FC236}">
                <a16:creationId xmlns:a16="http://schemas.microsoft.com/office/drawing/2014/main" id="{26F0D79F-B2A3-4F51-B1F0-B257F46B642E}"/>
              </a:ext>
            </a:extLst>
          </p:cNvPr>
          <p:cNvSpPr txBox="1"/>
          <p:nvPr/>
        </p:nvSpPr>
        <p:spPr>
          <a:xfrm>
            <a:off x="5433756" y="2636417"/>
            <a:ext cx="35796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Same sign = 0  Opposite sign = 1</a:t>
            </a:r>
            <a:endParaRPr lang="zh-TW" altLang="en-US" sz="1600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9B6DF931-DEE9-78A2-2D12-41F6E6E368EA}"/>
              </a:ext>
            </a:extLst>
          </p:cNvPr>
          <p:cNvSpPr txBox="1"/>
          <p:nvPr/>
        </p:nvSpPr>
        <p:spPr>
          <a:xfrm>
            <a:off x="5487040" y="3802582"/>
            <a:ext cx="35127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Same dir.  = 0   Opposite dir. = 1</a:t>
            </a:r>
            <a:endParaRPr lang="zh-TW" altLang="en-US" sz="1600" dirty="0"/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4F551525-C946-DAB2-22B7-32AED5FB1044}"/>
              </a:ext>
            </a:extLst>
          </p:cNvPr>
          <p:cNvGrpSpPr/>
          <p:nvPr/>
        </p:nvGrpSpPr>
        <p:grpSpPr>
          <a:xfrm>
            <a:off x="5334074" y="4042607"/>
            <a:ext cx="3445317" cy="1128137"/>
            <a:chOff x="5240210" y="4303383"/>
            <a:chExt cx="3445317" cy="1128137"/>
          </a:xfrm>
        </p:grpSpPr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D120099C-385F-3602-4142-F9E8C860A25E}"/>
                </a:ext>
              </a:extLst>
            </p:cNvPr>
            <p:cNvGrpSpPr/>
            <p:nvPr/>
          </p:nvGrpSpPr>
          <p:grpSpPr>
            <a:xfrm>
              <a:off x="5240210" y="4303383"/>
              <a:ext cx="3445317" cy="1128137"/>
              <a:chOff x="5623920" y="4008726"/>
              <a:chExt cx="3445317" cy="1128137"/>
            </a:xfrm>
          </p:grpSpPr>
          <p:cxnSp>
            <p:nvCxnSpPr>
              <p:cNvPr id="34" name="直線單箭頭接點 33">
                <a:extLst>
                  <a:ext uri="{FF2B5EF4-FFF2-40B4-BE49-F238E27FC236}">
                    <a16:creationId xmlns:a16="http://schemas.microsoft.com/office/drawing/2014/main" id="{7BF16AF3-876E-AC4A-CD1E-1A6E9DFD08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38129" y="4719039"/>
                <a:ext cx="1024675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ysDot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矩形 34">
                    <a:extLst>
                      <a:ext uri="{FF2B5EF4-FFF2-40B4-BE49-F238E27FC236}">
                        <a16:creationId xmlns:a16="http://schemas.microsoft.com/office/drawing/2014/main" id="{73B48786-1464-5C92-B711-483B5ADB1CF5}"/>
                      </a:ext>
                    </a:extLst>
                  </p:cNvPr>
                  <p:cNvSpPr/>
                  <p:nvPr/>
                </p:nvSpPr>
                <p:spPr>
                  <a:xfrm>
                    <a:off x="6694639" y="4325644"/>
                    <a:ext cx="37702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⃑"/>
                              <m:ctrlPr>
                                <a:rPr kumimoji="0" lang="en-US" altLang="zh-TW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𝒒</m:t>
                              </m:r>
                            </m:e>
                          </m:acc>
                        </m:oMath>
                      </m:oMathPara>
                    </a14:m>
                    <a:endParaRPr kumimoji="0" lang="zh-TW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5" name="矩形 34">
                    <a:extLst>
                      <a:ext uri="{FF2B5EF4-FFF2-40B4-BE49-F238E27FC236}">
                        <a16:creationId xmlns:a16="http://schemas.microsoft.com/office/drawing/2014/main" id="{73B48786-1464-5C92-B711-483B5ADB1CF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94639" y="4325644"/>
                    <a:ext cx="37702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6" name="直線單箭頭接點 35">
                <a:extLst>
                  <a:ext uri="{FF2B5EF4-FFF2-40B4-BE49-F238E27FC236}">
                    <a16:creationId xmlns:a16="http://schemas.microsoft.com/office/drawing/2014/main" id="{E2979B15-7891-9255-F14D-6A3913880E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8129" y="4719039"/>
                <a:ext cx="471675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矩形 36">
                    <a:extLst>
                      <a:ext uri="{FF2B5EF4-FFF2-40B4-BE49-F238E27FC236}">
                        <a16:creationId xmlns:a16="http://schemas.microsoft.com/office/drawing/2014/main" id="{020CAFD6-F9E8-D01B-EB56-80D4E758311D}"/>
                      </a:ext>
                    </a:extLst>
                  </p:cNvPr>
                  <p:cNvSpPr/>
                  <p:nvPr/>
                </p:nvSpPr>
                <p:spPr>
                  <a:xfrm>
                    <a:off x="6152585" y="4325644"/>
                    <a:ext cx="35298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⃑"/>
                              <m:ctrlPr>
                                <a:rPr kumimoji="0" lang="en-US" altLang="zh-TW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𝒔</m:t>
                              </m:r>
                            </m:e>
                          </m:acc>
                        </m:oMath>
                      </m:oMathPara>
                    </a14:m>
                    <a:endParaRPr kumimoji="0" lang="zh-TW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7" name="矩形 36">
                    <a:extLst>
                      <a:ext uri="{FF2B5EF4-FFF2-40B4-BE49-F238E27FC236}">
                        <a16:creationId xmlns:a16="http://schemas.microsoft.com/office/drawing/2014/main" id="{020CAFD6-F9E8-D01B-EB56-80D4E758311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52585" y="4325644"/>
                    <a:ext cx="35298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8" name="直線單箭頭接點 37">
                <a:extLst>
                  <a:ext uri="{FF2B5EF4-FFF2-40B4-BE49-F238E27FC236}">
                    <a16:creationId xmlns:a16="http://schemas.microsoft.com/office/drawing/2014/main" id="{08CC0E5C-2245-8564-BA03-07D03D1BD9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44984" y="4712329"/>
                <a:ext cx="1024675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ysDot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矩形 38">
                    <a:extLst>
                      <a:ext uri="{FF2B5EF4-FFF2-40B4-BE49-F238E27FC236}">
                        <a16:creationId xmlns:a16="http://schemas.microsoft.com/office/drawing/2014/main" id="{76037EAE-7B65-D576-563A-339F15E50FAA}"/>
                      </a:ext>
                    </a:extLst>
                  </p:cNvPr>
                  <p:cNvSpPr/>
                  <p:nvPr/>
                </p:nvSpPr>
                <p:spPr>
                  <a:xfrm>
                    <a:off x="8375586" y="4318934"/>
                    <a:ext cx="37702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⃑"/>
                              <m:ctrlPr>
                                <a:rPr kumimoji="0" lang="en-US" altLang="zh-TW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𝒒</m:t>
                              </m:r>
                            </m:e>
                          </m:acc>
                        </m:oMath>
                      </m:oMathPara>
                    </a14:m>
                    <a:endParaRPr kumimoji="0" lang="zh-TW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9" name="矩形 38">
                    <a:extLst>
                      <a:ext uri="{FF2B5EF4-FFF2-40B4-BE49-F238E27FC236}">
                        <a16:creationId xmlns:a16="http://schemas.microsoft.com/office/drawing/2014/main" id="{76037EAE-7B65-D576-563A-339F15E50FA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75586" y="4318934"/>
                    <a:ext cx="377026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0" name="直線單箭頭接點 39">
                <a:extLst>
                  <a:ext uri="{FF2B5EF4-FFF2-40B4-BE49-F238E27FC236}">
                    <a16:creationId xmlns:a16="http://schemas.microsoft.com/office/drawing/2014/main" id="{B56AFDDA-83C4-C875-F40C-6414F90710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58624" y="4712329"/>
                <a:ext cx="380235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矩形 40">
                    <a:extLst>
                      <a:ext uri="{FF2B5EF4-FFF2-40B4-BE49-F238E27FC236}">
                        <a16:creationId xmlns:a16="http://schemas.microsoft.com/office/drawing/2014/main" id="{76DE6363-9205-5B36-ABCB-662CD2E4AC2D}"/>
                      </a:ext>
                    </a:extLst>
                  </p:cNvPr>
                  <p:cNvSpPr/>
                  <p:nvPr/>
                </p:nvSpPr>
                <p:spPr>
                  <a:xfrm>
                    <a:off x="7484536" y="4318934"/>
                    <a:ext cx="35298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⃑"/>
                              <m:ctrlPr>
                                <a:rPr kumimoji="0" lang="en-US" altLang="zh-TW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𝒔</m:t>
                              </m:r>
                            </m:e>
                          </m:acc>
                        </m:oMath>
                      </m:oMathPara>
                    </a14:m>
                    <a:endParaRPr kumimoji="0" lang="zh-TW" alt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1" name="矩形 40">
                    <a:extLst>
                      <a:ext uri="{FF2B5EF4-FFF2-40B4-BE49-F238E27FC236}">
                        <a16:creationId xmlns:a16="http://schemas.microsoft.com/office/drawing/2014/main" id="{76DE6363-9205-5B36-ABCB-662CD2E4AC2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84536" y="4318934"/>
                    <a:ext cx="35298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字方塊 41">
                    <a:extLst>
                      <a:ext uri="{FF2B5EF4-FFF2-40B4-BE49-F238E27FC236}">
                        <a16:creationId xmlns:a16="http://schemas.microsoft.com/office/drawing/2014/main" id="{03D9AA0D-B033-F96C-A0D2-6BF9AB15CDB9}"/>
                      </a:ext>
                    </a:extLst>
                  </p:cNvPr>
                  <p:cNvSpPr txBox="1"/>
                  <p:nvPr/>
                </p:nvSpPr>
                <p:spPr>
                  <a:xfrm>
                    <a:off x="5723602" y="4015436"/>
                    <a:ext cx="151276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unc>
                            <m:funcPr>
                              <m:ctrlPr>
                                <a:rPr kumimoji="0" lang="en-US" altLang="zh-TW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a:rPr kumimoji="0" lang="en-US" altLang="zh-TW" sz="16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TW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altLang="zh-TW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zh-TW" alt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oMath>
                      </m:oMathPara>
                    </a14:m>
                    <a:endParaRPr kumimoji="0" lang="zh-TW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2" name="文字方塊 41">
                    <a:extLst>
                      <a:ext uri="{FF2B5EF4-FFF2-40B4-BE49-F238E27FC236}">
                        <a16:creationId xmlns:a16="http://schemas.microsoft.com/office/drawing/2014/main" id="{03D9AA0D-B033-F96C-A0D2-6BF9AB15CD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23602" y="4015436"/>
                    <a:ext cx="1512760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文字方塊 42">
                    <a:extLst>
                      <a:ext uri="{FF2B5EF4-FFF2-40B4-BE49-F238E27FC236}">
                        <a16:creationId xmlns:a16="http://schemas.microsoft.com/office/drawing/2014/main" id="{6BA073C3-F0CA-2F41-681A-D2821B6F4581}"/>
                      </a:ext>
                    </a:extLst>
                  </p:cNvPr>
                  <p:cNvSpPr txBox="1"/>
                  <p:nvPr/>
                </p:nvSpPr>
                <p:spPr>
                  <a:xfrm>
                    <a:off x="7308827" y="4008726"/>
                    <a:ext cx="176041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1−</m:t>
                          </m:r>
                          <m:func>
                            <m:funcPr>
                              <m:ctrlPr>
                                <a:rPr kumimoji="0" lang="en-US" altLang="zh-TW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zh-TW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altLang="zh-TW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zh-TW" alt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kumimoji="0" lang="en-US" altLang="zh-TW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=2</m:t>
                          </m:r>
                        </m:oMath>
                      </m:oMathPara>
                    </a14:m>
                    <a:endParaRPr kumimoji="0" lang="zh-TW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3" name="文字方塊 42">
                    <a:extLst>
                      <a:ext uri="{FF2B5EF4-FFF2-40B4-BE49-F238E27FC236}">
                        <a16:creationId xmlns:a16="http://schemas.microsoft.com/office/drawing/2014/main" id="{6BA073C3-F0CA-2F41-681A-D2821B6F45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08827" y="4008726"/>
                    <a:ext cx="1760410" cy="33855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4" name="橢圓 43">
                <a:extLst>
                  <a:ext uri="{FF2B5EF4-FFF2-40B4-BE49-F238E27FC236}">
                    <a16:creationId xmlns:a16="http://schemas.microsoft.com/office/drawing/2014/main" id="{7E3859A3-1369-7064-93DE-AED0C074B566}"/>
                  </a:ext>
                </a:extLst>
              </p:cNvPr>
              <p:cNvSpPr/>
              <p:nvPr/>
            </p:nvSpPr>
            <p:spPr>
              <a:xfrm>
                <a:off x="5900922" y="4674594"/>
                <a:ext cx="75470" cy="7547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5" name="橢圓 44">
                <a:extLst>
                  <a:ext uri="{FF2B5EF4-FFF2-40B4-BE49-F238E27FC236}">
                    <a16:creationId xmlns:a16="http://schemas.microsoft.com/office/drawing/2014/main" id="{FC9E4BB0-2293-3DE9-B6F9-C1DD7EF3846B}"/>
                  </a:ext>
                </a:extLst>
              </p:cNvPr>
              <p:cNvSpPr/>
              <p:nvPr/>
            </p:nvSpPr>
            <p:spPr>
              <a:xfrm>
                <a:off x="7906009" y="4666179"/>
                <a:ext cx="75470" cy="7547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字方塊 45">
                    <a:extLst>
                      <a:ext uri="{FF2B5EF4-FFF2-40B4-BE49-F238E27FC236}">
                        <a16:creationId xmlns:a16="http://schemas.microsoft.com/office/drawing/2014/main" id="{FEF3F7D3-3285-1328-D5F6-655AA412D7DA}"/>
                      </a:ext>
                    </a:extLst>
                  </p:cNvPr>
                  <p:cNvSpPr txBox="1"/>
                  <p:nvPr/>
                </p:nvSpPr>
                <p:spPr>
                  <a:xfrm>
                    <a:off x="5623920" y="4859864"/>
                    <a:ext cx="628417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altLang="zh-TW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  <m:r>
                            <a:rPr kumimoji="0" lang="en-US" altLang="zh-TW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oMath>
                      </m:oMathPara>
                    </a14:m>
                    <a:endParaRPr kumimoji="0" lang="zh-TW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6" name="文字方塊 45">
                    <a:extLst>
                      <a:ext uri="{FF2B5EF4-FFF2-40B4-BE49-F238E27FC236}">
                        <a16:creationId xmlns:a16="http://schemas.microsoft.com/office/drawing/2014/main" id="{FEF3F7D3-3285-1328-D5F6-655AA412D7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23920" y="4859864"/>
                    <a:ext cx="628417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2" name="弧形 51">
              <a:extLst>
                <a:ext uri="{FF2B5EF4-FFF2-40B4-BE49-F238E27FC236}">
                  <a16:creationId xmlns:a16="http://schemas.microsoft.com/office/drawing/2014/main" id="{A88B7D27-A865-3BE8-60C0-48906044CC9E}"/>
                </a:ext>
              </a:extLst>
            </p:cNvPr>
            <p:cNvSpPr/>
            <p:nvPr/>
          </p:nvSpPr>
          <p:spPr bwMode="auto">
            <a:xfrm rot="16200000" flipH="1" flipV="1">
              <a:off x="7436191" y="4861013"/>
              <a:ext cx="249049" cy="309019"/>
            </a:xfrm>
            <a:prstGeom prst="arc">
              <a:avLst>
                <a:gd name="adj1" fmla="val 16200000"/>
                <a:gd name="adj2" fmla="val 5260261"/>
              </a:avLst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BA3CE3D2-7A9F-814E-795D-F53D83D275B9}"/>
                    </a:ext>
                  </a:extLst>
                </p:cNvPr>
                <p:cNvSpPr txBox="1"/>
                <p:nvPr/>
              </p:nvSpPr>
              <p:spPr>
                <a:xfrm>
                  <a:off x="7280653" y="5126923"/>
                  <a:ext cx="593342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TW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TW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BA3CE3D2-7A9F-814E-795D-F53D83D275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0653" y="5126923"/>
                  <a:ext cx="593342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61" name="表格 60">
            <a:extLst>
              <a:ext uri="{FF2B5EF4-FFF2-40B4-BE49-F238E27FC236}">
                <a16:creationId xmlns:a16="http://schemas.microsoft.com/office/drawing/2014/main" id="{DC41DE76-3298-6A06-8DF2-023226A29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669746"/>
              </p:ext>
            </p:extLst>
          </p:nvPr>
        </p:nvGraphicFramePr>
        <p:xfrm>
          <a:off x="3288651" y="4980602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896CDE99-2423-EE04-A802-F0A1CA344BE1}"/>
              </a:ext>
            </a:extLst>
          </p:cNvPr>
          <p:cNvCxnSpPr>
            <a:cxnSpLocks/>
            <a:stCxn id="5" idx="3"/>
            <a:endCxn id="61" idx="1"/>
          </p:cNvCxnSpPr>
          <p:nvPr/>
        </p:nvCxnSpPr>
        <p:spPr bwMode="auto">
          <a:xfrm flipV="1">
            <a:off x="2788397" y="5716862"/>
            <a:ext cx="500254" cy="371298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F5ECC0CA-A63D-5AF3-13BF-668D7EF1EEBE}"/>
                  </a:ext>
                </a:extLst>
              </p:cNvPr>
              <p:cNvSpPr txBox="1"/>
              <p:nvPr/>
            </p:nvSpPr>
            <p:spPr>
              <a:xfrm>
                <a:off x="517015" y="4452200"/>
                <a:ext cx="3417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𝑞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F5ECC0CA-A63D-5AF3-13BF-668D7EF1E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5" y="4452200"/>
                <a:ext cx="341784" cy="369332"/>
              </a:xfrm>
              <a:prstGeom prst="rect">
                <a:avLst/>
              </a:prstGeom>
              <a:blipFill>
                <a:blip r:embed="rId12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B65D1ACD-5D27-F317-7BE8-E81681A821BE}"/>
                  </a:ext>
                </a:extLst>
              </p:cNvPr>
              <p:cNvSpPr txBox="1"/>
              <p:nvPr/>
            </p:nvSpPr>
            <p:spPr>
              <a:xfrm>
                <a:off x="1038681" y="5019475"/>
                <a:ext cx="3417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𝑠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B65D1ACD-5D27-F317-7BE8-E81681A82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681" y="5019475"/>
                <a:ext cx="34178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6BFA4382-5345-93EE-E661-137C435BB134}"/>
                  </a:ext>
                </a:extLst>
              </p:cNvPr>
              <p:cNvSpPr txBox="1"/>
              <p:nvPr/>
            </p:nvSpPr>
            <p:spPr>
              <a:xfrm>
                <a:off x="1652634" y="4465477"/>
                <a:ext cx="8881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TW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sgn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⁡(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𝑞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6BFA4382-5345-93EE-E661-137C435BB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634" y="4465477"/>
                <a:ext cx="888142" cy="369332"/>
              </a:xfrm>
              <a:prstGeom prst="rect">
                <a:avLst/>
              </a:prstGeom>
              <a:blipFill>
                <a:blip r:embed="rId14"/>
                <a:stretch>
                  <a:fillRect r="-4110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0534950C-0CFE-300B-EBA4-133488FE3D2D}"/>
                  </a:ext>
                </a:extLst>
              </p:cNvPr>
              <p:cNvSpPr txBox="1"/>
              <p:nvPr/>
            </p:nvSpPr>
            <p:spPr>
              <a:xfrm>
                <a:off x="2213824" y="5011290"/>
                <a:ext cx="8948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sgn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altLang="zh-TW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0534950C-0CFE-300B-EBA4-133488FE3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824" y="5011290"/>
                <a:ext cx="894841" cy="369332"/>
              </a:xfrm>
              <a:prstGeom prst="rect">
                <a:avLst/>
              </a:prstGeom>
              <a:blipFill>
                <a:blip r:embed="rId1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7A088FD2-18C6-EEED-9DDF-5BF1002CC478}"/>
                  </a:ext>
                </a:extLst>
              </p:cNvPr>
              <p:cNvSpPr txBox="1"/>
              <p:nvPr/>
            </p:nvSpPr>
            <p:spPr>
              <a:xfrm>
                <a:off x="3297988" y="4650143"/>
                <a:ext cx="3413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𝛿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7A088FD2-18C6-EEED-9DDF-5BF1002CC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988" y="4650143"/>
                <a:ext cx="341326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直線單箭頭接點 84">
            <a:extLst>
              <a:ext uri="{FF2B5EF4-FFF2-40B4-BE49-F238E27FC236}">
                <a16:creationId xmlns:a16="http://schemas.microsoft.com/office/drawing/2014/main" id="{C143DF13-3898-B1DC-4C0F-F510B3ECD410}"/>
              </a:ext>
            </a:extLst>
          </p:cNvPr>
          <p:cNvCxnSpPr>
            <a:cxnSpLocks/>
            <a:stCxn id="88" idx="3"/>
            <a:endCxn id="91" idx="1"/>
          </p:cNvCxnSpPr>
          <p:nvPr/>
        </p:nvCxnSpPr>
        <p:spPr bwMode="auto">
          <a:xfrm>
            <a:off x="9977036" y="5360161"/>
            <a:ext cx="1052053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86" name="直線單箭頭接點 85">
            <a:extLst>
              <a:ext uri="{FF2B5EF4-FFF2-40B4-BE49-F238E27FC236}">
                <a16:creationId xmlns:a16="http://schemas.microsoft.com/office/drawing/2014/main" id="{0B75018E-362E-0C9F-5645-4487252538BB}"/>
              </a:ext>
            </a:extLst>
          </p:cNvPr>
          <p:cNvCxnSpPr>
            <a:cxnSpLocks/>
            <a:stCxn id="90" idx="3"/>
            <a:endCxn id="89" idx="1"/>
          </p:cNvCxnSpPr>
          <p:nvPr/>
        </p:nvCxnSpPr>
        <p:spPr bwMode="auto">
          <a:xfrm flipV="1">
            <a:off x="10517022" y="5899164"/>
            <a:ext cx="1034510" cy="784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87" name="直線單箭頭接點 86">
            <a:extLst>
              <a:ext uri="{FF2B5EF4-FFF2-40B4-BE49-F238E27FC236}">
                <a16:creationId xmlns:a16="http://schemas.microsoft.com/office/drawing/2014/main" id="{F713BB33-97F8-4823-1727-E696EE5F830D}"/>
              </a:ext>
            </a:extLst>
          </p:cNvPr>
          <p:cNvCxnSpPr>
            <a:cxnSpLocks/>
            <a:stCxn id="91" idx="3"/>
            <a:endCxn id="92" idx="1"/>
          </p:cNvCxnSpPr>
          <p:nvPr/>
        </p:nvCxnSpPr>
        <p:spPr bwMode="auto">
          <a:xfrm>
            <a:off x="11389089" y="5360161"/>
            <a:ext cx="1022697" cy="16770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graphicFrame>
        <p:nvGraphicFramePr>
          <p:cNvPr id="88" name="表格 87">
            <a:extLst>
              <a:ext uri="{FF2B5EF4-FFF2-40B4-BE49-F238E27FC236}">
                <a16:creationId xmlns:a16="http://schemas.microsoft.com/office/drawing/2014/main" id="{F71682D9-BAF7-1EDC-4190-901B4F6FB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086361"/>
              </p:ext>
            </p:extLst>
          </p:nvPr>
        </p:nvGraphicFramePr>
        <p:xfrm>
          <a:off x="9617036" y="4623901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89" name="表格 88">
            <a:extLst>
              <a:ext uri="{FF2B5EF4-FFF2-40B4-BE49-F238E27FC236}">
                <a16:creationId xmlns:a16="http://schemas.microsoft.com/office/drawing/2014/main" id="{45CE7E8E-CF38-233C-C4A8-DB4A82FF3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597276"/>
              </p:ext>
            </p:extLst>
          </p:nvPr>
        </p:nvGraphicFramePr>
        <p:xfrm>
          <a:off x="11551532" y="5162904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90" name="表格 89">
            <a:extLst>
              <a:ext uri="{FF2B5EF4-FFF2-40B4-BE49-F238E27FC236}">
                <a16:creationId xmlns:a16="http://schemas.microsoft.com/office/drawing/2014/main" id="{17C22520-4806-BCC4-445C-A50F7C0AB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32541"/>
              </p:ext>
            </p:extLst>
          </p:nvPr>
        </p:nvGraphicFramePr>
        <p:xfrm>
          <a:off x="10157022" y="5170744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91" name="表格 90">
            <a:extLst>
              <a:ext uri="{FF2B5EF4-FFF2-40B4-BE49-F238E27FC236}">
                <a16:creationId xmlns:a16="http://schemas.microsoft.com/office/drawing/2014/main" id="{D835718B-8A62-7049-72AB-A36BD603A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261659"/>
              </p:ext>
            </p:extLst>
          </p:nvPr>
        </p:nvGraphicFramePr>
        <p:xfrm>
          <a:off x="11029089" y="4623901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92" name="表格 91">
            <a:extLst>
              <a:ext uri="{FF2B5EF4-FFF2-40B4-BE49-F238E27FC236}">
                <a16:creationId xmlns:a16="http://schemas.microsoft.com/office/drawing/2014/main" id="{627BA6DB-20D7-AF25-6FD5-3A71EBB23D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535949"/>
              </p:ext>
            </p:extLst>
          </p:nvPr>
        </p:nvGraphicFramePr>
        <p:xfrm>
          <a:off x="12411786" y="4791606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cxnSp>
        <p:nvCxnSpPr>
          <p:cNvPr id="93" name="直線單箭頭接點 92">
            <a:extLst>
              <a:ext uri="{FF2B5EF4-FFF2-40B4-BE49-F238E27FC236}">
                <a16:creationId xmlns:a16="http://schemas.microsoft.com/office/drawing/2014/main" id="{96F7CDE9-14EE-F039-19B5-CEAC86CEED2F}"/>
              </a:ext>
            </a:extLst>
          </p:cNvPr>
          <p:cNvCxnSpPr>
            <a:cxnSpLocks/>
            <a:stCxn id="89" idx="3"/>
            <a:endCxn id="92" idx="1"/>
          </p:cNvCxnSpPr>
          <p:nvPr/>
        </p:nvCxnSpPr>
        <p:spPr bwMode="auto">
          <a:xfrm flipV="1">
            <a:off x="11911532" y="5527866"/>
            <a:ext cx="500254" cy="371298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543AF494-21E2-3891-0C12-DE126AFDB872}"/>
                  </a:ext>
                </a:extLst>
              </p:cNvPr>
              <p:cNvSpPr txBox="1"/>
              <p:nvPr/>
            </p:nvSpPr>
            <p:spPr>
              <a:xfrm>
                <a:off x="9640150" y="4263204"/>
                <a:ext cx="3417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𝑞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543AF494-21E2-3891-0C12-DE126AFDB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150" y="4263204"/>
                <a:ext cx="341784" cy="369332"/>
              </a:xfrm>
              <a:prstGeom prst="rect">
                <a:avLst/>
              </a:prstGeom>
              <a:blipFill>
                <a:blip r:embed="rId17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8B10F1F3-56DC-2533-246A-7A6996191721}"/>
                  </a:ext>
                </a:extLst>
              </p:cNvPr>
              <p:cNvSpPr txBox="1"/>
              <p:nvPr/>
            </p:nvSpPr>
            <p:spPr>
              <a:xfrm>
                <a:off x="10161816" y="4830479"/>
                <a:ext cx="3417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𝑠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8B10F1F3-56DC-2533-246A-7A6996191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816" y="4830479"/>
                <a:ext cx="341784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3E703AF6-B504-054D-E2F0-44DE0B6A88EE}"/>
                  </a:ext>
                </a:extLst>
              </p:cNvPr>
              <p:cNvSpPr txBox="1"/>
              <p:nvPr/>
            </p:nvSpPr>
            <p:spPr>
              <a:xfrm>
                <a:off x="10775769" y="4276481"/>
                <a:ext cx="8881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TW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sgn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⁡(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𝑞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3E703AF6-B504-054D-E2F0-44DE0B6A8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5769" y="4276481"/>
                <a:ext cx="888142" cy="369332"/>
              </a:xfrm>
              <a:prstGeom prst="rect">
                <a:avLst/>
              </a:prstGeom>
              <a:blipFill>
                <a:blip r:embed="rId19"/>
                <a:stretch>
                  <a:fillRect r="-4828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290E6120-643F-9B32-DFB8-52D0E690A61D}"/>
                  </a:ext>
                </a:extLst>
              </p:cNvPr>
              <p:cNvSpPr txBox="1"/>
              <p:nvPr/>
            </p:nvSpPr>
            <p:spPr>
              <a:xfrm>
                <a:off x="11336959" y="4822294"/>
                <a:ext cx="8948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sgn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altLang="zh-TW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290E6120-643F-9B32-DFB8-52D0E690A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6959" y="4822294"/>
                <a:ext cx="894841" cy="369332"/>
              </a:xfrm>
              <a:prstGeom prst="rect">
                <a:avLst/>
              </a:prstGeom>
              <a:blipFill>
                <a:blip r:embed="rId20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63269F68-3C13-8221-72C7-FFAF0208EAC2}"/>
                  </a:ext>
                </a:extLst>
              </p:cNvPr>
              <p:cNvSpPr txBox="1"/>
              <p:nvPr/>
            </p:nvSpPr>
            <p:spPr>
              <a:xfrm>
                <a:off x="12421123" y="4461147"/>
                <a:ext cx="3413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𝛿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63269F68-3C13-8221-72C7-FFAF0208E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1123" y="4461147"/>
                <a:ext cx="341326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2423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7799A-551E-EC07-8F2A-A585274A6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7FFB9083-ECCC-211A-36DA-5AF2853734D3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 bwMode="auto">
          <a:xfrm>
            <a:off x="853901" y="5549157"/>
            <a:ext cx="1052053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E5C6E7C2-16EF-DBB9-D5C8-CBEA799323AC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 bwMode="auto">
          <a:xfrm flipV="1">
            <a:off x="1393887" y="6088160"/>
            <a:ext cx="1034510" cy="784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33848D30-2DB2-295D-5EF6-1A98CF6529A3}"/>
              </a:ext>
            </a:extLst>
          </p:cNvPr>
          <p:cNvCxnSpPr>
            <a:cxnSpLocks/>
            <a:stCxn id="7" idx="3"/>
            <a:endCxn id="61" idx="1"/>
          </p:cNvCxnSpPr>
          <p:nvPr/>
        </p:nvCxnSpPr>
        <p:spPr bwMode="auto">
          <a:xfrm>
            <a:off x="2265954" y="5549157"/>
            <a:ext cx="1022697" cy="16770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4975CDF5-600E-4DBB-CE35-541134C61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Hamming Distance &amp; Cosine Distance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2AEABA-500C-E0E8-1483-C9B33CAC7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721" y="1672435"/>
            <a:ext cx="8382000" cy="4800600"/>
          </a:xfrm>
        </p:spPr>
        <p:txBody>
          <a:bodyPr/>
          <a:lstStyle/>
          <a:p>
            <a:r>
              <a:rPr lang="en-US" altLang="zh-TW" dirty="0"/>
              <a:t>Relation between Hamming distance &amp; cosine distance</a:t>
            </a:r>
          </a:p>
          <a:p>
            <a:pPr lvl="1"/>
            <a:r>
              <a:rPr lang="en-US" altLang="zh-TW" dirty="0"/>
              <a:t>Re-interpretation of Hamming distance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Rewrite the formula of Hamming distance using cosine function</a:t>
            </a:r>
          </a:p>
          <a:p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8EF4BCD-D552-68E7-CF11-2235ED94EE8C}"/>
              </a:ext>
            </a:extLst>
          </p:cNvPr>
          <p:cNvGraphicFramePr>
            <a:graphicFrameLocks noGrp="1"/>
          </p:cNvGraphicFramePr>
          <p:nvPr/>
        </p:nvGraphicFramePr>
        <p:xfrm>
          <a:off x="493901" y="4812897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EDC360C-F9CD-8794-8A61-AA9C51666711}"/>
              </a:ext>
            </a:extLst>
          </p:cNvPr>
          <p:cNvGraphicFramePr>
            <a:graphicFrameLocks noGrp="1"/>
          </p:cNvGraphicFramePr>
          <p:nvPr/>
        </p:nvGraphicFramePr>
        <p:xfrm>
          <a:off x="2428397" y="5351900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AE02A4B-FACA-3124-131E-6EE995FC0BBC}"/>
              </a:ext>
            </a:extLst>
          </p:cNvPr>
          <p:cNvGraphicFramePr>
            <a:graphicFrameLocks noGrp="1"/>
          </p:cNvGraphicFramePr>
          <p:nvPr/>
        </p:nvGraphicFramePr>
        <p:xfrm>
          <a:off x="1033887" y="5359740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E295374-370E-07EC-EC7E-662F171B8514}"/>
              </a:ext>
            </a:extLst>
          </p:cNvPr>
          <p:cNvGraphicFramePr>
            <a:graphicFrameLocks noGrp="1"/>
          </p:cNvGraphicFramePr>
          <p:nvPr/>
        </p:nvGraphicFramePr>
        <p:xfrm>
          <a:off x="1905954" y="4812897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05796AF9-0E5A-DE75-6262-1C7AC8E8CF2A}"/>
                  </a:ext>
                </a:extLst>
              </p:cNvPr>
              <p:cNvSpPr txBox="1"/>
              <p:nvPr/>
            </p:nvSpPr>
            <p:spPr>
              <a:xfrm>
                <a:off x="817249" y="3789040"/>
                <a:ext cx="4572000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TW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𝜃</m:t>
                              </m:r>
                            </m:num>
                            <m:den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𝜋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05796AF9-0E5A-DE75-6262-1C7AC8E8C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49" y="3789040"/>
                <a:ext cx="4572000" cy="8714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338D3FC1-E1AE-5353-19A0-D8DC43239053}"/>
                  </a:ext>
                </a:extLst>
              </p:cNvPr>
              <p:cNvSpPr txBox="1"/>
              <p:nvPr/>
            </p:nvSpPr>
            <p:spPr>
              <a:xfrm>
                <a:off x="899592" y="2364903"/>
                <a:ext cx="4047910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HAM</m:t>
                      </m:r>
                      <m:d>
                        <m:d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𝑞</m:t>
                              </m:r>
                            </m:e>
                          </m:acc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 </m:t>
                          </m:r>
                          <m:acc>
                            <m:accPr>
                              <m:chr m:val="⃑"/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𝛿</m:t>
                          </m:r>
                          <m:d>
                            <m:dPr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0" lang="en-US" altLang="zh-TW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sgn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TW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sgn</m:t>
                              </m:r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338D3FC1-E1AE-5353-19A0-D8DC43239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364903"/>
                <a:ext cx="4047910" cy="8714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32">
            <a:extLst>
              <a:ext uri="{FF2B5EF4-FFF2-40B4-BE49-F238E27FC236}">
                <a16:creationId xmlns:a16="http://schemas.microsoft.com/office/drawing/2014/main" id="{78301353-E6E3-8375-16B9-CB926EE825CE}"/>
              </a:ext>
            </a:extLst>
          </p:cNvPr>
          <p:cNvSpPr txBox="1"/>
          <p:nvPr/>
        </p:nvSpPr>
        <p:spPr>
          <a:xfrm>
            <a:off x="5433756" y="2636417"/>
            <a:ext cx="35796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Same sign = 0  Opposite sign = 1</a:t>
            </a:r>
            <a:endParaRPr lang="zh-TW" altLang="en-US" sz="1600" dirty="0"/>
          </a:p>
        </p:txBody>
      </p:sp>
      <p:graphicFrame>
        <p:nvGraphicFramePr>
          <p:cNvPr id="61" name="表格 60">
            <a:extLst>
              <a:ext uri="{FF2B5EF4-FFF2-40B4-BE49-F238E27FC236}">
                <a16:creationId xmlns:a16="http://schemas.microsoft.com/office/drawing/2014/main" id="{53A9B6C6-EC81-14B1-2497-962471F5D9FF}"/>
              </a:ext>
            </a:extLst>
          </p:cNvPr>
          <p:cNvGraphicFramePr>
            <a:graphicFrameLocks noGrp="1"/>
          </p:cNvGraphicFramePr>
          <p:nvPr/>
        </p:nvGraphicFramePr>
        <p:xfrm>
          <a:off x="3288651" y="4980602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A971B55E-FEF7-29B1-BC68-870D785EA832}"/>
              </a:ext>
            </a:extLst>
          </p:cNvPr>
          <p:cNvCxnSpPr>
            <a:cxnSpLocks/>
            <a:stCxn id="5" idx="3"/>
            <a:endCxn id="61" idx="1"/>
          </p:cNvCxnSpPr>
          <p:nvPr/>
        </p:nvCxnSpPr>
        <p:spPr bwMode="auto">
          <a:xfrm flipV="1">
            <a:off x="2788397" y="5716862"/>
            <a:ext cx="500254" cy="371298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103B7904-EFC9-3224-6510-A86C4F907073}"/>
                  </a:ext>
                </a:extLst>
              </p:cNvPr>
              <p:cNvSpPr txBox="1"/>
              <p:nvPr/>
            </p:nvSpPr>
            <p:spPr>
              <a:xfrm>
                <a:off x="517015" y="4452200"/>
                <a:ext cx="3417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𝑞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103B7904-EFC9-3224-6510-A86C4F907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5" y="4452200"/>
                <a:ext cx="341784" cy="369332"/>
              </a:xfrm>
              <a:prstGeom prst="rect">
                <a:avLst/>
              </a:prstGeom>
              <a:blipFill>
                <a:blip r:embed="rId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F55B644C-8E91-98F0-6009-E6FE7061572F}"/>
                  </a:ext>
                </a:extLst>
              </p:cNvPr>
              <p:cNvSpPr txBox="1"/>
              <p:nvPr/>
            </p:nvSpPr>
            <p:spPr>
              <a:xfrm>
                <a:off x="1038681" y="5019475"/>
                <a:ext cx="3417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𝑠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F55B644C-8E91-98F0-6009-E6FE70615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681" y="5019475"/>
                <a:ext cx="34178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A2470F29-48DE-89D7-81A5-915F1C1F6ACF}"/>
                  </a:ext>
                </a:extLst>
              </p:cNvPr>
              <p:cNvSpPr txBox="1"/>
              <p:nvPr/>
            </p:nvSpPr>
            <p:spPr>
              <a:xfrm>
                <a:off x="1652634" y="4465477"/>
                <a:ext cx="8881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TW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sgn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⁡(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𝑞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A2470F29-48DE-89D7-81A5-915F1C1F6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634" y="4465477"/>
                <a:ext cx="888142" cy="369332"/>
              </a:xfrm>
              <a:prstGeom prst="rect">
                <a:avLst/>
              </a:prstGeom>
              <a:blipFill>
                <a:blip r:embed="rId7"/>
                <a:stretch>
                  <a:fillRect r="-4110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1DDA453D-9282-5BDB-30DD-D60117411B91}"/>
                  </a:ext>
                </a:extLst>
              </p:cNvPr>
              <p:cNvSpPr txBox="1"/>
              <p:nvPr/>
            </p:nvSpPr>
            <p:spPr>
              <a:xfrm>
                <a:off x="2213824" y="5011290"/>
                <a:ext cx="8948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sgn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altLang="zh-TW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1DDA453D-9282-5BDB-30DD-D60117411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824" y="5011290"/>
                <a:ext cx="894841" cy="369332"/>
              </a:xfrm>
              <a:prstGeom prst="rect">
                <a:avLst/>
              </a:prstGeom>
              <a:blipFill>
                <a:blip r:embed="rId8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9CD6BC1D-5664-9B15-3621-6C80C431A759}"/>
                  </a:ext>
                </a:extLst>
              </p:cNvPr>
              <p:cNvSpPr txBox="1"/>
              <p:nvPr/>
            </p:nvSpPr>
            <p:spPr>
              <a:xfrm>
                <a:off x="3297988" y="4650143"/>
                <a:ext cx="3413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𝛿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9CD6BC1D-5664-9B15-3621-6C80C431A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988" y="4650143"/>
                <a:ext cx="34132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8" name="表格 87">
            <a:extLst>
              <a:ext uri="{FF2B5EF4-FFF2-40B4-BE49-F238E27FC236}">
                <a16:creationId xmlns:a16="http://schemas.microsoft.com/office/drawing/2014/main" id="{AECF5ACC-66F2-AE13-B107-FAAFE6C0E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297928"/>
              </p:ext>
            </p:extLst>
          </p:nvPr>
        </p:nvGraphicFramePr>
        <p:xfrm>
          <a:off x="5837132" y="3792826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90" name="表格 89">
            <a:extLst>
              <a:ext uri="{FF2B5EF4-FFF2-40B4-BE49-F238E27FC236}">
                <a16:creationId xmlns:a16="http://schemas.microsoft.com/office/drawing/2014/main" id="{4E39EFD6-2E5C-F327-97A5-77A600CEAE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426130"/>
              </p:ext>
            </p:extLst>
          </p:nvPr>
        </p:nvGraphicFramePr>
        <p:xfrm>
          <a:off x="6444208" y="5333820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p:graphicFrame>
        <p:nvGraphicFramePr>
          <p:cNvPr id="92" name="表格 91">
            <a:extLst>
              <a:ext uri="{FF2B5EF4-FFF2-40B4-BE49-F238E27FC236}">
                <a16:creationId xmlns:a16="http://schemas.microsoft.com/office/drawing/2014/main" id="{D1158DB4-25B8-813D-E942-476C8AFA7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440996"/>
              </p:ext>
            </p:extLst>
          </p:nvPr>
        </p:nvGraphicFramePr>
        <p:xfrm>
          <a:off x="8437647" y="3811334"/>
          <a:ext cx="360000" cy="147252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295722938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62233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45139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40777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72392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0FA788BC-42A3-0CD0-58C2-209AEC96D7BC}"/>
                  </a:ext>
                </a:extLst>
              </p:cNvPr>
              <p:cNvSpPr txBox="1"/>
              <p:nvPr/>
            </p:nvSpPr>
            <p:spPr>
              <a:xfrm>
                <a:off x="5509714" y="4265976"/>
                <a:ext cx="3417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𝑞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0FA788BC-42A3-0CD0-58C2-209AEC96D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9714" y="4265976"/>
                <a:ext cx="341784" cy="369332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80C3AB8B-9EAF-B0DA-7C13-B39AEBB1B6C6}"/>
                  </a:ext>
                </a:extLst>
              </p:cNvPr>
              <p:cNvSpPr txBox="1"/>
              <p:nvPr/>
            </p:nvSpPr>
            <p:spPr>
              <a:xfrm>
                <a:off x="6102424" y="5804250"/>
                <a:ext cx="3417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𝑠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80C3AB8B-9EAF-B0DA-7C13-B39AEBB1B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424" y="5804250"/>
                <a:ext cx="34178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16DC8C1B-8CCF-CA4D-B3D2-B8112530C843}"/>
                  </a:ext>
                </a:extLst>
              </p:cNvPr>
              <p:cNvSpPr txBox="1"/>
              <p:nvPr/>
            </p:nvSpPr>
            <p:spPr>
              <a:xfrm>
                <a:off x="8791721" y="4362928"/>
                <a:ext cx="3413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𝛿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16DC8C1B-8CCF-CA4D-B3D2-B8112530C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721" y="4362928"/>
                <a:ext cx="34132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964FB320-FD80-361A-D867-BDE9924C5110}"/>
              </a:ext>
            </a:extLst>
          </p:cNvPr>
          <p:cNvCxnSpPr/>
          <p:nvPr/>
        </p:nvCxnSpPr>
        <p:spPr bwMode="auto">
          <a:xfrm>
            <a:off x="6197132" y="3973661"/>
            <a:ext cx="2240515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83ECE87F-284B-698C-D0B3-27279EDA4236}"/>
              </a:ext>
            </a:extLst>
          </p:cNvPr>
          <p:cNvCxnSpPr/>
          <p:nvPr/>
        </p:nvCxnSpPr>
        <p:spPr bwMode="auto">
          <a:xfrm>
            <a:off x="6197132" y="4360937"/>
            <a:ext cx="2240515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BA4C91A5-8822-75DE-B502-979CE898C42D}"/>
              </a:ext>
            </a:extLst>
          </p:cNvPr>
          <p:cNvCxnSpPr/>
          <p:nvPr/>
        </p:nvCxnSpPr>
        <p:spPr bwMode="auto">
          <a:xfrm>
            <a:off x="6197132" y="4726606"/>
            <a:ext cx="2240515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E5EB748-332A-FF55-9CD9-7C1174DB90BA}"/>
              </a:ext>
            </a:extLst>
          </p:cNvPr>
          <p:cNvCxnSpPr/>
          <p:nvPr/>
        </p:nvCxnSpPr>
        <p:spPr bwMode="auto">
          <a:xfrm>
            <a:off x="6197132" y="5085184"/>
            <a:ext cx="2240515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D4AAF341-BAED-0A29-4CED-EF14F04DA781}"/>
                  </a:ext>
                </a:extLst>
              </p:cNvPr>
              <p:cNvSpPr/>
              <p:nvPr/>
            </p:nvSpPr>
            <p:spPr bwMode="auto">
              <a:xfrm>
                <a:off x="6885341" y="3823177"/>
                <a:ext cx="288032" cy="3009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i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kumimoji="1" lang="zh-TW" altLang="en-US" sz="14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D4AAF341-BAED-0A29-4CED-EF14F04DA7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85341" y="3823177"/>
                <a:ext cx="288032" cy="30096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7890816-3496-DB04-5084-7A43B8F9548D}"/>
                  </a:ext>
                </a:extLst>
              </p:cNvPr>
              <p:cNvSpPr/>
              <p:nvPr/>
            </p:nvSpPr>
            <p:spPr bwMode="auto">
              <a:xfrm>
                <a:off x="7211100" y="4218117"/>
                <a:ext cx="288032" cy="3009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i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kumimoji="1" lang="zh-TW" altLang="en-US" sz="14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7890816-3496-DB04-5084-7A43B8F954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11100" y="4218117"/>
                <a:ext cx="288032" cy="30096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5D65DF90-3DCF-C8A7-BC64-81CA61235C28}"/>
                  </a:ext>
                </a:extLst>
              </p:cNvPr>
              <p:cNvSpPr/>
              <p:nvPr/>
            </p:nvSpPr>
            <p:spPr bwMode="auto">
              <a:xfrm>
                <a:off x="7517478" y="4597729"/>
                <a:ext cx="288032" cy="3009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i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kumimoji="1" lang="zh-TW" altLang="en-US" sz="14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5D65DF90-3DCF-C8A7-BC64-81CA61235C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17478" y="4597729"/>
                <a:ext cx="288032" cy="30096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341504F-8E3C-5FD9-59E5-B0651CD2D7AB}"/>
                  </a:ext>
                </a:extLst>
              </p:cNvPr>
              <p:cNvSpPr/>
              <p:nvPr/>
            </p:nvSpPr>
            <p:spPr bwMode="auto">
              <a:xfrm>
                <a:off x="7824262" y="4982886"/>
                <a:ext cx="288032" cy="3009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i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kumimoji="1" lang="zh-TW" altLang="en-US" sz="14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新細明體" charset="-120"/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341504F-8E3C-5FD9-59E5-B0651CD2D7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24262" y="4982886"/>
                <a:ext cx="288032" cy="30096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E69794C-0F66-471B-DFA1-409E31ED015E}"/>
              </a:ext>
            </a:extLst>
          </p:cNvPr>
          <p:cNvCxnSpPr>
            <a:cxnSpLocks/>
          </p:cNvCxnSpPr>
          <p:nvPr/>
        </p:nvCxnSpPr>
        <p:spPr bwMode="auto">
          <a:xfrm>
            <a:off x="6804208" y="5517158"/>
            <a:ext cx="225149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F551EC79-B775-3F4F-9F2E-C16338A7FF2E}"/>
              </a:ext>
            </a:extLst>
          </p:cNvPr>
          <p:cNvCxnSpPr>
            <a:cxnSpLocks/>
          </p:cNvCxnSpPr>
          <p:nvPr/>
        </p:nvCxnSpPr>
        <p:spPr bwMode="auto">
          <a:xfrm>
            <a:off x="6804208" y="5863886"/>
            <a:ext cx="533826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760C888-EC11-AB8E-D492-E8EBFC09D4D0}"/>
              </a:ext>
            </a:extLst>
          </p:cNvPr>
          <p:cNvCxnSpPr>
            <a:cxnSpLocks/>
          </p:cNvCxnSpPr>
          <p:nvPr/>
        </p:nvCxnSpPr>
        <p:spPr bwMode="auto">
          <a:xfrm>
            <a:off x="6804208" y="6237312"/>
            <a:ext cx="849894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3C409908-0CDC-DD71-BC9F-7DF08374E2C7}"/>
              </a:ext>
            </a:extLst>
          </p:cNvPr>
          <p:cNvCxnSpPr>
            <a:cxnSpLocks/>
          </p:cNvCxnSpPr>
          <p:nvPr/>
        </p:nvCxnSpPr>
        <p:spPr bwMode="auto">
          <a:xfrm flipV="1">
            <a:off x="6804208" y="6595889"/>
            <a:ext cx="1156475" cy="1463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A013D181-A1C1-1352-C68C-4BC5C8B17547}"/>
              </a:ext>
            </a:extLst>
          </p:cNvPr>
          <p:cNvCxnSpPr>
            <a:cxnSpLocks/>
            <a:endCxn id="13" idx="2"/>
          </p:cNvCxnSpPr>
          <p:nvPr/>
        </p:nvCxnSpPr>
        <p:spPr bwMode="auto">
          <a:xfrm flipV="1">
            <a:off x="7025165" y="4124145"/>
            <a:ext cx="4192" cy="1392321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1BCCEEC7-3511-E415-D078-C14A16280686}"/>
              </a:ext>
            </a:extLst>
          </p:cNvPr>
          <p:cNvCxnSpPr>
            <a:cxnSpLocks/>
            <a:endCxn id="14" idx="2"/>
          </p:cNvCxnSpPr>
          <p:nvPr/>
        </p:nvCxnSpPr>
        <p:spPr bwMode="auto">
          <a:xfrm flipV="1">
            <a:off x="7338034" y="4519085"/>
            <a:ext cx="17082" cy="1344801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F97268E9-E629-A19E-3771-72497CF2AF0F}"/>
              </a:ext>
            </a:extLst>
          </p:cNvPr>
          <p:cNvCxnSpPr>
            <a:cxnSpLocks/>
            <a:endCxn id="15" idx="2"/>
          </p:cNvCxnSpPr>
          <p:nvPr/>
        </p:nvCxnSpPr>
        <p:spPr bwMode="auto">
          <a:xfrm flipV="1">
            <a:off x="7646711" y="4898697"/>
            <a:ext cx="14783" cy="133861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F05F45BE-3578-F05F-21FA-1D3EE3A511BE}"/>
              </a:ext>
            </a:extLst>
          </p:cNvPr>
          <p:cNvCxnSpPr>
            <a:cxnSpLocks/>
            <a:endCxn id="16" idx="2"/>
          </p:cNvCxnSpPr>
          <p:nvPr/>
        </p:nvCxnSpPr>
        <p:spPr bwMode="auto">
          <a:xfrm flipV="1">
            <a:off x="7960683" y="5283854"/>
            <a:ext cx="7595" cy="131203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593645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472CE-1970-CAB9-646C-D4E89A9F8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A95086-E178-825D-845C-C6CA3AF1E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Hamming Distance &amp; Cosine Distance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363EE4C-41F8-75C1-805F-1C72FBA566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9721" y="1672435"/>
                <a:ext cx="8382000" cy="4800600"/>
              </a:xfrm>
            </p:spPr>
            <p:txBody>
              <a:bodyPr/>
              <a:lstStyle/>
              <a:p>
                <a:r>
                  <a:rPr lang="en-US" altLang="zh-TW" dirty="0"/>
                  <a:t>Difference between Hamming distance &amp; cosine distance</a:t>
                </a:r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r>
                  <a:rPr lang="en-US" altLang="zh-TW" dirty="0"/>
                  <a:t>What if we can roughly estimate the weight?</a:t>
                </a:r>
              </a:p>
              <a:p>
                <a:pPr lvl="1"/>
                <a:r>
                  <a:rPr lang="en-US" altLang="zh-TW" dirty="0"/>
                  <a:t>Make Hamming distance more similar to cosine distance</a:t>
                </a:r>
              </a:p>
              <a:p>
                <a:pPr lvl="1"/>
                <a:r>
                  <a:rPr lang="en-US" altLang="zh-TW" dirty="0"/>
                  <a:t>Weights are multiplier in summation</a:t>
                </a:r>
              </a:p>
              <a:p>
                <a:pPr lvl="2"/>
                <a:r>
                  <a:rPr lang="en-US" altLang="zh-TW" dirty="0"/>
                  <a:t>Use logarithmic function to separate weights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lang="en-US" altLang="zh-TW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363EE4C-41F8-75C1-805F-1C72FBA566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9721" y="1672435"/>
                <a:ext cx="8382000" cy="4800600"/>
              </a:xfrm>
              <a:blipFill>
                <a:blip r:embed="rId3"/>
                <a:stretch>
                  <a:fillRect l="-655" t="-5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553A0894-6995-AD29-7062-D4EDC697A94A}"/>
                  </a:ext>
                </a:extLst>
              </p:cNvPr>
              <p:cNvSpPr txBox="1"/>
              <p:nvPr/>
            </p:nvSpPr>
            <p:spPr>
              <a:xfrm>
                <a:off x="1417503" y="2808219"/>
                <a:ext cx="2641664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den>
                      </m:f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f>
                        <m:f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553A0894-6995-AD29-7062-D4EDC697A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503" y="2808219"/>
                <a:ext cx="2641664" cy="8714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DB911B0-77B4-B90D-CD4A-F60EE783B156}"/>
                  </a:ext>
                </a:extLst>
              </p:cNvPr>
              <p:cNvSpPr txBox="1"/>
              <p:nvPr/>
            </p:nvSpPr>
            <p:spPr>
              <a:xfrm>
                <a:off x="345653" y="1994405"/>
                <a:ext cx="4047910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HAM</m:t>
                      </m:r>
                      <m:d>
                        <m:d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𝑞</m:t>
                              </m:r>
                            </m:e>
                          </m:acc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 </m:t>
                          </m:r>
                          <m:acc>
                            <m:accPr>
                              <m:chr m:val="⃑"/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r>
                            <a:rPr kumimoji="0" lang="zh-TW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𝛿</m:t>
                          </m:r>
                          <m:d>
                            <m:dPr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0" lang="en-US" altLang="zh-TW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sgn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kumimoji="0" lang="en-US" altLang="zh-TW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TW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sgn</m:t>
                              </m:r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kumimoji="0" lang="en-US" altLang="zh-TW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DB911B0-77B4-B90D-CD4A-F60EE783B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53" y="1994405"/>
                <a:ext cx="4047910" cy="8714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1EC6E46-AD70-A3D3-3C10-5091816AA0F1}"/>
                  </a:ext>
                </a:extLst>
              </p:cNvPr>
              <p:cNvSpPr txBox="1"/>
              <p:nvPr/>
            </p:nvSpPr>
            <p:spPr>
              <a:xfrm>
                <a:off x="5465413" y="2796848"/>
                <a:ext cx="3662683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=1−</m:t>
                      </m:r>
                      <m:f>
                        <m:f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zh-TW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zh-TW" alt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zh-TW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zh-TW" alt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</m:acc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TW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1EC6E46-AD70-A3D3-3C10-5091816AA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413" y="2796848"/>
                <a:ext cx="3662683" cy="8714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BE216CB-2FB2-95AE-C244-4F75E5EA4452}"/>
                  </a:ext>
                </a:extLst>
              </p:cNvPr>
              <p:cNvSpPr txBox="1"/>
              <p:nvPr/>
            </p:nvSpPr>
            <p:spPr>
              <a:xfrm>
                <a:off x="4485822" y="1999802"/>
                <a:ext cx="4766698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COS</m:t>
                      </m:r>
                      <m:d>
                        <m:d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𝑞</m:t>
                              </m:r>
                            </m:e>
                          </m:acc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 </m:t>
                          </m:r>
                          <m:acc>
                            <m:accPr>
                              <m:chr m:val="⃑"/>
                              <m:ctrlP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TW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=1−</m:t>
                      </m:r>
                      <m:f>
                        <m:f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en-US" altLang="zh-TW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  <m:acc>
                                <m:accPr>
                                  <m:chr m:val="⃑"/>
                                  <m:ctrlP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∥∥</m:t>
                              </m:r>
                              <m:acc>
                                <m:accPr>
                                  <m:chr m:val="⃑"/>
                                  <m:ctrlP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TW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  <m:acc>
                                <m:accPr>
                                  <m:chr m:val="⃑"/>
                                  <m:ctrlP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∥∥</m:t>
                              </m:r>
                              <m:acc>
                                <m:accPr>
                                  <m:chr m:val="⃑"/>
                                  <m:ctrlP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den>
                          </m:f>
                        </m:e>
                      </m:nary>
                      <m:r>
                        <m:rPr>
                          <m:sty m:val="p"/>
                        </m:rPr>
                        <a:rPr lang="en-US" altLang="zh-TW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BE216CB-2FB2-95AE-C244-4F75E5EA4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822" y="1999802"/>
                <a:ext cx="4766698" cy="8714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E22206C1-A102-3EF0-A445-073A86B5AD61}"/>
              </a:ext>
            </a:extLst>
          </p:cNvPr>
          <p:cNvCxnSpPr>
            <a:cxnSpLocks/>
          </p:cNvCxnSpPr>
          <p:nvPr/>
        </p:nvCxnSpPr>
        <p:spPr bwMode="auto">
          <a:xfrm>
            <a:off x="4139153" y="3288727"/>
            <a:ext cx="1152927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71C5835-1906-67FD-91EC-BE45B88F666C}"/>
              </a:ext>
            </a:extLst>
          </p:cNvPr>
          <p:cNvSpPr txBox="1"/>
          <p:nvPr/>
        </p:nvSpPr>
        <p:spPr>
          <a:xfrm>
            <a:off x="2980738" y="3643925"/>
            <a:ext cx="36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Unweighted     vs     Weighted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00525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1AF1A7-A1E0-245B-2840-955175DCA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Estimation of Weights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81A98F-36D0-69AC-4107-243389D01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First using Cauchy-Schwarz </a:t>
            </a:r>
            <a:r>
              <a:rPr lang="en-US" altLang="zh-TW" dirty="0" err="1"/>
              <a:t>ineq</a:t>
            </a:r>
            <a:r>
              <a:rPr lang="en-US" altLang="zh-TW" dirty="0"/>
              <a:t>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We 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B0A05D5-D478-9AA9-D99A-B9D821C08305}"/>
                  </a:ext>
                </a:extLst>
              </p:cNvPr>
              <p:cNvSpPr/>
              <p:nvPr/>
            </p:nvSpPr>
            <p:spPr>
              <a:xfrm>
                <a:off x="755576" y="2132856"/>
                <a:ext cx="2356158" cy="8714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d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</m:e>
                      </m:nary>
                      <m:r>
                        <a:rPr lang="en-US" altLang="zh-TW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B0A05D5-D478-9AA9-D99A-B9D821C083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132856"/>
                <a:ext cx="2356158" cy="8714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5C86081-DE22-EBEF-54C8-39D5E1791744}"/>
                  </a:ext>
                </a:extLst>
              </p:cNvPr>
              <p:cNvSpPr txBox="1"/>
              <p:nvPr/>
            </p:nvSpPr>
            <p:spPr>
              <a:xfrm>
                <a:off x="7055768" y="1341486"/>
                <a:ext cx="2088232" cy="7913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TW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8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zh-TW" sz="1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TW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8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TW" sz="1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80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seg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f>
                        <m:fPr>
                          <m:ctrlP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5C86081-DE22-EBEF-54C8-39D5E1791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5768" y="1341486"/>
                <a:ext cx="2088232" cy="7913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C5949238-8CE5-1FEF-B0DD-C45EB5311BC7}"/>
                  </a:ext>
                </a:extLst>
              </p:cNvPr>
              <p:cNvSpPr txBox="1"/>
              <p:nvPr/>
            </p:nvSpPr>
            <p:spPr>
              <a:xfrm>
                <a:off x="755576" y="3501008"/>
                <a:ext cx="6768752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TW" sz="1800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TW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⃑"/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d>
                          <m:sSub>
                            <m:sSub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800" b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TW" sz="1800" b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en-US" altLang="zh-TW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seg</m:t>
                                          </m:r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⃑"/>
                                      <m:ctrlPr>
                                        <a:rPr lang="en-US" altLang="zh-TW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8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seg</m:t>
                                          </m:r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C5949238-8CE5-1FEF-B0DD-C45EB5311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501008"/>
                <a:ext cx="6768752" cy="8714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D70EF57-F1A6-6924-173E-F7E5F890BDB9}"/>
                  </a:ext>
                </a:extLst>
              </p:cNvPr>
              <p:cNvSpPr txBox="1"/>
              <p:nvPr/>
            </p:nvSpPr>
            <p:spPr>
              <a:xfrm>
                <a:off x="747935" y="4382472"/>
                <a:ext cx="6768752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TW" sz="1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TW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⃑"/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lang="en-US" altLang="zh-TW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d>
                          <m:sSub>
                            <m:sSub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800" b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TW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en-US" altLang="zh-TW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seg</m:t>
                                          </m:r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⃑"/>
                                      <m:ctrlPr>
                                        <a:rPr lang="en-US" altLang="zh-TW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8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seg</m:t>
                                          </m:r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D70EF57-F1A6-6924-173E-F7E5F890B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35" y="4382472"/>
                <a:ext cx="6768752" cy="8714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933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EFE18-FDDB-27B5-7EF5-D476605A5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4E1501-28CA-4530-4F39-F0BCBA56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Estimation of Weights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56D3C0-38D6-C8F8-5196-48E064E22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Using Jensen’s </a:t>
            </a:r>
            <a:r>
              <a:rPr lang="en-US" altLang="zh-TW" dirty="0" err="1"/>
              <a:t>ineq</a:t>
            </a:r>
            <a:r>
              <a:rPr lang="en-US" altLang="zh-TW" dirty="0"/>
              <a:t>. &amp; log-cosine </a:t>
            </a:r>
            <a:r>
              <a:rPr lang="en-US" altLang="zh-TW" dirty="0" err="1"/>
              <a:t>ineq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We 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3450E24-DDE1-A005-C8D3-D256E554C585}"/>
                  </a:ext>
                </a:extLst>
              </p:cNvPr>
              <p:cNvSpPr txBox="1"/>
              <p:nvPr/>
            </p:nvSpPr>
            <p:spPr>
              <a:xfrm>
                <a:off x="7055768" y="1341486"/>
                <a:ext cx="2088232" cy="7913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TW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8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zh-TW" sz="1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TW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8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TW" sz="1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80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seg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f>
                        <m:fPr>
                          <m:ctrlP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3450E24-DDE1-A005-C8D3-D256E554C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5768" y="1341486"/>
                <a:ext cx="2088232" cy="7913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6AD1E84-7344-4B3F-587C-DE193F600221}"/>
                  </a:ext>
                </a:extLst>
              </p:cNvPr>
              <p:cNvSpPr txBox="1"/>
              <p:nvPr/>
            </p:nvSpPr>
            <p:spPr>
              <a:xfrm>
                <a:off x="683568" y="2541785"/>
                <a:ext cx="6768752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TW" sz="18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TW" sz="1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⃑"/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d>
                          <m:sSub>
                            <m:sSub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18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8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en-US" altLang="zh-TW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𝑠𝑒𝑔</m:t>
                                          </m:r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zh-TW" sz="1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⃑"/>
                                      <m:ctrlPr>
                                        <a:rPr lang="en-US" altLang="zh-TW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800" b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seg</m:t>
                                          </m:r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6AD1E84-7344-4B3F-587C-DE193F600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541785"/>
                <a:ext cx="6768752" cy="8714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8B3DD09-281A-BFB3-BB14-579932162BEF}"/>
                  </a:ext>
                </a:extLst>
              </p:cNvPr>
              <p:cNvSpPr txBox="1"/>
              <p:nvPr/>
            </p:nvSpPr>
            <p:spPr>
              <a:xfrm>
                <a:off x="683568" y="3367573"/>
                <a:ext cx="6768752" cy="87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TW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TW" sz="1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⃑"/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lang="en-US" altLang="zh-TW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TW" sz="1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d>
                          <m:sSub>
                            <m:sSub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n-US" altLang="zh-TW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8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en-US" altLang="zh-TW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𝑠𝑒𝑔</m:t>
                                          </m:r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zh-TW" sz="1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⃑"/>
                                      <m:ctrlPr>
                                        <a:rPr lang="en-US" altLang="zh-TW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800" b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seg</m:t>
                                          </m:r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8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8B3DD09-281A-BFB3-BB14-579932162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367573"/>
                <a:ext cx="6768752" cy="8714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975541F-6FF2-6927-30D4-92A99DBE0A1C}"/>
                  </a:ext>
                </a:extLst>
              </p:cNvPr>
              <p:cNvSpPr txBox="1"/>
              <p:nvPr/>
            </p:nvSpPr>
            <p:spPr>
              <a:xfrm>
                <a:off x="379985" y="2132856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ln</m:t>
                      </m:r>
                      <m:r>
                        <a:rPr kumimoji="0" lang="en-US" altLang="zh-TW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(1</m:t>
                      </m:r>
                      <m:r>
                        <a:rPr kumimoji="0" lang="en-US" altLang="zh-TW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cos</m:t>
                      </m:r>
                      <m:r>
                        <a:rPr kumimoji="0" lang="en-US" altLang="zh-TW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zh-TW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𝜃</m:t>
                      </m:r>
                      <m:r>
                        <a:rPr kumimoji="0" lang="en-US" altLang="zh-TW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≥</m:t>
                      </m:r>
                      <m:r>
                        <a:rPr kumimoji="0" lang="zh-TW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𝜃</m:t>
                      </m:r>
                      <m:r>
                        <a:rPr kumimoji="0" lang="en-US" altLang="zh-TW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≥</m:t>
                      </m:r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ln</m:t>
                      </m:r>
                      <m:r>
                        <a:rPr kumimoji="0" lang="en-US" altLang="zh-TW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(1</m:t>
                      </m:r>
                      <m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cos</m:t>
                      </m:r>
                      <m:r>
                        <a:rPr kumimoji="0" lang="en-US" altLang="zh-TW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zh-TW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𝜃</m:t>
                      </m:r>
                      <m:r>
                        <a:rPr kumimoji="0" lang="en-US" altLang="zh-TW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altLang="zh-TW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975541F-6FF2-6927-30D4-92A99DBE0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85" y="2132856"/>
                <a:ext cx="4572000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圖片 12">
            <a:extLst>
              <a:ext uri="{FF2B5EF4-FFF2-40B4-BE49-F238E27FC236}">
                <a16:creationId xmlns:a16="http://schemas.microsoft.com/office/drawing/2014/main" id="{61876DC0-C79C-1930-AF2C-DE1372678A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4122" y="1679534"/>
            <a:ext cx="831098" cy="103630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8361572-C0F7-D859-179C-52EE034A6903}"/>
                  </a:ext>
                </a:extLst>
              </p:cNvPr>
              <p:cNvSpPr/>
              <p:nvPr/>
            </p:nvSpPr>
            <p:spPr>
              <a:xfrm>
                <a:off x="388233" y="4568767"/>
                <a:ext cx="8610562" cy="877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𝜃</m:t>
                      </m:r>
                      <m:r>
                        <a:rPr kumimoji="0" lang="en-US" altLang="zh-TW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≥+</m:t>
                      </m:r>
                      <m:func>
                        <m:funcPr>
                          <m:ctrlPr>
                            <a:rPr kumimoji="0" lang="en-US" altLang="zh-TW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TW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kumimoji="0" lang="en-US" altLang="zh-TW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TW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TW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kumimoji="0" lang="en-US" altLang="zh-TW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kumimoji="0" lang="en-US" altLang="zh-TW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altLang="zh-TW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𝑞</m:t>
                                      </m:r>
                                    </m:e>
                                  </m:acc>
                                  <m:r>
                                    <a:rPr kumimoji="0" lang="en-US" altLang="zh-TW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, </m:t>
                                  </m:r>
                                  <m:acc>
                                    <m:accPr>
                                      <m:chr m:val="⃑"/>
                                      <m:ctrlPr>
                                        <a:rPr kumimoji="0" lang="en-US" altLang="zh-TW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altLang="zh-TW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𝑠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</m:func>
                      <m:r>
                        <a:rPr kumimoji="0" lang="en-US" altLang="zh-TW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≥</m:t>
                      </m:r>
                      <m:r>
                        <a:rPr kumimoji="0" lang="en-US" altLang="zh-TW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kumimoji="0" lang="en-US" altLang="zh-TW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func>
                            <m:funcPr>
                              <m:ctrlPr>
                                <a:rPr kumimoji="0" lang="en-US" altLang="zh-TW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zh-TW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altLang="zh-TW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TW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1−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0" lang="en-US" altLang="zh-TW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COS</m:t>
                                  </m:r>
                                  <m:d>
                                    <m:dPr>
                                      <m:ctrlPr>
                                        <a:rPr kumimoji="0" lang="en-US" altLang="zh-TW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⃑"/>
                                          <m:ctrlPr>
                                            <a:rPr kumimoji="0" lang="en-US" altLang="zh-TW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en-US" altLang="zh-TW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kumimoji="0" lang="en-US" altLang="zh-TW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seg</m:t>
                                              </m:r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kumimoji="0" lang="en-US" altLang="zh-TW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⃑"/>
                                          <m:ctrlPr>
                                            <a:rPr kumimoji="0" lang="en-US" altLang="zh-TW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en-US" altLang="zh-TW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kumimoji="0" lang="en-US" altLang="zh-TW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seg</m:t>
                                              </m:r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kumimoji="0" lang="en-US" altLang="zh-TW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func>
                        <m:funcPr>
                          <m:ctrlPr>
                            <a:rPr kumimoji="0" lang="en-US" altLang="zh-TW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TW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kumimoji="0" lang="en-US" altLang="zh-TW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TW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zh-TW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US" altLang="zh-TW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kumimoji="0" lang="en-US" altLang="zh-TW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TW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d>
                        </m:e>
                      </m:func>
                      <m:r>
                        <a:rPr kumimoji="0" lang="en-US" altLang="zh-TW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func>
                        <m:funcPr>
                          <m:ctrlPr>
                            <a:rPr kumimoji="0" lang="en-US" altLang="zh-TW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TW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kumimoji="0" lang="en-US" altLang="zh-TW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TW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zh-TW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US" altLang="zh-TW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kumimoji="0" lang="en-US" altLang="zh-TW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TW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</m:e>
                      </m:func>
                    </m:oMath>
                  </m:oMathPara>
                </a14:m>
                <a:endParaRPr kumimoji="0" lang="zh-TW" altLang="en-US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8361572-C0F7-D859-179C-52EE034A69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233" y="4568767"/>
                <a:ext cx="8610562" cy="877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8B439078-00EC-EE58-9538-F2984D4FA6C2}"/>
                  </a:ext>
                </a:extLst>
              </p:cNvPr>
              <p:cNvSpPr/>
              <p:nvPr/>
            </p:nvSpPr>
            <p:spPr>
              <a:xfrm>
                <a:off x="388233" y="5602298"/>
                <a:ext cx="8610562" cy="877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TW" altLang="en-US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𝜃</m:t>
                      </m:r>
                      <m:r>
                        <a:rPr kumimoji="0" lang="en-US" altLang="zh-TW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≤</m:t>
                      </m:r>
                      <m:r>
                        <a:rPr kumimoji="0" lang="en-US" altLang="zh-TW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−</m:t>
                      </m:r>
                      <m:func>
                        <m:funcPr>
                          <m:ctrlPr>
                            <a:rPr kumimoji="0" lang="en-US" altLang="zh-TW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TW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kumimoji="0" lang="en-US" altLang="zh-TW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TW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  <m:r>
                                <a:rPr kumimoji="0" lang="en-US" altLang="zh-TW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TW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kumimoji="0" lang="en-US" altLang="zh-TW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kumimoji="0" lang="en-US" altLang="zh-TW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altLang="zh-TW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𝑞</m:t>
                                      </m:r>
                                    </m:e>
                                  </m:acc>
                                  <m:r>
                                    <a:rPr kumimoji="0" lang="en-US" altLang="zh-TW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, </m:t>
                                  </m:r>
                                  <m:acc>
                                    <m:accPr>
                                      <m:chr m:val="⃑"/>
                                      <m:ctrlPr>
                                        <a:rPr kumimoji="0" lang="en-US" altLang="zh-TW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altLang="zh-TW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𝑠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</m:func>
                      <m:r>
                        <a:rPr kumimoji="0" lang="en-US" altLang="zh-TW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≤−</m:t>
                      </m:r>
                      <m:f>
                        <m:fPr>
                          <m:ctrlPr>
                            <a:rPr kumimoji="0" lang="en-US" altLang="zh-TW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  <m: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  <m:e>
                          <m:func>
                            <m:funcPr>
                              <m:ctrlPr>
                                <a:rPr kumimoji="0" lang="en-US" altLang="zh-TW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zh-TW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altLang="zh-TW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TW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1+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0" lang="en-US" altLang="zh-TW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COS</m:t>
                                  </m:r>
                                  <m:d>
                                    <m:dPr>
                                      <m:ctrlPr>
                                        <a:rPr kumimoji="0" lang="en-US" altLang="zh-TW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⃑"/>
                                          <m:ctrlPr>
                                            <a:rPr kumimoji="0" lang="en-US" altLang="zh-TW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en-US" altLang="zh-TW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kumimoji="0" lang="en-US" altLang="zh-TW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seg</m:t>
                                              </m:r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kumimoji="0" lang="en-US" altLang="zh-TW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⃑"/>
                                          <m:ctrlPr>
                                            <a:rPr kumimoji="0" lang="en-US" altLang="zh-TW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en-US" altLang="zh-TW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kumimoji="0" lang="en-US" altLang="zh-TW" b="0" i="0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seg</m:t>
                                              </m:r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kumimoji="0" lang="en-US" altLang="zh-TW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kumimoji="0" lang="en-US" altLang="zh-TW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func>
                        <m:funcPr>
                          <m:ctrlPr>
                            <a:rPr kumimoji="0" lang="en-US" altLang="zh-TW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TW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kumimoji="0" lang="en-US" altLang="zh-TW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TW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zh-TW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US" altLang="zh-TW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kumimoji="0" lang="en-US" altLang="zh-TW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TW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d>
                        </m:e>
                      </m:func>
                      <m:r>
                        <a:rPr kumimoji="0" lang="en-US" altLang="zh-TW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func>
                        <m:funcPr>
                          <m:ctrlPr>
                            <a:rPr kumimoji="0" lang="en-US" altLang="zh-TW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TW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kumimoji="0" lang="en-US" altLang="zh-TW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TW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zh-TW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US" altLang="zh-TW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kumimoji="0" lang="en-US" altLang="zh-TW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TW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</m:e>
                      </m:func>
                    </m:oMath>
                  </m:oMathPara>
                </a14:m>
                <a:endParaRPr kumimoji="0" lang="zh-TW" altLang="en-US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8B439078-00EC-EE58-9538-F2984D4FA6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233" y="5602298"/>
                <a:ext cx="8610562" cy="877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2643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994D35-D6F5-0652-A67C-933C040CB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Estimation of Weights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98516F-44C9-7DD6-BA27-5D03A146F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76400"/>
            <a:ext cx="8439472" cy="4800600"/>
          </a:xfrm>
        </p:spPr>
        <p:txBody>
          <a:bodyPr/>
          <a:lstStyle/>
          <a:p>
            <a:r>
              <a:rPr lang="en-US" altLang="zh-TW" dirty="0"/>
              <a:t>Using Taylor Expansion to make approximation of logarithmic function</a:t>
            </a:r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We get </a:t>
            </a:r>
          </a:p>
          <a:p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A2BC643-F0C2-04C2-2EE0-A7C41A142D46}"/>
                  </a:ext>
                </a:extLst>
              </p:cNvPr>
              <p:cNvSpPr txBox="1"/>
              <p:nvPr/>
            </p:nvSpPr>
            <p:spPr>
              <a:xfrm>
                <a:off x="7164288" y="994025"/>
                <a:ext cx="2088232" cy="7913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TW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8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zh-TW" sz="1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TW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8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TW" sz="1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80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seg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f>
                        <m:fPr>
                          <m:ctrlP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en-US" altLang="zh-TW" sz="1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A2BC643-F0C2-04C2-2EE0-A7C41A142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288" y="994025"/>
                <a:ext cx="2088232" cy="7913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A3A52A4-5627-0D62-0634-09A6AAECA68F}"/>
                  </a:ext>
                </a:extLst>
              </p:cNvPr>
              <p:cNvSpPr txBox="1"/>
              <p:nvPr/>
            </p:nvSpPr>
            <p:spPr>
              <a:xfrm>
                <a:off x="683568" y="2060848"/>
                <a:ext cx="5272135" cy="661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ln</m:t>
                      </m:r>
                      <m:d>
                        <m:dPr>
                          <m:ctrlP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TW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  <m:r>
                            <a:rPr kumimoji="0" lang="en-US" altLang="zh-TW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kumimoji="0" lang="en-US" altLang="zh-TW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cos</m:t>
                          </m:r>
                          <m:r>
                            <a:rPr kumimoji="0" lang="en-US" altLang="zh-TW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0" lang="en-US" altLang="zh-TW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θ</m:t>
                          </m:r>
                        </m:e>
                      </m:d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≈</m:t>
                      </m:r>
                      <m:f>
                        <m:f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0" lang="en-US" altLang="zh-TW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zh-TW" sz="18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0" lang="en-US" altLang="zh-TW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𝜙</m:t>
                              </m:r>
                            </m:e>
                          </m:func>
                        </m:num>
                        <m:den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1−</m:t>
                          </m:r>
                          <m:func>
                            <m:funcPr>
                              <m:ctrlPr>
                                <a:rPr kumimoji="0" lang="en-US" altLang="zh-TW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zh-TW" sz="18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0" lang="en-US" altLang="zh-TW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𝜙</m:t>
                              </m:r>
                            </m:e>
                          </m:func>
                        </m:den>
                      </m:f>
                      <m:d>
                        <m:dPr>
                          <m:ctrlP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𝜙</m:t>
                          </m:r>
                        </m:e>
                      </m:d>
                      <m:r>
                        <a:rPr kumimoji="0" lang="en-US" altLang="zh-TW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ln</m:t>
                      </m:r>
                      <m:d>
                        <m:dPr>
                          <m:ctrlPr>
                            <a:rPr kumimoji="0" lang="en-US" altLang="zh-TW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TW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1−</m:t>
                          </m:r>
                          <m:func>
                            <m:funcPr>
                              <m:ctrlPr>
                                <a:rPr kumimoji="0" lang="en-US" altLang="zh-TW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zh-TW" sz="18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0" lang="en-US" altLang="zh-TW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𝜙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kumimoji="0" lang="en-US" altLang="zh-TW" sz="180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A3A52A4-5627-0D62-0634-09A6AAECA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060848"/>
                <a:ext cx="5272135" cy="6617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0537023"/>
      </p:ext>
    </p:extLst>
  </p:cSld>
  <p:clrMapOvr>
    <a:masterClrMapping/>
  </p:clrMapOvr>
</p:sld>
</file>

<file path=ppt/theme/theme1.xml><?xml version="1.0" encoding="utf-8"?>
<a:theme xmlns:a="http://schemas.openxmlformats.org/drawingml/2006/main" name="20140724_James_IC Training Final Project_v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hihhao_Slide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Chihhao_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ihhao_Slid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hihhao_Slide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Chihhao_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ihhao_Slid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84499EF8-B3CF-49EF-8C27-588E979EA3AC}" vid="{185E0B34-4C48-479A-A23B-D0210B66C092}"/>
    </a:ext>
  </a:extLst>
</a:theme>
</file>

<file path=ppt/theme/theme3.xml><?xml version="1.0" encoding="utf-8"?>
<a:theme xmlns:a="http://schemas.openxmlformats.org/drawingml/2006/main" name="1_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cess Lab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cess La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cess Lab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cess Lab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cess La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cess Lab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Blends">
  <a:themeElements>
    <a:clrScheme name="1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Access2">
  <a:themeElements>
    <a:clrScheme name="自然力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1_Acces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40000"/>
            <a:lumOff val="60000"/>
          </a:schemeClr>
        </a:solidFill>
        <a:ln>
          <a:solidFill>
            <a:schemeClr val="accent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1_Acce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Acce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2_20140724_James_IC Training Final Project_v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hihhao_Slide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Chihhao_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ihhao_Slid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20140724_James_IC Training Final Project_v2</Template>
  <TotalTime>166137</TotalTime>
  <Words>459</Words>
  <Application>Microsoft Office PowerPoint</Application>
  <PresentationFormat>如螢幕大小 (4:3)</PresentationFormat>
  <Paragraphs>180</Paragraphs>
  <Slides>8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7</vt:i4>
      </vt:variant>
      <vt:variant>
        <vt:lpstr>投影片標題</vt:lpstr>
      </vt:variant>
      <vt:variant>
        <vt:i4>8</vt:i4>
      </vt:variant>
    </vt:vector>
  </HeadingPairs>
  <TitlesOfParts>
    <vt:vector size="24" baseType="lpstr">
      <vt:lpstr>新細明體</vt:lpstr>
      <vt:lpstr>標楷體</vt:lpstr>
      <vt:lpstr>Arial</vt:lpstr>
      <vt:lpstr>Arial Black</vt:lpstr>
      <vt:lpstr>Calibri</vt:lpstr>
      <vt:lpstr>Cambria Math</vt:lpstr>
      <vt:lpstr>Symbol</vt:lpstr>
      <vt:lpstr>Tahoma</vt:lpstr>
      <vt:lpstr>Wingdings</vt:lpstr>
      <vt:lpstr>20140724_James_IC Training Final Project_v2</vt:lpstr>
      <vt:lpstr>佈景主題1</vt:lpstr>
      <vt:lpstr>1_Access Lab</vt:lpstr>
      <vt:lpstr>2_Access Lab</vt:lpstr>
      <vt:lpstr>1_Blends</vt:lpstr>
      <vt:lpstr>Access2</vt:lpstr>
      <vt:lpstr>2_20140724_James_IC Training Final Project_v2</vt:lpstr>
      <vt:lpstr>Experiments on Dimension Reduction</vt:lpstr>
      <vt:lpstr>Outline</vt:lpstr>
      <vt:lpstr>Hamming Distance &amp; Cosine Distance</vt:lpstr>
      <vt:lpstr>Hamming Distance &amp; Cosine Distance</vt:lpstr>
      <vt:lpstr>Hamming Distance &amp; Cosine Distance</vt:lpstr>
      <vt:lpstr>Estimation of Weights</vt:lpstr>
      <vt:lpstr>Estimation of Weights</vt:lpstr>
      <vt:lpstr>Estimation of Weights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 Training  Final Project</dc:title>
  <dc:creator>user</dc:creator>
  <cp:lastModifiedBy>仁軒 王</cp:lastModifiedBy>
  <cp:revision>1853</cp:revision>
  <cp:lastPrinted>2025-05-02T08:25:41Z</cp:lastPrinted>
  <dcterms:created xsi:type="dcterms:W3CDTF">2014-07-23T04:37:50Z</dcterms:created>
  <dcterms:modified xsi:type="dcterms:W3CDTF">2026-02-13T07:19:58Z</dcterms:modified>
</cp:coreProperties>
</file>