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2" r:id="rId3"/>
    <p:sldMasterId id="2147483684" r:id="rId4"/>
    <p:sldMasterId id="2147483696" r:id="rId5"/>
    <p:sldMasterId id="2147483701" r:id="rId6"/>
    <p:sldMasterId id="2147483718" r:id="rId7"/>
  </p:sldMasterIdLst>
  <p:notesMasterIdLst>
    <p:notesMasterId r:id="rId24"/>
  </p:notesMasterIdLst>
  <p:handoutMasterIdLst>
    <p:handoutMasterId r:id="rId25"/>
  </p:handoutMasterIdLst>
  <p:sldIdLst>
    <p:sldId id="256" r:id="rId8"/>
    <p:sldId id="257" r:id="rId9"/>
    <p:sldId id="271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6858000" type="screen4x3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901"/>
    <a:srgbClr val="0000FF"/>
    <a:srgbClr val="4F81BD"/>
    <a:srgbClr val="FF0000"/>
    <a:srgbClr val="E7D4E6"/>
    <a:srgbClr val="8EB4E3"/>
    <a:srgbClr val="E6E6E6"/>
    <a:srgbClr val="F5F5F5"/>
    <a:srgbClr val="ECECEC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8" autoAdjust="0"/>
    <p:restoredTop sz="94573" autoAdjust="0"/>
  </p:normalViewPr>
  <p:slideViewPr>
    <p:cSldViewPr>
      <p:cViewPr varScale="1">
        <p:scale>
          <a:sx n="111" d="100"/>
          <a:sy n="111" d="100"/>
        </p:scale>
        <p:origin x="2203" y="62"/>
      </p:cViewPr>
      <p:guideLst>
        <p:guide pos="288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F37E1-976C-4D68-AAA1-E18BCAC423B3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BF533-2A2D-4D77-8B65-2DF21E0EF6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88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5A04-DEC0-490E-BE54-AD23B90E8F9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0520D-9A8A-4E05-BB16-8C1AC1960E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6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0520D-9A8A-4E05-BB16-8C1AC1960EE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29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0520D-9A8A-4E05-BB16-8C1AC1960EE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619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3770-EADD-F5D0-C37D-ABA651A8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16AB0B-31E2-FBF7-342A-E15792F70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140E31-451B-BB85-2892-36CDD7036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E2A937-9A5E-E87E-248D-7B6C77090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0520D-9A8A-4E05-BB16-8C1AC1960EE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111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5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60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12782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8179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78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6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34947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942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073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6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2411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621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0536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614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3011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6841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462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9409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7937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808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736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647302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51102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85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0001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8430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08170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292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3224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08533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3371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88386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55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71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27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055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tulogo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55362-DAEE-40C4-8CB1-EA266F18E455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4442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5754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97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2151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636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8578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438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17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310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042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498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914400"/>
            <a:ext cx="5678487" cy="5349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268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86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842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842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7530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4213" y="4130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7456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4213" y="1844675"/>
            <a:ext cx="7772400" cy="4419600"/>
          </a:xfrm>
        </p:spPr>
        <p:txBody>
          <a:bodyPr/>
          <a:lstStyle/>
          <a:p>
            <a:r>
              <a:rPr lang="zh-TW" altLang="en-US"/>
              <a:t>按一下圖示以新增表格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132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172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D0262-E162-403E-858F-A7EB6D2690C2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6274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72005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2749594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087844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ti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pic>
        <p:nvPicPr>
          <p:cNvPr id="1028" name="Picture 6" descr="Ntulogo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 dirty="0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 dirty="0">
                <a:latin typeface="Arial Black" pitchFamily="34" charset="0"/>
              </a:rPr>
              <a:t>               </a:t>
            </a:r>
            <a:r>
              <a:rPr kumimoji="0" lang="en-US" altLang="zh-TW" sz="1200" i="1" dirty="0">
                <a:latin typeface="Arial Black" pitchFamily="34" charset="0"/>
              </a:rPr>
              <a:t>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62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05479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362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714356"/>
            <a:ext cx="8229600" cy="5929513"/>
            <a:chOff x="288" y="480"/>
            <a:chExt cx="5184" cy="3644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288" y="4076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</p:grp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3078" name="Picture 6" descr="Ntulogo3"/>
          <p:cNvPicPr>
            <a:picLocks noChangeAspect="1" noChangeArrowheads="1"/>
          </p:cNvPicPr>
          <p:nvPr/>
        </p:nvPicPr>
        <p:blipFill>
          <a:blip r:embed="rId18" cstate="screen"/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</p:spPr>
      </p:pic>
      <p:sp>
        <p:nvSpPr>
          <p:cNvPr id="307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844675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8582376" y="6480137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8ADC59-A20A-46E1-B02E-8653EE84F743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5288" y="6453188"/>
            <a:ext cx="2895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14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9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E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I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L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B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</a:t>
            </a:r>
            <a:fld id="{E0FF8C92-A794-40BC-BAC1-2D3349E2F883}" type="slidenum"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55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emf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emf"/><Relationship Id="rId10" Type="http://schemas.openxmlformats.org/officeDocument/2006/relationships/image" Target="../media/image14.svg"/><Relationship Id="rId4" Type="http://schemas.openxmlformats.org/officeDocument/2006/relationships/image" Target="../media/image8.emf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8.png"/><Relationship Id="rId5" Type="http://schemas.openxmlformats.org/officeDocument/2006/relationships/image" Target="../media/image170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0.png"/><Relationship Id="rId10" Type="http://schemas.openxmlformats.org/officeDocument/2006/relationships/image" Target="../media/image67.png"/><Relationship Id="rId4" Type="http://schemas.openxmlformats.org/officeDocument/2006/relationships/image" Target="../media/image610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6220A-6C4C-46E7-C888-ECE599CD2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0" y="2132856"/>
            <a:ext cx="8928980" cy="1214438"/>
          </a:xfrm>
        </p:spPr>
        <p:txBody>
          <a:bodyPr/>
          <a:lstStyle/>
          <a:p>
            <a:r>
              <a:rPr lang="en-US" altLang="zh-TW" dirty="0"/>
              <a:t>Segmented</a:t>
            </a:r>
            <a:r>
              <a:rPr lang="zh-TW" altLang="en-US" dirty="0"/>
              <a:t> </a:t>
            </a:r>
            <a:r>
              <a:rPr lang="en-US" altLang="zh-TW" dirty="0"/>
              <a:t>Angular</a:t>
            </a:r>
            <a:r>
              <a:rPr lang="zh-TW" altLang="en-US" dirty="0"/>
              <a:t> </a:t>
            </a:r>
            <a:r>
              <a:rPr lang="en-US" altLang="zh-TW" dirty="0"/>
              <a:t>Pre-Processing</a:t>
            </a:r>
            <a:r>
              <a:rPr lang="zh-TW" altLang="en-US" dirty="0"/>
              <a:t> </a:t>
            </a:r>
            <a:r>
              <a:rPr lang="en-US" altLang="zh-TW" dirty="0"/>
              <a:t>for</a:t>
            </a:r>
            <a:r>
              <a:rPr lang="zh-TW" altLang="en-US" dirty="0"/>
              <a:t> </a:t>
            </a:r>
            <a:r>
              <a:rPr lang="en-US" altLang="zh-TW" dirty="0"/>
              <a:t>Accurate</a:t>
            </a:r>
            <a:r>
              <a:rPr lang="zh-TW" altLang="en-US" dirty="0"/>
              <a:t> </a:t>
            </a:r>
            <a:r>
              <a:rPr lang="en-US" altLang="zh-TW" dirty="0"/>
              <a:t>and</a:t>
            </a:r>
            <a:r>
              <a:rPr lang="zh-TW" altLang="en-US" dirty="0"/>
              <a:t> </a:t>
            </a:r>
            <a:r>
              <a:rPr lang="en-US" altLang="zh-TW" dirty="0"/>
              <a:t>Efficient</a:t>
            </a:r>
            <a:r>
              <a:rPr lang="zh-TW" altLang="en-US" dirty="0"/>
              <a:t> </a:t>
            </a:r>
            <a:r>
              <a:rPr lang="en-US" altLang="zh-TW" dirty="0"/>
              <a:t>In-Memory</a:t>
            </a:r>
            <a:r>
              <a:rPr lang="zh-TW" altLang="en-US" dirty="0"/>
              <a:t> </a:t>
            </a:r>
            <a:r>
              <a:rPr lang="en-US" altLang="zh-TW" dirty="0"/>
              <a:t>VSS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C9B766-499C-8277-B8CA-0F28632E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68763"/>
            <a:ext cx="9144000" cy="1880517"/>
          </a:xfrm>
        </p:spPr>
        <p:txBody>
          <a:bodyPr/>
          <a:lstStyle/>
          <a:p>
            <a:r>
              <a:rPr lang="en-US" altLang="zh-TW" dirty="0"/>
              <a:t>Speaker :</a:t>
            </a:r>
            <a:r>
              <a:rPr lang="zh-TW" altLang="en-US" dirty="0"/>
              <a:t> </a:t>
            </a:r>
            <a:r>
              <a:rPr lang="en-US" altLang="zh-TW" dirty="0"/>
              <a:t>Oniontow</a:t>
            </a:r>
          </a:p>
          <a:p>
            <a:r>
              <a:rPr lang="en-US" altLang="zh-TW" dirty="0"/>
              <a:t>Mentor : Rick Huang</a:t>
            </a:r>
          </a:p>
          <a:p>
            <a:r>
              <a:rPr lang="en-US" altLang="zh-TW" dirty="0"/>
              <a:t>Advisor: Prof. An-Yeu (Andy) Wu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Dr. Hsiang-Yun Cheng </a:t>
            </a:r>
          </a:p>
          <a:p>
            <a:r>
              <a:rPr lang="en-US" altLang="zh-TW" dirty="0"/>
              <a:t>Date : 2026/03/09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67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48684-C775-7306-A334-BC575AA9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F710D-9324-9990-BA9E-93FCAFCC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Hamming Distance &amp; Cosine Distance</a:t>
            </a:r>
          </a:p>
          <a:p>
            <a:r>
              <a:rPr lang="en-US" altLang="zh-TW" sz="2200" dirty="0"/>
              <a:t>Estimation of Weights</a:t>
            </a:r>
          </a:p>
          <a:p>
            <a:r>
              <a:rPr lang="en-US" altLang="zh-TW" sz="2200" dirty="0"/>
              <a:t>Preprocessing for Encoding</a:t>
            </a:r>
          </a:p>
          <a:p>
            <a:r>
              <a:rPr lang="en-US" altLang="zh-TW" sz="2200" dirty="0"/>
              <a:t>Codeword Generation</a:t>
            </a:r>
          </a:p>
          <a:p>
            <a:r>
              <a:rPr lang="en-US" altLang="zh-TW" sz="2200" dirty="0"/>
              <a:t>Experiment Results</a:t>
            </a:r>
          </a:p>
          <a:p>
            <a:endParaRPr lang="en-US" altLang="zh-TW" sz="2200" dirty="0"/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748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5D63D1-9779-F2AE-ADA8-1C7EDA89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Observation of Hamming Distance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AC7758-E047-B702-8ECA-E661CE0D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Gap between Hamming distance and cosine distance narrowed when dimension of embeddings increases</a:t>
            </a:r>
          </a:p>
          <a:p>
            <a:pPr lvl="1"/>
            <a:r>
              <a:rPr lang="en-US" altLang="zh-TW" dirty="0"/>
              <a:t>Hamming distance (spatial metric) &amp; Cosine distance (angular metric)</a:t>
            </a:r>
          </a:p>
          <a:p>
            <a:pPr lvl="1"/>
            <a:r>
              <a:rPr lang="en-US" altLang="zh-TW" dirty="0"/>
              <a:t>There must be some relation between these two metric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32E02D-2D83-CCE9-5871-E4A293EF2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455" y="3901777"/>
            <a:ext cx="2583180" cy="222504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E14D819-19B1-B363-BA77-711E8BD6D0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651" t="36733" r="3101" b="23883"/>
          <a:stretch/>
        </p:blipFill>
        <p:spPr>
          <a:xfrm>
            <a:off x="210728" y="4360882"/>
            <a:ext cx="1143000" cy="8763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746FDF0-091D-D41D-86E0-51B091D05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141" y="3901777"/>
            <a:ext cx="2667000" cy="2225040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6F4877A-E322-475A-F8A5-B2C43EA87544}"/>
              </a:ext>
            </a:extLst>
          </p:cNvPr>
          <p:cNvCxnSpPr>
            <a:cxnSpLocks/>
          </p:cNvCxnSpPr>
          <p:nvPr/>
        </p:nvCxnSpPr>
        <p:spPr>
          <a:xfrm flipV="1">
            <a:off x="2378643" y="4392505"/>
            <a:ext cx="322300" cy="676675"/>
          </a:xfrm>
          <a:prstGeom prst="straightConnector1">
            <a:avLst/>
          </a:prstGeom>
          <a:noFill/>
          <a:ln w="38100" cap="flat" cmpd="sng" algn="ctr">
            <a:solidFill>
              <a:srgbClr val="7E2F8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1FCAC86-7FE8-BED8-0612-6803CC2510F6}"/>
              </a:ext>
            </a:extLst>
          </p:cNvPr>
          <p:cNvCxnSpPr>
            <a:cxnSpLocks/>
          </p:cNvCxnSpPr>
          <p:nvPr/>
        </p:nvCxnSpPr>
        <p:spPr>
          <a:xfrm>
            <a:off x="2767999" y="4392505"/>
            <a:ext cx="1414272" cy="469392"/>
          </a:xfrm>
          <a:prstGeom prst="straightConnector1">
            <a:avLst/>
          </a:prstGeom>
          <a:noFill/>
          <a:ln w="38100" cap="flat" cmpd="sng" algn="ctr">
            <a:solidFill>
              <a:srgbClr val="7E2F8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0FD10F40-7CA5-2ED2-9852-E86BFEE6B06C}"/>
              </a:ext>
            </a:extLst>
          </p:cNvPr>
          <p:cNvCxnSpPr>
            <a:cxnSpLocks/>
          </p:cNvCxnSpPr>
          <p:nvPr/>
        </p:nvCxnSpPr>
        <p:spPr>
          <a:xfrm>
            <a:off x="6767883" y="4824942"/>
            <a:ext cx="318135" cy="90805"/>
          </a:xfrm>
          <a:prstGeom prst="straightConnector1">
            <a:avLst/>
          </a:prstGeom>
          <a:noFill/>
          <a:ln w="38100" cap="flat" cmpd="sng" algn="ctr">
            <a:solidFill>
              <a:srgbClr val="7E2F8E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98007D9-E082-C33D-0FA3-97CF118119C5}"/>
                  </a:ext>
                </a:extLst>
              </p:cNvPr>
              <p:cNvSpPr txBox="1"/>
              <p:nvPr/>
            </p:nvSpPr>
            <p:spPr>
              <a:xfrm>
                <a:off x="3200857" y="3277151"/>
                <a:ext cx="333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𝐷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98007D9-E082-C33D-0FA3-97CF11811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857" y="3277151"/>
                <a:ext cx="3337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7A3ACE-6C87-AE46-A799-D8D94F9F8395}"/>
              </a:ext>
            </a:extLst>
          </p:cNvPr>
          <p:cNvSpPr txBox="1"/>
          <p:nvPr/>
        </p:nvSpPr>
        <p:spPr>
          <a:xfrm>
            <a:off x="3735072" y="3096269"/>
            <a:ext cx="3277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Discrepancy (Segment vs. Vector)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74BC95E-7EBA-4686-0C48-A750ECE1DB83}"/>
              </a:ext>
            </a:extLst>
          </p:cNvPr>
          <p:cNvSpPr txBox="1"/>
          <p:nvPr/>
        </p:nvSpPr>
        <p:spPr>
          <a:xfrm>
            <a:off x="3735072" y="3489969"/>
            <a:ext cx="3353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Number of Segments</a:t>
            </a:r>
          </a:p>
        </p:txBody>
      </p:sp>
      <p:pic>
        <p:nvPicPr>
          <p:cNvPr id="14" name="圖形 13" descr="箭號 (順時針曲線)">
            <a:extLst>
              <a:ext uri="{FF2B5EF4-FFF2-40B4-BE49-F238E27FC236}">
                <a16:creationId xmlns:a16="http://schemas.microsoft.com/office/drawing/2014/main" id="{3F3A7820-7981-C773-79C5-EF1A7A338B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053474" flipH="1">
            <a:off x="3399076" y="3255935"/>
            <a:ext cx="383472" cy="383472"/>
          </a:xfrm>
          <a:prstGeom prst="rect">
            <a:avLst/>
          </a:prstGeom>
        </p:spPr>
      </p:pic>
      <p:pic>
        <p:nvPicPr>
          <p:cNvPr id="15" name="圖形 14" descr="箭號 (順時針曲線)">
            <a:extLst>
              <a:ext uri="{FF2B5EF4-FFF2-40B4-BE49-F238E27FC236}">
                <a16:creationId xmlns:a16="http://schemas.microsoft.com/office/drawing/2014/main" id="{1528074C-3841-6696-E8AD-C67492688AE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53474" flipH="1">
            <a:off x="6877539" y="3078249"/>
            <a:ext cx="383472" cy="383472"/>
          </a:xfrm>
          <a:prstGeom prst="rect">
            <a:avLst/>
          </a:prstGeom>
        </p:spPr>
      </p:pic>
      <p:pic>
        <p:nvPicPr>
          <p:cNvPr id="16" name="圖形 15" descr="箭號 (順時針曲線)">
            <a:extLst>
              <a:ext uri="{FF2B5EF4-FFF2-40B4-BE49-F238E27FC236}">
                <a16:creationId xmlns:a16="http://schemas.microsoft.com/office/drawing/2014/main" id="{C030E57A-1462-628C-1821-D3FC0491BC1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053474" flipH="1">
            <a:off x="5760483" y="3468100"/>
            <a:ext cx="383472" cy="383472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D7C8D510-EF68-3379-CAE3-87ED98DA568E}"/>
              </a:ext>
            </a:extLst>
          </p:cNvPr>
          <p:cNvSpPr txBox="1"/>
          <p:nvPr/>
        </p:nvSpPr>
        <p:spPr>
          <a:xfrm>
            <a:off x="652839" y="4596861"/>
            <a:ext cx="228945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DB007FB-E754-54A4-B397-D0ED88BA8FBF}"/>
              </a:ext>
            </a:extLst>
          </p:cNvPr>
          <p:cNvSpPr txBox="1"/>
          <p:nvPr/>
        </p:nvSpPr>
        <p:spPr>
          <a:xfrm>
            <a:off x="652839" y="4704583"/>
            <a:ext cx="228945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F8040C3-1791-0289-546E-F95725565350}"/>
                  </a:ext>
                </a:extLst>
              </p:cNvPr>
              <p:cNvSpPr/>
              <p:nvPr/>
            </p:nvSpPr>
            <p:spPr>
              <a:xfrm>
                <a:off x="584127" y="4570132"/>
                <a:ext cx="380232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TW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F8040C3-1791-0289-546E-F957255653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27" y="4570132"/>
                <a:ext cx="380232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C1135BBD-398C-9516-63EE-E1241E94F785}"/>
                  </a:ext>
                </a:extLst>
              </p:cNvPr>
              <p:cNvSpPr/>
              <p:nvPr/>
            </p:nvSpPr>
            <p:spPr>
              <a:xfrm>
                <a:off x="584127" y="4755869"/>
                <a:ext cx="41549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TW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C1135BBD-398C-9516-63EE-E1241E94F7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27" y="4755869"/>
                <a:ext cx="41549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EEB5E14D-D7C9-C033-9816-CAAC6AD6C645}"/>
              </a:ext>
            </a:extLst>
          </p:cNvPr>
          <p:cNvCxnSpPr>
            <a:cxnSpLocks/>
          </p:cNvCxnSpPr>
          <p:nvPr/>
        </p:nvCxnSpPr>
        <p:spPr bwMode="auto">
          <a:xfrm>
            <a:off x="2767999" y="4083394"/>
            <a:ext cx="0" cy="1543356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46423FA-A347-3CB9-8D7A-04724AC632CA}"/>
              </a:ext>
            </a:extLst>
          </p:cNvPr>
          <p:cNvCxnSpPr>
            <a:cxnSpLocks/>
          </p:cNvCxnSpPr>
          <p:nvPr/>
        </p:nvCxnSpPr>
        <p:spPr bwMode="auto">
          <a:xfrm>
            <a:off x="6748667" y="4083394"/>
            <a:ext cx="0" cy="1543356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D8537DF-ADB9-417F-337F-FB5B7C139677}"/>
              </a:ext>
            </a:extLst>
          </p:cNvPr>
          <p:cNvSpPr txBox="1"/>
          <p:nvPr/>
        </p:nvSpPr>
        <p:spPr>
          <a:xfrm>
            <a:off x="3049248" y="6460040"/>
            <a:ext cx="359444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TW" b="1" dirty="0"/>
              <a:t>Discrepancy Saturation Region</a:t>
            </a:r>
            <a:endParaRPr lang="zh-TW" altLang="en-US" b="1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4B45AD1-607D-2E23-9594-FB02238EC546}"/>
              </a:ext>
            </a:extLst>
          </p:cNvPr>
          <p:cNvCxnSpPr/>
          <p:nvPr/>
        </p:nvCxnSpPr>
        <p:spPr bwMode="auto">
          <a:xfrm flipV="1">
            <a:off x="1649410" y="3690000"/>
            <a:ext cx="0" cy="2009775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B89C5E7-3A50-01C4-D667-D49F7D77C10A}"/>
              </a:ext>
            </a:extLst>
          </p:cNvPr>
          <p:cNvSpPr txBox="1"/>
          <p:nvPr/>
        </p:nvSpPr>
        <p:spPr>
          <a:xfrm>
            <a:off x="1670101" y="3568110"/>
            <a:ext cx="113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worse</a:t>
            </a:r>
            <a:endParaRPr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F6E1E7C3-5E66-5CEF-77E1-E8A184D0D06D}"/>
              </a:ext>
            </a:extLst>
          </p:cNvPr>
          <p:cNvCxnSpPr>
            <a:cxnSpLocks/>
          </p:cNvCxnSpPr>
          <p:nvPr/>
        </p:nvCxnSpPr>
        <p:spPr bwMode="auto">
          <a:xfrm>
            <a:off x="2272748" y="5625548"/>
            <a:ext cx="2106145" cy="1202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22549D8-019C-9719-C211-3655987DBB41}"/>
              </a:ext>
            </a:extLst>
          </p:cNvPr>
          <p:cNvCxnSpPr>
            <a:cxnSpLocks/>
          </p:cNvCxnSpPr>
          <p:nvPr/>
        </p:nvCxnSpPr>
        <p:spPr bwMode="auto">
          <a:xfrm>
            <a:off x="3489354" y="5501459"/>
            <a:ext cx="94689" cy="905240"/>
          </a:xfrm>
          <a:prstGeom prst="straightConnector1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DDF0F8E-C835-86EB-2431-099D2F033FF9}"/>
              </a:ext>
            </a:extLst>
          </p:cNvPr>
          <p:cNvCxnSpPr>
            <a:cxnSpLocks/>
          </p:cNvCxnSpPr>
          <p:nvPr/>
        </p:nvCxnSpPr>
        <p:spPr bwMode="auto">
          <a:xfrm flipV="1">
            <a:off x="5135217" y="5645426"/>
            <a:ext cx="1994453" cy="19878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F8C9504-73B0-7B01-5DDD-5EF67BE57CFF}"/>
              </a:ext>
            </a:extLst>
          </p:cNvPr>
          <p:cNvCxnSpPr>
            <a:cxnSpLocks/>
          </p:cNvCxnSpPr>
          <p:nvPr/>
        </p:nvCxnSpPr>
        <p:spPr>
          <a:xfrm flipV="1">
            <a:off x="5534783" y="4837489"/>
            <a:ext cx="1128131" cy="783667"/>
          </a:xfrm>
          <a:prstGeom prst="straightConnector1">
            <a:avLst/>
          </a:prstGeom>
          <a:noFill/>
          <a:ln w="38100" cap="flat" cmpd="sng" algn="ctr">
            <a:solidFill>
              <a:srgbClr val="7E2F8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E5200A2A-530E-B612-EB76-066539622A88}"/>
              </a:ext>
            </a:extLst>
          </p:cNvPr>
          <p:cNvCxnSpPr>
            <a:cxnSpLocks/>
          </p:cNvCxnSpPr>
          <p:nvPr/>
        </p:nvCxnSpPr>
        <p:spPr bwMode="auto">
          <a:xfrm flipH="1">
            <a:off x="6106796" y="5524092"/>
            <a:ext cx="905588" cy="859469"/>
          </a:xfrm>
          <a:prstGeom prst="straightConnector1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22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856154A8-0F79-2BB8-92E7-C26BD970049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 bwMode="auto">
          <a:xfrm>
            <a:off x="853901" y="5549157"/>
            <a:ext cx="105205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5B1C783B-A109-161C-A3BB-CE2DD972B07E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 bwMode="auto">
          <a:xfrm flipV="1">
            <a:off x="1393887" y="6088160"/>
            <a:ext cx="1034510" cy="78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CD37634A-A780-C738-043A-B3A65B4709E4}"/>
              </a:ext>
            </a:extLst>
          </p:cNvPr>
          <p:cNvCxnSpPr>
            <a:cxnSpLocks/>
            <a:stCxn id="7" idx="3"/>
            <a:endCxn id="61" idx="1"/>
          </p:cNvCxnSpPr>
          <p:nvPr/>
        </p:nvCxnSpPr>
        <p:spPr bwMode="auto">
          <a:xfrm>
            <a:off x="2265954" y="5549157"/>
            <a:ext cx="1022697" cy="16770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D7094E1C-911C-5B72-948A-3F16AAD4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Hamming Distance &amp; Cosine Distance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A38A62-4AF3-7508-AECA-EABBEBE8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Relation between Hamming distance &amp; cosine distance</a:t>
            </a:r>
          </a:p>
          <a:p>
            <a:pPr lvl="1"/>
            <a:r>
              <a:rPr lang="en-US" altLang="zh-TW" dirty="0"/>
              <a:t>Re-interpretation of Hamming distance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Rewrite the formula of Hamming distance using cosine function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C169796-AFC3-AE1A-632F-7EA3869E4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98034"/>
              </p:ext>
            </p:extLst>
          </p:nvPr>
        </p:nvGraphicFramePr>
        <p:xfrm>
          <a:off x="493901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490873-3540-E97D-ECFF-F93DFDB48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05073"/>
              </p:ext>
            </p:extLst>
          </p:nvPr>
        </p:nvGraphicFramePr>
        <p:xfrm>
          <a:off x="2428397" y="535190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897DB5C-B9E1-35AF-DC61-1C7B08EE4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97028"/>
              </p:ext>
            </p:extLst>
          </p:nvPr>
        </p:nvGraphicFramePr>
        <p:xfrm>
          <a:off x="1033887" y="535974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DD7E636-2AC5-9341-77EA-C28FC6BDC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525736"/>
              </p:ext>
            </p:extLst>
          </p:nvPr>
        </p:nvGraphicFramePr>
        <p:xfrm>
          <a:off x="1905954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63A07F7-270F-562B-C115-D6A3C03E2698}"/>
                  </a:ext>
                </a:extLst>
              </p:cNvPr>
              <p:cNvSpPr txBox="1"/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63A07F7-270F-562B-C115-D6A3C03E2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16DD444-FAFF-AFF2-5A4A-7ECE3C167379}"/>
                  </a:ext>
                </a:extLst>
              </p:cNvPr>
              <p:cNvSpPr txBox="1"/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HAM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sgn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16DD444-FAFF-AFF2-5A4A-7ECE3C16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26F0D79F-B2A3-4F51-B1F0-B257F46B642E}"/>
              </a:ext>
            </a:extLst>
          </p:cNvPr>
          <p:cNvSpPr txBox="1"/>
          <p:nvPr/>
        </p:nvSpPr>
        <p:spPr>
          <a:xfrm>
            <a:off x="5433756" y="2636417"/>
            <a:ext cx="3579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Same sign = 0  Opposite sign = 1</a:t>
            </a:r>
            <a:endParaRPr lang="zh-TW" altLang="en-US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B6DF931-DEE9-78A2-2D12-41F6E6E368EA}"/>
              </a:ext>
            </a:extLst>
          </p:cNvPr>
          <p:cNvSpPr txBox="1"/>
          <p:nvPr/>
        </p:nvSpPr>
        <p:spPr>
          <a:xfrm>
            <a:off x="5487040" y="3802582"/>
            <a:ext cx="35127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Same dir.  = 0   Opposite dir. = 1</a:t>
            </a:r>
            <a:endParaRPr lang="zh-TW" altLang="en-US" sz="1600" dirty="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4F551525-C946-DAB2-22B7-32AED5FB1044}"/>
              </a:ext>
            </a:extLst>
          </p:cNvPr>
          <p:cNvGrpSpPr/>
          <p:nvPr/>
        </p:nvGrpSpPr>
        <p:grpSpPr>
          <a:xfrm>
            <a:off x="5334074" y="4042607"/>
            <a:ext cx="3445317" cy="1128137"/>
            <a:chOff x="5240210" y="4303383"/>
            <a:chExt cx="3445317" cy="1128137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D120099C-385F-3602-4142-F9E8C860A25E}"/>
                </a:ext>
              </a:extLst>
            </p:cNvPr>
            <p:cNvGrpSpPr/>
            <p:nvPr/>
          </p:nvGrpSpPr>
          <p:grpSpPr>
            <a:xfrm>
              <a:off x="5240210" y="4303383"/>
              <a:ext cx="3445317" cy="1128137"/>
              <a:chOff x="5623920" y="4008726"/>
              <a:chExt cx="3445317" cy="1128137"/>
            </a:xfrm>
          </p:grpSpPr>
          <p:cxnSp>
            <p:nvCxnSpPr>
              <p:cNvPr id="34" name="直線單箭頭接點 33">
                <a:extLst>
                  <a:ext uri="{FF2B5EF4-FFF2-40B4-BE49-F238E27FC236}">
                    <a16:creationId xmlns:a16="http://schemas.microsoft.com/office/drawing/2014/main" id="{7BF16AF3-876E-AC4A-CD1E-1A6E9DFD08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8129" y="4719039"/>
                <a:ext cx="102467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73B48786-1464-5C92-B711-483B5ADB1CF5}"/>
                      </a:ext>
                    </a:extLst>
                  </p:cNvPr>
                  <p:cNvSpPr/>
                  <p:nvPr/>
                </p:nvSpPr>
                <p:spPr>
                  <a:xfrm>
                    <a:off x="6694639" y="4325644"/>
                    <a:ext cx="37702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73B48786-1464-5C92-B711-483B5ADB1C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4639" y="4325644"/>
                    <a:ext cx="37702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直線單箭頭接點 35">
                <a:extLst>
                  <a:ext uri="{FF2B5EF4-FFF2-40B4-BE49-F238E27FC236}">
                    <a16:creationId xmlns:a16="http://schemas.microsoft.com/office/drawing/2014/main" id="{E2979B15-7891-9255-F14D-6A3913880E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8129" y="4719039"/>
                <a:ext cx="47167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020CAFD6-F9E8-D01B-EB56-80D4E758311D}"/>
                      </a:ext>
                    </a:extLst>
                  </p:cNvPr>
                  <p:cNvSpPr/>
                  <p:nvPr/>
                </p:nvSpPr>
                <p:spPr>
                  <a:xfrm>
                    <a:off x="6152585" y="4325644"/>
                    <a:ext cx="3529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𝒔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020CAFD6-F9E8-D01B-EB56-80D4E75831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2585" y="4325644"/>
                    <a:ext cx="35298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直線單箭頭接點 37">
                <a:extLst>
                  <a:ext uri="{FF2B5EF4-FFF2-40B4-BE49-F238E27FC236}">
                    <a16:creationId xmlns:a16="http://schemas.microsoft.com/office/drawing/2014/main" id="{08CC0E5C-2245-8564-BA03-07D03D1BD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44984" y="4712329"/>
                <a:ext cx="102467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76037EAE-7B65-D576-563A-339F15E50FAA}"/>
                      </a:ext>
                    </a:extLst>
                  </p:cNvPr>
                  <p:cNvSpPr/>
                  <p:nvPr/>
                </p:nvSpPr>
                <p:spPr>
                  <a:xfrm>
                    <a:off x="8375586" y="4318934"/>
                    <a:ext cx="37702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76037EAE-7B65-D576-563A-339F15E50F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586" y="4318934"/>
                    <a:ext cx="37702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" name="直線單箭頭接點 39">
                <a:extLst>
                  <a:ext uri="{FF2B5EF4-FFF2-40B4-BE49-F238E27FC236}">
                    <a16:creationId xmlns:a16="http://schemas.microsoft.com/office/drawing/2014/main" id="{B56AFDDA-83C4-C875-F40C-6414F90710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58624" y="4712329"/>
                <a:ext cx="38023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矩形 40">
                    <a:extLst>
                      <a:ext uri="{FF2B5EF4-FFF2-40B4-BE49-F238E27FC236}">
                        <a16:creationId xmlns:a16="http://schemas.microsoft.com/office/drawing/2014/main" id="{76DE6363-9205-5B36-ABCB-662CD2E4AC2D}"/>
                      </a:ext>
                    </a:extLst>
                  </p:cNvPr>
                  <p:cNvSpPr/>
                  <p:nvPr/>
                </p:nvSpPr>
                <p:spPr>
                  <a:xfrm>
                    <a:off x="7484536" y="4318934"/>
                    <a:ext cx="3529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𝒔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1" name="矩形 40">
                    <a:extLst>
                      <a:ext uri="{FF2B5EF4-FFF2-40B4-BE49-F238E27FC236}">
                        <a16:creationId xmlns:a16="http://schemas.microsoft.com/office/drawing/2014/main" id="{76DE6363-9205-5B36-ABCB-662CD2E4AC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4536" y="4318934"/>
                    <a:ext cx="35298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03D9AA0D-B033-F96C-A0D2-6BF9AB15CDB9}"/>
                      </a:ext>
                    </a:extLst>
                  </p:cNvPr>
                  <p:cNvSpPr txBox="1"/>
                  <p:nvPr/>
                </p:nvSpPr>
                <p:spPr>
                  <a:xfrm>
                    <a:off x="5723602" y="4015436"/>
                    <a:ext cx="15127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kumimoji="0" lang="en-US" altLang="zh-TW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a:rPr kumimoji="0" lang="en-US" altLang="zh-TW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oMath>
                      </m:oMathPara>
                    </a14:m>
                    <a:endParaRPr kumimoji="0" lang="zh-TW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03D9AA0D-B033-F96C-A0D2-6BF9AB15CD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23602" y="4015436"/>
                    <a:ext cx="1512760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6BA073C3-F0CA-2F41-681A-D2821B6F4581}"/>
                      </a:ext>
                    </a:extLst>
                  </p:cNvPr>
                  <p:cNvSpPr txBox="1"/>
                  <p:nvPr/>
                </p:nvSpPr>
                <p:spPr>
                  <a:xfrm>
                    <a:off x="7308827" y="4008726"/>
                    <a:ext cx="176041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func>
                            <m:funcPr>
                              <m:ctrlPr>
                                <a:rPr kumimoji="0" lang="en-US" altLang="zh-TW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=2</m:t>
                          </m:r>
                        </m:oMath>
                      </m:oMathPara>
                    </a14:m>
                    <a:endParaRPr kumimoji="0" lang="zh-TW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6BA073C3-F0CA-2F41-681A-D2821B6F45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8827" y="4008726"/>
                    <a:ext cx="1760410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7E3859A3-1369-7064-93DE-AED0C074B566}"/>
                  </a:ext>
                </a:extLst>
              </p:cNvPr>
              <p:cNvSpPr/>
              <p:nvPr/>
            </p:nvSpPr>
            <p:spPr>
              <a:xfrm>
                <a:off x="5900922" y="4674594"/>
                <a:ext cx="75470" cy="7547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FC9E4BB0-2293-3DE9-B6F9-C1DD7EF3846B}"/>
                  </a:ext>
                </a:extLst>
              </p:cNvPr>
              <p:cNvSpPr/>
              <p:nvPr/>
            </p:nvSpPr>
            <p:spPr>
              <a:xfrm>
                <a:off x="7906009" y="4666179"/>
                <a:ext cx="75470" cy="7547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EF3F7D3-3285-1328-D5F6-655AA412D7DA}"/>
                      </a:ext>
                    </a:extLst>
                  </p:cNvPr>
                  <p:cNvSpPr txBox="1"/>
                  <p:nvPr/>
                </p:nvSpPr>
                <p:spPr>
                  <a:xfrm>
                    <a:off x="5623920" y="4859864"/>
                    <a:ext cx="62841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altLang="zh-TW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  <m:r>
                            <a:rPr kumimoji="0" lang="en-US" altLang="zh-TW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oMath>
                      </m:oMathPara>
                    </a14:m>
                    <a:endParaRPr kumimoji="0" lang="zh-TW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EF3F7D3-3285-1328-D5F6-655AA412D7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3920" y="4859864"/>
                    <a:ext cx="62841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2" name="弧形 51">
              <a:extLst>
                <a:ext uri="{FF2B5EF4-FFF2-40B4-BE49-F238E27FC236}">
                  <a16:creationId xmlns:a16="http://schemas.microsoft.com/office/drawing/2014/main" id="{A88B7D27-A865-3BE8-60C0-48906044CC9E}"/>
                </a:ext>
              </a:extLst>
            </p:cNvPr>
            <p:cNvSpPr/>
            <p:nvPr/>
          </p:nvSpPr>
          <p:spPr bwMode="auto">
            <a:xfrm rot="16200000" flipH="1" flipV="1">
              <a:off x="7436191" y="4861013"/>
              <a:ext cx="249049" cy="309019"/>
            </a:xfrm>
            <a:prstGeom prst="arc">
              <a:avLst>
                <a:gd name="adj1" fmla="val 16200000"/>
                <a:gd name="adj2" fmla="val 5260261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BA3CE3D2-7A9F-814E-795D-F53D83D275B9}"/>
                    </a:ext>
                  </a:extLst>
                </p:cNvPr>
                <p:cNvSpPr txBox="1"/>
                <p:nvPr/>
              </p:nvSpPr>
              <p:spPr>
                <a:xfrm>
                  <a:off x="7280653" y="5126923"/>
                  <a:ext cx="59334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BA3CE3D2-7A9F-814E-795D-F53D83D275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0653" y="5126923"/>
                  <a:ext cx="59334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DC41DE76-3298-6A06-8DF2-023226A29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69746"/>
              </p:ext>
            </p:extLst>
          </p:nvPr>
        </p:nvGraphicFramePr>
        <p:xfrm>
          <a:off x="3288651" y="4980602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896CDE99-2423-EE04-A802-F0A1CA344BE1}"/>
              </a:ext>
            </a:extLst>
          </p:cNvPr>
          <p:cNvCxnSpPr>
            <a:cxnSpLocks/>
            <a:stCxn id="5" idx="3"/>
            <a:endCxn id="61" idx="1"/>
          </p:cNvCxnSpPr>
          <p:nvPr/>
        </p:nvCxnSpPr>
        <p:spPr bwMode="auto">
          <a:xfrm flipV="1">
            <a:off x="2788397" y="5716862"/>
            <a:ext cx="500254" cy="37129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5ECC0CA-A63D-5AF3-13BF-668D7EF1EEBE}"/>
                  </a:ext>
                </a:extLst>
              </p:cNvPr>
              <p:cNvSpPr txBox="1"/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5ECC0CA-A63D-5AF3-13BF-668D7EF1E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B65D1ACD-5D27-F317-7BE8-E81681A821BE}"/>
                  </a:ext>
                </a:extLst>
              </p:cNvPr>
              <p:cNvSpPr txBox="1"/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B65D1ACD-5D27-F317-7BE8-E81681A82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6BFA4382-5345-93EE-E661-137C435BB134}"/>
                  </a:ext>
                </a:extLst>
              </p:cNvPr>
              <p:cNvSpPr txBox="1"/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sgn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6BFA4382-5345-93EE-E661-137C435BB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blipFill>
                <a:blip r:embed="rId14"/>
                <a:stretch>
                  <a:fillRect r="-4110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534950C-0CFE-300B-EBA4-133488FE3D2D}"/>
                  </a:ext>
                </a:extLst>
              </p:cNvPr>
              <p:cNvSpPr txBox="1"/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534950C-0CFE-300B-EBA4-133488FE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blipFill>
                <a:blip r:embed="rId1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7A088FD2-18C6-EEED-9DDF-5BF1002CC478}"/>
                  </a:ext>
                </a:extLst>
              </p:cNvPr>
              <p:cNvSpPr txBox="1"/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7A088FD2-18C6-EEED-9DDF-5BF1002CC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C143DF13-3898-B1DC-4C0F-F510B3ECD410}"/>
              </a:ext>
            </a:extLst>
          </p:cNvPr>
          <p:cNvCxnSpPr>
            <a:cxnSpLocks/>
            <a:stCxn id="88" idx="3"/>
            <a:endCxn id="91" idx="1"/>
          </p:cNvCxnSpPr>
          <p:nvPr/>
        </p:nvCxnSpPr>
        <p:spPr bwMode="auto">
          <a:xfrm>
            <a:off x="9977036" y="5360161"/>
            <a:ext cx="105205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0B75018E-362E-0C9F-5645-4487252538BB}"/>
              </a:ext>
            </a:extLst>
          </p:cNvPr>
          <p:cNvCxnSpPr>
            <a:cxnSpLocks/>
            <a:stCxn id="90" idx="3"/>
            <a:endCxn id="89" idx="1"/>
          </p:cNvCxnSpPr>
          <p:nvPr/>
        </p:nvCxnSpPr>
        <p:spPr bwMode="auto">
          <a:xfrm flipV="1">
            <a:off x="10517022" y="5899164"/>
            <a:ext cx="1034510" cy="78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F713BB33-97F8-4823-1727-E696EE5F830D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auto">
          <a:xfrm>
            <a:off x="11389089" y="5360161"/>
            <a:ext cx="1022697" cy="16770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F71682D9-BAF7-1EDC-4190-901B4F6FB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086361"/>
              </p:ext>
            </p:extLst>
          </p:nvPr>
        </p:nvGraphicFramePr>
        <p:xfrm>
          <a:off x="9617036" y="4623901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45CE7E8E-CF38-233C-C4A8-DB4A82FF3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597276"/>
              </p:ext>
            </p:extLst>
          </p:nvPr>
        </p:nvGraphicFramePr>
        <p:xfrm>
          <a:off x="11551532" y="5162904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17C22520-4806-BCC4-445C-A50F7C0AB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2541"/>
              </p:ext>
            </p:extLst>
          </p:nvPr>
        </p:nvGraphicFramePr>
        <p:xfrm>
          <a:off x="10157022" y="5170744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D835718B-8A62-7049-72AB-A36BD603A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261659"/>
              </p:ext>
            </p:extLst>
          </p:nvPr>
        </p:nvGraphicFramePr>
        <p:xfrm>
          <a:off x="11029089" y="4623901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627BA6DB-20D7-AF25-6FD5-3A71EBB23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35949"/>
              </p:ext>
            </p:extLst>
          </p:nvPr>
        </p:nvGraphicFramePr>
        <p:xfrm>
          <a:off x="12411786" y="4791606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96F7CDE9-14EE-F039-19B5-CEAC86CEED2F}"/>
              </a:ext>
            </a:extLst>
          </p:cNvPr>
          <p:cNvCxnSpPr>
            <a:cxnSpLocks/>
            <a:stCxn id="89" idx="3"/>
            <a:endCxn id="92" idx="1"/>
          </p:cNvCxnSpPr>
          <p:nvPr/>
        </p:nvCxnSpPr>
        <p:spPr bwMode="auto">
          <a:xfrm flipV="1">
            <a:off x="11911532" y="5527866"/>
            <a:ext cx="500254" cy="37129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543AF494-21E2-3891-0C12-DE126AFDB872}"/>
                  </a:ext>
                </a:extLst>
              </p:cNvPr>
              <p:cNvSpPr txBox="1"/>
              <p:nvPr/>
            </p:nvSpPr>
            <p:spPr>
              <a:xfrm>
                <a:off x="9640150" y="4263204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543AF494-21E2-3891-0C12-DE126AFD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150" y="4263204"/>
                <a:ext cx="341784" cy="369332"/>
              </a:xfrm>
              <a:prstGeom prst="rect">
                <a:avLst/>
              </a:prstGeom>
              <a:blipFill>
                <a:blip r:embed="rId1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B10F1F3-56DC-2533-246A-7A6996191721}"/>
                  </a:ext>
                </a:extLst>
              </p:cNvPr>
              <p:cNvSpPr txBox="1"/>
              <p:nvPr/>
            </p:nvSpPr>
            <p:spPr>
              <a:xfrm>
                <a:off x="10161816" y="4830479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B10F1F3-56DC-2533-246A-7A6996191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816" y="4830479"/>
                <a:ext cx="34178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E703AF6-B504-054D-E2F0-44DE0B6A88EE}"/>
                  </a:ext>
                </a:extLst>
              </p:cNvPr>
              <p:cNvSpPr txBox="1"/>
              <p:nvPr/>
            </p:nvSpPr>
            <p:spPr>
              <a:xfrm>
                <a:off x="10775769" y="4276481"/>
                <a:ext cx="888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sgn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E703AF6-B504-054D-E2F0-44DE0B6A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769" y="4276481"/>
                <a:ext cx="888142" cy="369332"/>
              </a:xfrm>
              <a:prstGeom prst="rect">
                <a:avLst/>
              </a:prstGeom>
              <a:blipFill>
                <a:blip r:embed="rId19"/>
                <a:stretch>
                  <a:fillRect r="-4828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290E6120-643F-9B32-DFB8-52D0E690A61D}"/>
                  </a:ext>
                </a:extLst>
              </p:cNvPr>
              <p:cNvSpPr txBox="1"/>
              <p:nvPr/>
            </p:nvSpPr>
            <p:spPr>
              <a:xfrm>
                <a:off x="11336959" y="4822294"/>
                <a:ext cx="894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290E6120-643F-9B32-DFB8-52D0E690A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959" y="4822294"/>
                <a:ext cx="894841" cy="369332"/>
              </a:xfrm>
              <a:prstGeom prst="rect">
                <a:avLst/>
              </a:prstGeom>
              <a:blipFill>
                <a:blip r:embed="rId2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63269F68-3C13-8221-72C7-FFAF0208EAC2}"/>
                  </a:ext>
                </a:extLst>
              </p:cNvPr>
              <p:cNvSpPr txBox="1"/>
              <p:nvPr/>
            </p:nvSpPr>
            <p:spPr>
              <a:xfrm>
                <a:off x="12421123" y="4461147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63269F68-3C13-8221-72C7-FFAF0208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123" y="4461147"/>
                <a:ext cx="34132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42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799A-551E-EC07-8F2A-A585274A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7FFB9083-ECCC-211A-36DA-5AF2853734D3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 bwMode="auto">
          <a:xfrm>
            <a:off x="853901" y="5549157"/>
            <a:ext cx="105205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E5C6E7C2-16EF-DBB9-D5C8-CBEA799323A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 bwMode="auto">
          <a:xfrm flipV="1">
            <a:off x="1393887" y="6088160"/>
            <a:ext cx="1034510" cy="78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33848D30-2DB2-295D-5EF6-1A98CF6529A3}"/>
              </a:ext>
            </a:extLst>
          </p:cNvPr>
          <p:cNvCxnSpPr>
            <a:cxnSpLocks/>
            <a:stCxn id="7" idx="3"/>
            <a:endCxn id="61" idx="1"/>
          </p:cNvCxnSpPr>
          <p:nvPr/>
        </p:nvCxnSpPr>
        <p:spPr bwMode="auto">
          <a:xfrm>
            <a:off x="2265954" y="5549157"/>
            <a:ext cx="1022697" cy="16770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975CDF5-600E-4DBB-CE35-541134C6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Hamming Distance &amp; Cosine Distance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2AEABA-500C-E0E8-1483-C9B33CAC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21" y="1672435"/>
            <a:ext cx="8382000" cy="4800600"/>
          </a:xfrm>
        </p:spPr>
        <p:txBody>
          <a:bodyPr/>
          <a:lstStyle/>
          <a:p>
            <a:r>
              <a:rPr lang="en-US" altLang="zh-TW" dirty="0"/>
              <a:t>Relation between Hamming distance &amp; cosine distance</a:t>
            </a:r>
          </a:p>
          <a:p>
            <a:pPr lvl="1"/>
            <a:r>
              <a:rPr lang="en-US" altLang="zh-TW" dirty="0"/>
              <a:t>Re-interpretation of Hamming distance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Rewrite the formula of Hamming distance using cosine function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EF4BCD-D552-68E7-CF11-2235ED94EE8C}"/>
              </a:ext>
            </a:extLst>
          </p:cNvPr>
          <p:cNvGraphicFramePr>
            <a:graphicFrameLocks noGrp="1"/>
          </p:cNvGraphicFramePr>
          <p:nvPr/>
        </p:nvGraphicFramePr>
        <p:xfrm>
          <a:off x="493901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EDC360C-F9CD-8794-8A61-AA9C51666711}"/>
              </a:ext>
            </a:extLst>
          </p:cNvPr>
          <p:cNvGraphicFramePr>
            <a:graphicFrameLocks noGrp="1"/>
          </p:cNvGraphicFramePr>
          <p:nvPr/>
        </p:nvGraphicFramePr>
        <p:xfrm>
          <a:off x="2428397" y="535190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AE02A4B-FACA-3124-131E-6EE995FC0BBC}"/>
              </a:ext>
            </a:extLst>
          </p:cNvPr>
          <p:cNvGraphicFramePr>
            <a:graphicFrameLocks noGrp="1"/>
          </p:cNvGraphicFramePr>
          <p:nvPr/>
        </p:nvGraphicFramePr>
        <p:xfrm>
          <a:off x="1033887" y="535974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E295374-370E-07EC-EC7E-662F171B8514}"/>
              </a:ext>
            </a:extLst>
          </p:cNvPr>
          <p:cNvGraphicFramePr>
            <a:graphicFrameLocks noGrp="1"/>
          </p:cNvGraphicFramePr>
          <p:nvPr/>
        </p:nvGraphicFramePr>
        <p:xfrm>
          <a:off x="1905954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5796AF9-0E5A-DE75-6262-1C7AC8E8CF2A}"/>
                  </a:ext>
                </a:extLst>
              </p:cNvPr>
              <p:cNvSpPr txBox="1"/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5796AF9-0E5A-DE75-6262-1C7AC8E8C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38D3FC1-E1AE-5353-19A0-D8DC43239053}"/>
                  </a:ext>
                </a:extLst>
              </p:cNvPr>
              <p:cNvSpPr txBox="1"/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HAM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sgn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38D3FC1-E1AE-5353-19A0-D8DC43239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78301353-E6E3-8375-16B9-CB926EE825CE}"/>
              </a:ext>
            </a:extLst>
          </p:cNvPr>
          <p:cNvSpPr txBox="1"/>
          <p:nvPr/>
        </p:nvSpPr>
        <p:spPr>
          <a:xfrm>
            <a:off x="5433756" y="2636417"/>
            <a:ext cx="3579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Same sign = 0  Opposite sign = 1</a:t>
            </a:r>
            <a:endParaRPr lang="zh-TW" altLang="en-US" sz="1600" dirty="0"/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53A9B6C6-EC81-14B1-2497-962471F5D9FF}"/>
              </a:ext>
            </a:extLst>
          </p:cNvPr>
          <p:cNvGraphicFramePr>
            <a:graphicFrameLocks noGrp="1"/>
          </p:cNvGraphicFramePr>
          <p:nvPr/>
        </p:nvGraphicFramePr>
        <p:xfrm>
          <a:off x="3288651" y="4980602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A971B55E-FEF7-29B1-BC68-870D785EA832}"/>
              </a:ext>
            </a:extLst>
          </p:cNvPr>
          <p:cNvCxnSpPr>
            <a:cxnSpLocks/>
            <a:stCxn id="5" idx="3"/>
            <a:endCxn id="61" idx="1"/>
          </p:cNvCxnSpPr>
          <p:nvPr/>
        </p:nvCxnSpPr>
        <p:spPr bwMode="auto">
          <a:xfrm flipV="1">
            <a:off x="2788397" y="5716862"/>
            <a:ext cx="500254" cy="37129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103B7904-EFC9-3224-6510-A86C4F907073}"/>
                  </a:ext>
                </a:extLst>
              </p:cNvPr>
              <p:cNvSpPr txBox="1"/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103B7904-EFC9-3224-6510-A86C4F907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55B644C-8E91-98F0-6009-E6FE7061572F}"/>
                  </a:ext>
                </a:extLst>
              </p:cNvPr>
              <p:cNvSpPr txBox="1"/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55B644C-8E91-98F0-6009-E6FE70615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2470F29-48DE-89D7-81A5-915F1C1F6ACF}"/>
                  </a:ext>
                </a:extLst>
              </p:cNvPr>
              <p:cNvSpPr txBox="1"/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sgn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2470F29-48DE-89D7-81A5-915F1C1F6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blipFill>
                <a:blip r:embed="rId7"/>
                <a:stretch>
                  <a:fillRect r="-4110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1DDA453D-9282-5BDB-30DD-D60117411B91}"/>
                  </a:ext>
                </a:extLst>
              </p:cNvPr>
              <p:cNvSpPr txBox="1"/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1DDA453D-9282-5BDB-30DD-D60117411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9CD6BC1D-5664-9B15-3621-6C80C431A759}"/>
                  </a:ext>
                </a:extLst>
              </p:cNvPr>
              <p:cNvSpPr txBox="1"/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9CD6BC1D-5664-9B15-3621-6C80C431A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AECF5ACC-66F2-AE13-B107-FAAFE6C0E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297928"/>
              </p:ext>
            </p:extLst>
          </p:nvPr>
        </p:nvGraphicFramePr>
        <p:xfrm>
          <a:off x="5837132" y="3792826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4E39EFD6-2E5C-F327-97A5-77A600CEA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426130"/>
              </p:ext>
            </p:extLst>
          </p:nvPr>
        </p:nvGraphicFramePr>
        <p:xfrm>
          <a:off x="6444208" y="533382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D1158DB4-25B8-813D-E942-476C8AFA7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440996"/>
              </p:ext>
            </p:extLst>
          </p:nvPr>
        </p:nvGraphicFramePr>
        <p:xfrm>
          <a:off x="8437647" y="3811334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0FA788BC-42A3-0CD0-58C2-209AEC96D7BC}"/>
                  </a:ext>
                </a:extLst>
              </p:cNvPr>
              <p:cNvSpPr txBox="1"/>
              <p:nvPr/>
            </p:nvSpPr>
            <p:spPr>
              <a:xfrm>
                <a:off x="5509714" y="4265976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0FA788BC-42A3-0CD0-58C2-209AEC96D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714" y="4265976"/>
                <a:ext cx="341784" cy="369332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0C3AB8B-9EAF-B0DA-7C13-B39AEBB1B6C6}"/>
                  </a:ext>
                </a:extLst>
              </p:cNvPr>
              <p:cNvSpPr txBox="1"/>
              <p:nvPr/>
            </p:nvSpPr>
            <p:spPr>
              <a:xfrm>
                <a:off x="6102424" y="5804250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0C3AB8B-9EAF-B0DA-7C13-B39AEBB1B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24" y="5804250"/>
                <a:ext cx="3417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6DC8C1B-8CCF-CA4D-B3D2-B8112530C843}"/>
                  </a:ext>
                </a:extLst>
              </p:cNvPr>
              <p:cNvSpPr txBox="1"/>
              <p:nvPr/>
            </p:nvSpPr>
            <p:spPr>
              <a:xfrm>
                <a:off x="8791721" y="4362928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6DC8C1B-8CCF-CA4D-B3D2-B8112530C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721" y="4362928"/>
                <a:ext cx="3413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64FB320-FD80-361A-D867-BDE9924C5110}"/>
              </a:ext>
            </a:extLst>
          </p:cNvPr>
          <p:cNvCxnSpPr/>
          <p:nvPr/>
        </p:nvCxnSpPr>
        <p:spPr bwMode="auto">
          <a:xfrm>
            <a:off x="6197132" y="3973661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3ECE87F-284B-698C-D0B3-27279EDA4236}"/>
              </a:ext>
            </a:extLst>
          </p:cNvPr>
          <p:cNvCxnSpPr/>
          <p:nvPr/>
        </p:nvCxnSpPr>
        <p:spPr bwMode="auto">
          <a:xfrm>
            <a:off x="6197132" y="4360937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A4C91A5-8822-75DE-B502-979CE898C42D}"/>
              </a:ext>
            </a:extLst>
          </p:cNvPr>
          <p:cNvCxnSpPr/>
          <p:nvPr/>
        </p:nvCxnSpPr>
        <p:spPr bwMode="auto">
          <a:xfrm>
            <a:off x="6197132" y="4726606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E5EB748-332A-FF55-9CD9-7C1174DB90BA}"/>
              </a:ext>
            </a:extLst>
          </p:cNvPr>
          <p:cNvCxnSpPr/>
          <p:nvPr/>
        </p:nvCxnSpPr>
        <p:spPr bwMode="auto">
          <a:xfrm>
            <a:off x="6197132" y="5085184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4AAF341-BAED-0A29-4CED-EF14F04DA781}"/>
                  </a:ext>
                </a:extLst>
              </p:cNvPr>
              <p:cNvSpPr/>
              <p:nvPr/>
            </p:nvSpPr>
            <p:spPr bwMode="auto">
              <a:xfrm>
                <a:off x="6885341" y="3823177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4AAF341-BAED-0A29-4CED-EF14F04DA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5341" y="3823177"/>
                <a:ext cx="288032" cy="3009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7890816-3496-DB04-5084-7A43B8F9548D}"/>
                  </a:ext>
                </a:extLst>
              </p:cNvPr>
              <p:cNvSpPr/>
              <p:nvPr/>
            </p:nvSpPr>
            <p:spPr bwMode="auto">
              <a:xfrm>
                <a:off x="7211100" y="4218117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7890816-3496-DB04-5084-7A43B8F9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1100" y="4218117"/>
                <a:ext cx="288032" cy="3009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D65DF90-3DCF-C8A7-BC64-81CA61235C28}"/>
                  </a:ext>
                </a:extLst>
              </p:cNvPr>
              <p:cNvSpPr/>
              <p:nvPr/>
            </p:nvSpPr>
            <p:spPr bwMode="auto">
              <a:xfrm>
                <a:off x="7517478" y="4597729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D65DF90-3DCF-C8A7-BC64-81CA61235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7478" y="4597729"/>
                <a:ext cx="288032" cy="3009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41504F-8E3C-5FD9-59E5-B0651CD2D7AB}"/>
                  </a:ext>
                </a:extLst>
              </p:cNvPr>
              <p:cNvSpPr/>
              <p:nvPr/>
            </p:nvSpPr>
            <p:spPr bwMode="auto">
              <a:xfrm>
                <a:off x="7824262" y="4982886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41504F-8E3C-5FD9-59E5-B0651CD2D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4262" y="4982886"/>
                <a:ext cx="288032" cy="3009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E69794C-0F66-471B-DFA1-409E31ED015E}"/>
              </a:ext>
            </a:extLst>
          </p:cNvPr>
          <p:cNvCxnSpPr>
            <a:cxnSpLocks/>
          </p:cNvCxnSpPr>
          <p:nvPr/>
        </p:nvCxnSpPr>
        <p:spPr bwMode="auto">
          <a:xfrm>
            <a:off x="6804208" y="5517158"/>
            <a:ext cx="22514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551EC79-B775-3F4F-9F2E-C16338A7FF2E}"/>
              </a:ext>
            </a:extLst>
          </p:cNvPr>
          <p:cNvCxnSpPr>
            <a:cxnSpLocks/>
          </p:cNvCxnSpPr>
          <p:nvPr/>
        </p:nvCxnSpPr>
        <p:spPr bwMode="auto">
          <a:xfrm>
            <a:off x="6804208" y="5863886"/>
            <a:ext cx="533826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60C888-EC11-AB8E-D492-E8EBFC09D4D0}"/>
              </a:ext>
            </a:extLst>
          </p:cNvPr>
          <p:cNvCxnSpPr>
            <a:cxnSpLocks/>
          </p:cNvCxnSpPr>
          <p:nvPr/>
        </p:nvCxnSpPr>
        <p:spPr bwMode="auto">
          <a:xfrm>
            <a:off x="6804208" y="6237312"/>
            <a:ext cx="849894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3C409908-0CDC-DD71-BC9F-7DF08374E2C7}"/>
              </a:ext>
            </a:extLst>
          </p:cNvPr>
          <p:cNvCxnSpPr>
            <a:cxnSpLocks/>
          </p:cNvCxnSpPr>
          <p:nvPr/>
        </p:nvCxnSpPr>
        <p:spPr bwMode="auto">
          <a:xfrm flipV="1">
            <a:off x="6804208" y="6595889"/>
            <a:ext cx="1156475" cy="1463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013D181-A1C1-1352-C68C-4BC5C8B17547}"/>
              </a:ext>
            </a:extLst>
          </p:cNvPr>
          <p:cNvCxnSpPr>
            <a:cxnSpLocks/>
            <a:endCxn id="13" idx="2"/>
          </p:cNvCxnSpPr>
          <p:nvPr/>
        </p:nvCxnSpPr>
        <p:spPr bwMode="auto">
          <a:xfrm flipV="1">
            <a:off x="7025165" y="4124145"/>
            <a:ext cx="4192" cy="13923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1BCCEEC7-3511-E415-D078-C14A16280686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 flipV="1">
            <a:off x="7338034" y="4519085"/>
            <a:ext cx="17082" cy="134480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F97268E9-E629-A19E-3771-72497CF2AF0F}"/>
              </a:ext>
            </a:extLst>
          </p:cNvPr>
          <p:cNvCxnSpPr>
            <a:cxnSpLocks/>
            <a:endCxn id="15" idx="2"/>
          </p:cNvCxnSpPr>
          <p:nvPr/>
        </p:nvCxnSpPr>
        <p:spPr bwMode="auto">
          <a:xfrm flipV="1">
            <a:off x="7646711" y="4898697"/>
            <a:ext cx="14783" cy="133861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05F45BE-3578-F05F-21FA-1D3EE3A511BE}"/>
              </a:ext>
            </a:extLst>
          </p:cNvPr>
          <p:cNvCxnSpPr>
            <a:cxnSpLocks/>
            <a:endCxn id="16" idx="2"/>
          </p:cNvCxnSpPr>
          <p:nvPr/>
        </p:nvCxnSpPr>
        <p:spPr bwMode="auto">
          <a:xfrm flipV="1">
            <a:off x="7960683" y="5283854"/>
            <a:ext cx="7595" cy="131203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93645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472CE-1970-CAB9-646C-D4E89A9F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95086-E178-825D-845C-C6CA3AF1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Hamming Distance &amp; Cosine Distance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363EE4C-41F8-75C1-805F-1C72FBA566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9721" y="1672435"/>
                <a:ext cx="8382000" cy="4800600"/>
              </a:xfrm>
            </p:spPr>
            <p:txBody>
              <a:bodyPr/>
              <a:lstStyle/>
              <a:p>
                <a:r>
                  <a:rPr lang="en-US" altLang="zh-TW" dirty="0"/>
                  <a:t>Difference between Hamming distance &amp; cosine distance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What if we can roughly estimate the weight?</a:t>
                </a:r>
              </a:p>
              <a:p>
                <a:pPr lvl="1"/>
                <a:r>
                  <a:rPr lang="en-US" altLang="zh-TW" dirty="0"/>
                  <a:t>Make Hamming distance more similar to cosine distance</a:t>
                </a:r>
              </a:p>
              <a:p>
                <a:pPr lvl="1"/>
                <a:r>
                  <a:rPr lang="en-US" altLang="zh-TW" dirty="0"/>
                  <a:t>Weights are multiplier in summation</a:t>
                </a:r>
              </a:p>
              <a:p>
                <a:pPr lvl="2"/>
                <a:r>
                  <a:rPr lang="en-US" altLang="zh-TW" dirty="0"/>
                  <a:t>Use logarithmic function to separate weights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363EE4C-41F8-75C1-805F-1C72FBA56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9721" y="1672435"/>
                <a:ext cx="8382000" cy="4800600"/>
              </a:xfrm>
              <a:blipFill>
                <a:blip r:embed="rId3"/>
                <a:stretch>
                  <a:fillRect l="-655" t="-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3A0894-6995-AD29-7062-D4EDC697A94A}"/>
                  </a:ext>
                </a:extLst>
              </p:cNvPr>
              <p:cNvSpPr txBox="1"/>
              <p:nvPr/>
            </p:nvSpPr>
            <p:spPr>
              <a:xfrm>
                <a:off x="1417503" y="2808219"/>
                <a:ext cx="2641664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3A0894-6995-AD29-7062-D4EDC697A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503" y="2808219"/>
                <a:ext cx="2641664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DB911B0-77B4-B90D-CD4A-F60EE783B156}"/>
                  </a:ext>
                </a:extLst>
              </p:cNvPr>
              <p:cNvSpPr txBox="1"/>
              <p:nvPr/>
            </p:nvSpPr>
            <p:spPr>
              <a:xfrm>
                <a:off x="345653" y="1994405"/>
                <a:ext cx="404791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HAM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sgn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DB911B0-77B4-B90D-CD4A-F60EE783B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53" y="1994405"/>
                <a:ext cx="4047910" cy="871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1EC6E46-AD70-A3D3-3C10-5091816AA0F1}"/>
                  </a:ext>
                </a:extLst>
              </p:cNvPr>
              <p:cNvSpPr txBox="1"/>
              <p:nvPr/>
            </p:nvSpPr>
            <p:spPr>
              <a:xfrm>
                <a:off x="5465413" y="2796848"/>
                <a:ext cx="3662683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1EC6E46-AD70-A3D3-3C10-5091816AA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413" y="2796848"/>
                <a:ext cx="3662683" cy="871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BE216CB-2FB2-95AE-C244-4F75E5EA4452}"/>
                  </a:ext>
                </a:extLst>
              </p:cNvPr>
              <p:cNvSpPr txBox="1"/>
              <p:nvPr/>
            </p:nvSpPr>
            <p:spPr>
              <a:xfrm>
                <a:off x="4485822" y="1999802"/>
                <a:ext cx="4766698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COS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BE216CB-2FB2-95AE-C244-4F75E5EA4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22" y="1999802"/>
                <a:ext cx="4766698" cy="8714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22206C1-A102-3EF0-A445-073A86B5AD61}"/>
              </a:ext>
            </a:extLst>
          </p:cNvPr>
          <p:cNvCxnSpPr>
            <a:cxnSpLocks/>
          </p:cNvCxnSpPr>
          <p:nvPr/>
        </p:nvCxnSpPr>
        <p:spPr bwMode="auto">
          <a:xfrm>
            <a:off x="4139153" y="3288727"/>
            <a:ext cx="1152927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71C5835-1906-67FD-91EC-BE45B88F666C}"/>
              </a:ext>
            </a:extLst>
          </p:cNvPr>
          <p:cNvSpPr txBox="1"/>
          <p:nvPr/>
        </p:nvSpPr>
        <p:spPr>
          <a:xfrm>
            <a:off x="2980738" y="3643925"/>
            <a:ext cx="36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Unweighted     vs     Weighted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2B38F67-84C1-276E-2DBA-7040E75AB103}"/>
                  </a:ext>
                </a:extLst>
              </p:cNvPr>
              <p:cNvSpPr txBox="1"/>
              <p:nvPr/>
            </p:nvSpPr>
            <p:spPr>
              <a:xfrm>
                <a:off x="7452320" y="3479740"/>
                <a:ext cx="1675776" cy="635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TW" sz="1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seg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TW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2B38F67-84C1-276E-2DBA-7040E75AB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20" y="3479740"/>
                <a:ext cx="1675776" cy="6359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7246972-B972-94F2-B808-F5170A02CF09}"/>
              </a:ext>
            </a:extLst>
          </p:cNvPr>
          <p:cNvCxnSpPr>
            <a:cxnSpLocks/>
          </p:cNvCxnSpPr>
          <p:nvPr/>
        </p:nvCxnSpPr>
        <p:spPr bwMode="auto">
          <a:xfrm flipH="1">
            <a:off x="7956376" y="2093485"/>
            <a:ext cx="144016" cy="216024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09628D5-9F24-0F62-6F61-B20FB16DAB7F}"/>
                  </a:ext>
                </a:extLst>
              </p:cNvPr>
              <p:cNvSpPr txBox="1"/>
              <p:nvPr/>
            </p:nvSpPr>
            <p:spPr>
              <a:xfrm>
                <a:off x="7607425" y="1818253"/>
                <a:ext cx="17614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zh-TW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TW" altLang="en-US" sz="1400" dirty="0"/>
                  <a:t> </a:t>
                </a:r>
                <a:r>
                  <a:rPr lang="en-US" altLang="zh-TW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09628D5-9F24-0F62-6F61-B20FB16DA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425" y="1818253"/>
                <a:ext cx="1761425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2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AF1A7-A1E0-245B-2840-955175DC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1A98F-36D0-69AC-4107-243389D01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First using Cauchy-Schwarz </a:t>
            </a:r>
            <a:r>
              <a:rPr lang="en-US" altLang="zh-TW" dirty="0" err="1"/>
              <a:t>ineq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We 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B0A05D5-D478-9AA9-D99A-B9D821C08305}"/>
                  </a:ext>
                </a:extLst>
              </p:cNvPr>
              <p:cNvSpPr/>
              <p:nvPr/>
            </p:nvSpPr>
            <p:spPr>
              <a:xfrm>
                <a:off x="755576" y="2132856"/>
                <a:ext cx="2356158" cy="8714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B0A05D5-D478-9AA9-D99A-B9D821C08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132856"/>
                <a:ext cx="2356158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5C86081-DE22-EBEF-54C8-39D5E1791744}"/>
                  </a:ext>
                </a:extLst>
              </p:cNvPr>
              <p:cNvSpPr txBox="1"/>
              <p:nvPr/>
            </p:nvSpPr>
            <p:spPr>
              <a:xfrm>
                <a:off x="7068345" y="1421878"/>
                <a:ext cx="2088232" cy="713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TW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seg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5C86081-DE22-EBEF-54C8-39D5E1791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345" y="1421878"/>
                <a:ext cx="2088232" cy="713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5949238-8CE5-1FEF-B0DD-C45EB5311BC7}"/>
                  </a:ext>
                </a:extLst>
              </p:cNvPr>
              <p:cNvSpPr txBox="1"/>
              <p:nvPr/>
            </p:nvSpPr>
            <p:spPr>
              <a:xfrm>
                <a:off x="755576" y="3501008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1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18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5949238-8CE5-1FEF-B0DD-C45EB531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501008"/>
                <a:ext cx="6768752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70EF57-F1A6-6924-173E-F7E5F890BDB9}"/>
                  </a:ext>
                </a:extLst>
              </p:cNvPr>
              <p:cNvSpPr txBox="1"/>
              <p:nvPr/>
            </p:nvSpPr>
            <p:spPr>
              <a:xfrm>
                <a:off x="747935" y="4382472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70EF57-F1A6-6924-173E-F7E5F890B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35" y="4382472"/>
                <a:ext cx="6768752" cy="871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33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FE18-FDDB-27B5-7EF5-D476605A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4E1501-28CA-4530-4F39-F0BCBA56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6D3C0-38D6-C8F8-5196-48E064E22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Using Jensen’s </a:t>
            </a:r>
            <a:r>
              <a:rPr lang="en-US" altLang="zh-TW" dirty="0" err="1"/>
              <a:t>ineq</a:t>
            </a:r>
            <a:r>
              <a:rPr lang="en-US" altLang="zh-TW" dirty="0"/>
              <a:t>. &amp; log-cosine </a:t>
            </a:r>
            <a:r>
              <a:rPr lang="en-US" altLang="zh-TW" dirty="0" err="1"/>
              <a:t>ineq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We 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6AD1E84-7344-4B3F-587C-DE193F600221}"/>
                  </a:ext>
                </a:extLst>
              </p:cNvPr>
              <p:cNvSpPr txBox="1"/>
              <p:nvPr/>
            </p:nvSpPr>
            <p:spPr>
              <a:xfrm>
                <a:off x="683568" y="2541785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𝑠𝑒𝑔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6AD1E84-7344-4B3F-587C-DE193F600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541785"/>
                <a:ext cx="6768752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8B3DD09-281A-BFB3-BB14-579932162BEF}"/>
                  </a:ext>
                </a:extLst>
              </p:cNvPr>
              <p:cNvSpPr txBox="1"/>
              <p:nvPr/>
            </p:nvSpPr>
            <p:spPr>
              <a:xfrm>
                <a:off x="683568" y="3367573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𝑠𝑒𝑔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8B3DD09-281A-BFB3-BB14-579932162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367573"/>
                <a:ext cx="6768752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975541F-6FF2-6927-30D4-92A99DBE0A1C}"/>
                  </a:ext>
                </a:extLst>
              </p:cNvPr>
              <p:cNvSpPr txBox="1"/>
              <p:nvPr/>
            </p:nvSpPr>
            <p:spPr>
              <a:xfrm>
                <a:off x="379985" y="2132856"/>
                <a:ext cx="41270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ln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cos</m:t>
                          </m:r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θ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m:rPr>
                          <m:sty m:val="p"/>
                        </m:rP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θ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ln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  <m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cos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kumimoji="0" lang="en-US" altLang="zh-TW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975541F-6FF2-6927-30D4-92A99DBE0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5" y="2132856"/>
                <a:ext cx="412703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>
            <a:extLst>
              <a:ext uri="{FF2B5EF4-FFF2-40B4-BE49-F238E27FC236}">
                <a16:creationId xmlns:a16="http://schemas.microsoft.com/office/drawing/2014/main" id="{61876DC0-C79C-1930-AF2C-DE1372678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122" y="1679534"/>
            <a:ext cx="831098" cy="1036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8361572-C0F7-D859-179C-52EE034A6903}"/>
                  </a:ext>
                </a:extLst>
              </p:cNvPr>
              <p:cNvSpPr/>
              <p:nvPr/>
            </p:nvSpPr>
            <p:spPr>
              <a:xfrm>
                <a:off x="388233" y="4568767"/>
                <a:ext cx="8610562" cy="877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</m:acc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en-US" altLang="zh-TW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kumimoji="0" lang="zh-TW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8361572-C0F7-D859-179C-52EE034A6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33" y="4568767"/>
                <a:ext cx="8610562" cy="877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B439078-00EC-EE58-9538-F2984D4FA6C2}"/>
                  </a:ext>
                </a:extLst>
              </p:cNvPr>
              <p:cNvSpPr/>
              <p:nvPr/>
            </p:nvSpPr>
            <p:spPr>
              <a:xfrm>
                <a:off x="388233" y="5602298"/>
                <a:ext cx="8610562" cy="877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≤</m:t>
                      </m:r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</m:acc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≤−</m:t>
                      </m:r>
                      <m:f>
                        <m:fPr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kumimoji="0" lang="zh-TW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B439078-00EC-EE58-9538-F2984D4FA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33" y="5602298"/>
                <a:ext cx="8610562" cy="877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34D76A9-601B-55B7-3870-98FBA5C21D9F}"/>
                  </a:ext>
                </a:extLst>
              </p:cNvPr>
              <p:cNvSpPr txBox="1"/>
              <p:nvPr/>
            </p:nvSpPr>
            <p:spPr>
              <a:xfrm>
                <a:off x="7068345" y="1421878"/>
                <a:ext cx="2088232" cy="713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TW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seg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TW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34D76A9-601B-55B7-3870-98FBA5C21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345" y="1421878"/>
                <a:ext cx="2088232" cy="7136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643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994D35-D6F5-0652-A67C-933C040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A98516F-44C9-7DD6-BA27-5D03A146F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76400"/>
                <a:ext cx="8439472" cy="4800600"/>
              </a:xfrm>
            </p:spPr>
            <p:txBody>
              <a:bodyPr/>
              <a:lstStyle/>
              <a:p>
                <a:endParaRPr lang="en-US" altLang="zh-TW" dirty="0"/>
              </a:p>
              <a:p>
                <a:r>
                  <a:rPr lang="en-US" altLang="zh-TW" dirty="0"/>
                  <a:t>Non-linear relation between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zh-TW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endParaRPr lang="en-US" altLang="zh-TW" b="0" dirty="0">
                  <a:solidFill>
                    <a:prstClr val="black"/>
                  </a:solidFill>
                  <a:latin typeface="Calibri" panose="020F0502020204030204" pitchFamily="34" charset="0"/>
                </a:endParaRPr>
              </a:p>
              <a:p>
                <a:pPr lvl="1"/>
                <a:r>
                  <a:rPr lang="en-US" altLang="zh-TW" dirty="0">
                    <a:solidFill>
                      <a:srgbClr val="0000FF"/>
                    </a:solidFill>
                  </a:rPr>
                  <a:t>Apply Taylor Expansion</a:t>
                </a:r>
              </a:p>
              <a:p>
                <a:pPr lvl="1"/>
                <a:endParaRPr lang="en-US" altLang="zh-TW" dirty="0"/>
              </a:p>
              <a:p>
                <a:pPr lvl="1"/>
                <a:endParaRPr lang="zh-TW" altLang="en-US" dirty="0"/>
              </a:p>
              <a:p>
                <a:pPr lvl="1"/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Loose bound due to logarithmic function</a:t>
                </a:r>
              </a:p>
              <a:p>
                <a:pPr marL="933450" lvl="3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A98516F-44C9-7DD6-BA27-5D03A146F9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76400"/>
                <a:ext cx="8439472" cy="4800600"/>
              </a:xfrm>
              <a:blipFill>
                <a:blip r:embed="rId2"/>
                <a:stretch>
                  <a:fillRect l="-7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E07ECC4-BDC8-8030-4EE8-666183405B77}"/>
                  </a:ext>
                </a:extLst>
              </p:cNvPr>
              <p:cNvSpPr txBox="1"/>
              <p:nvPr/>
            </p:nvSpPr>
            <p:spPr>
              <a:xfrm>
                <a:off x="1767170" y="2814272"/>
                <a:ext cx="18614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16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E07ECC4-BDC8-8030-4EE8-666183405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170" y="2814272"/>
                <a:ext cx="186145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C405F02-1AA4-1F20-F36B-172199F7D3F1}"/>
                  </a:ext>
                </a:extLst>
              </p:cNvPr>
              <p:cNvSpPr txBox="1"/>
              <p:nvPr/>
            </p:nvSpPr>
            <p:spPr>
              <a:xfrm>
                <a:off x="1070691" y="3768862"/>
                <a:ext cx="18614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C405F02-1AA4-1F20-F36B-172199F7D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91" y="3768862"/>
                <a:ext cx="1861456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255397A5-E97F-0829-AE3B-A7C29F250D98}"/>
              </a:ext>
            </a:extLst>
          </p:cNvPr>
          <p:cNvGrpSpPr/>
          <p:nvPr/>
        </p:nvGrpSpPr>
        <p:grpSpPr>
          <a:xfrm>
            <a:off x="-44183" y="1574438"/>
            <a:ext cx="2829863" cy="4345208"/>
            <a:chOff x="103938" y="3310467"/>
            <a:chExt cx="2829863" cy="4345208"/>
          </a:xfrm>
        </p:grpSpPr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F277FAB6-ED46-7160-5FDC-AD466B4EC319}"/>
                </a:ext>
              </a:extLst>
            </p:cNvPr>
            <p:cNvSpPr/>
            <p:nvPr/>
          </p:nvSpPr>
          <p:spPr bwMode="auto">
            <a:xfrm flipV="1">
              <a:off x="103938" y="3310467"/>
              <a:ext cx="1887619" cy="2330378"/>
            </a:xfrm>
            <a:prstGeom prst="arc">
              <a:avLst>
                <a:gd name="adj1" fmla="val 16200000"/>
                <a:gd name="adj2" fmla="val 20443995"/>
              </a:avLst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8F3CEBDD-01C9-1848-1402-36BA179E40E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0681" y="4447997"/>
              <a:ext cx="0" cy="2099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1115ACE9-F86B-87E8-D94A-7A0CA181268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0400" y="5451162"/>
              <a:ext cx="1074058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85D596A2-4FE4-89B1-7AB5-14605A0F663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6617" y="5117857"/>
              <a:ext cx="944902" cy="689430"/>
            </a:xfrm>
            <a:prstGeom prst="lin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67783E4A-241C-F41D-9A06-59CD8D3B77D9}"/>
                </a:ext>
              </a:extLst>
            </p:cNvPr>
            <p:cNvSpPr/>
            <p:nvPr/>
          </p:nvSpPr>
          <p:spPr bwMode="auto">
            <a:xfrm flipH="1">
              <a:off x="1046182" y="5325297"/>
              <a:ext cx="1887619" cy="2330378"/>
            </a:xfrm>
            <a:prstGeom prst="arc">
              <a:avLst>
                <a:gd name="adj1" fmla="val 16200000"/>
                <a:gd name="adj2" fmla="val 413"/>
              </a:avLst>
            </a:prstGeom>
            <a:noFill/>
            <a:ln w="38100" cap="flat" cmpd="sng" algn="ctr">
              <a:solidFill>
                <a:srgbClr val="39663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C9C0F86-381B-1572-165A-A3BA2112E080}"/>
                  </a:ext>
                </a:extLst>
              </p:cNvPr>
              <p:cNvSpPr txBox="1"/>
              <p:nvPr/>
            </p:nvSpPr>
            <p:spPr>
              <a:xfrm>
                <a:off x="1819939" y="3090118"/>
                <a:ext cx="847127" cy="510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C9C0F86-381B-1572-165A-A3BA2112E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39" y="3090118"/>
                <a:ext cx="847127" cy="510781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3FB13055-7FAA-8B25-549E-72BF3412826E}"/>
              </a:ext>
            </a:extLst>
          </p:cNvPr>
          <p:cNvSpPr txBox="1"/>
          <p:nvPr/>
        </p:nvSpPr>
        <p:spPr>
          <a:xfrm>
            <a:off x="2043686" y="5267887"/>
            <a:ext cx="23122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019901"/>
                </a:solidFill>
              </a:rPr>
              <a:t>Clamping</a:t>
            </a:r>
            <a:r>
              <a:rPr lang="zh-TW" altLang="en-US" sz="1600" dirty="0">
                <a:solidFill>
                  <a:srgbClr val="019901"/>
                </a:solidFill>
              </a:rPr>
              <a:t> </a:t>
            </a:r>
            <a:r>
              <a:rPr lang="en-US" altLang="zh-TW" sz="1600" dirty="0">
                <a:solidFill>
                  <a:srgbClr val="019901"/>
                </a:solidFill>
              </a:rPr>
              <a:t>&amp;</a:t>
            </a:r>
            <a:r>
              <a:rPr lang="zh-TW" altLang="en-US" sz="1600" dirty="0">
                <a:solidFill>
                  <a:srgbClr val="019901"/>
                </a:solidFill>
              </a:rPr>
              <a:t> </a:t>
            </a:r>
            <a:r>
              <a:rPr lang="en-US" altLang="zh-TW" sz="1600" dirty="0">
                <a:solidFill>
                  <a:srgbClr val="019901"/>
                </a:solidFill>
              </a:rPr>
              <a:t>Normalize</a:t>
            </a:r>
            <a:endParaRPr lang="zh-TW" altLang="en-US" sz="1600" dirty="0">
              <a:solidFill>
                <a:srgbClr val="019901"/>
              </a:solidFill>
            </a:endParaRP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23507EFB-7380-C585-4B40-735E5BFE778E}"/>
              </a:ext>
            </a:extLst>
          </p:cNvPr>
          <p:cNvGrpSpPr/>
          <p:nvPr/>
        </p:nvGrpSpPr>
        <p:grpSpPr>
          <a:xfrm>
            <a:off x="836745" y="5158894"/>
            <a:ext cx="1983401" cy="2836445"/>
            <a:chOff x="947812" y="4990937"/>
            <a:chExt cx="1983401" cy="2836445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1F1B7A9A-A7D1-D353-EA32-BCA915838321}"/>
                </a:ext>
              </a:extLst>
            </p:cNvPr>
            <p:cNvGrpSpPr/>
            <p:nvPr/>
          </p:nvGrpSpPr>
          <p:grpSpPr>
            <a:xfrm>
              <a:off x="947812" y="4990937"/>
              <a:ext cx="1983401" cy="2836445"/>
              <a:chOff x="950400" y="4819230"/>
              <a:chExt cx="1983401" cy="2836445"/>
            </a:xfrm>
          </p:grpSpPr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95DE7D9D-7D2F-0FF1-D409-4CCC3BE42CC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040681" y="4819230"/>
                <a:ext cx="0" cy="1246375"/>
              </a:xfrm>
              <a:prstGeom prst="straightConnector1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9BBE1A3F-6827-0C8D-7551-7D1FAE821D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50400" y="5451162"/>
                <a:ext cx="1074058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30" name="弧形 29">
                <a:extLst>
                  <a:ext uri="{FF2B5EF4-FFF2-40B4-BE49-F238E27FC236}">
                    <a16:creationId xmlns:a16="http://schemas.microsoft.com/office/drawing/2014/main" id="{C3C37914-585C-9486-EC08-F425AFBA45DA}"/>
                  </a:ext>
                </a:extLst>
              </p:cNvPr>
              <p:cNvSpPr/>
              <p:nvPr/>
            </p:nvSpPr>
            <p:spPr bwMode="auto">
              <a:xfrm flipH="1">
                <a:off x="1046182" y="5325297"/>
                <a:ext cx="1887619" cy="2330378"/>
              </a:xfrm>
              <a:prstGeom prst="arc">
                <a:avLst>
                  <a:gd name="adj1" fmla="val 16200000"/>
                  <a:gd name="adj2" fmla="val 19264087"/>
                </a:avLst>
              </a:prstGeom>
              <a:noFill/>
              <a:ln w="38100" cap="flat" cmpd="sng" algn="ctr">
                <a:solidFill>
                  <a:srgbClr val="39663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p:grp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2D5B6ED5-74F0-17A9-04C0-9707F7268CA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038093" y="6021288"/>
              <a:ext cx="186174" cy="0"/>
            </a:xfrm>
            <a:prstGeom prst="line">
              <a:avLst/>
            </a:prstGeom>
            <a:ln w="38100">
              <a:solidFill>
                <a:schemeClr val="accent3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1329C6F-9B32-0342-89B8-237C3BF88E6C}"/>
                  </a:ext>
                </a:extLst>
              </p:cNvPr>
              <p:cNvSpPr txBox="1"/>
              <p:nvPr/>
            </p:nvSpPr>
            <p:spPr>
              <a:xfrm>
                <a:off x="494561" y="5918400"/>
                <a:ext cx="466831" cy="579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β</m:t>
                          </m:r>
                        </m:num>
                        <m:den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1329C6F-9B32-0342-89B8-237C3BF88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61" y="5918400"/>
                <a:ext cx="466831" cy="5791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F592AB8-91A5-7B37-8D7A-1905B29AEEE2}"/>
                  </a:ext>
                </a:extLst>
              </p:cNvPr>
              <p:cNvSpPr txBox="1"/>
              <p:nvPr/>
            </p:nvSpPr>
            <p:spPr>
              <a:xfrm>
                <a:off x="4298740" y="5115176"/>
                <a:ext cx="3578424" cy="820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6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func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TW" altLang="en-US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US" altLang="zh-TW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TW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norm</m:t>
                        </m:r>
                      </m:sub>
                    </m:sSub>
                    <m:r>
                      <a:rPr lang="en-US" altLang="zh-TW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target</m:t>
                        </m:r>
                      </m:sub>
                    </m:sSub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TW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nary>
                      </m:den>
                    </m:f>
                  </m:oMath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F592AB8-91A5-7B37-8D7A-1905B29AE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740" y="5115176"/>
                <a:ext cx="3578424" cy="820481"/>
              </a:xfrm>
              <a:prstGeom prst="rect">
                <a:avLst/>
              </a:prstGeom>
              <a:blipFill>
                <a:blip r:embed="rId7"/>
                <a:stretch>
                  <a:fillRect b="-4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D4CF5211-2DC5-4E4D-8536-826F016043B3}"/>
                  </a:ext>
                </a:extLst>
              </p:cNvPr>
              <p:cNvSpPr txBox="1"/>
              <p:nvPr/>
            </p:nvSpPr>
            <p:spPr>
              <a:xfrm>
                <a:off x="0" y="1332583"/>
                <a:ext cx="9144000" cy="698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400"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400"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altLang="zh-TW" sz="1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kumimoji="0" lang="en-US" altLang="zh-TW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kumimoji="0" lang="en-US" altLang="zh-TW" sz="14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40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altLang="zh-TW" sz="14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sz="140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altLang="zh-TW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kumimoji="0" lang="en-US" altLang="zh-TW" sz="140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sz="140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sz="140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sz="14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sz="14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sz="14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sz="14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0" lang="en-US" altLang="zh-TW" sz="1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sz="140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sz="140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sz="14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sz="1400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sz="14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sz="14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0" lang="en-US" altLang="zh-TW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sz="14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sz="14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sz="140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sz="140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kumimoji="0" lang="en-US" altLang="zh-TW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sz="14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sz="140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sz="140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sz="140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D4CF5211-2DC5-4E4D-8536-826F01604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32583"/>
                <a:ext cx="9144000" cy="6983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1424D48-F3AE-0BC5-CD5C-21C693B8C5CC}"/>
                  </a:ext>
                </a:extLst>
              </p:cNvPr>
              <p:cNvSpPr/>
              <p:nvPr/>
            </p:nvSpPr>
            <p:spPr>
              <a:xfrm>
                <a:off x="2043686" y="5795330"/>
                <a:ext cx="6097438" cy="8714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b="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𝑛𝑜𝑟𝑚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𝑛𝑜𝑟𝑚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1424D48-F3AE-0BC5-CD5C-21C693B8C5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686" y="5795330"/>
                <a:ext cx="6097438" cy="8714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D0F7463-9832-5BFA-CA1B-C56BEBF4F89B}"/>
              </a:ext>
            </a:extLst>
          </p:cNvPr>
          <p:cNvCxnSpPr>
            <a:cxnSpLocks/>
          </p:cNvCxnSpPr>
          <p:nvPr/>
        </p:nvCxnSpPr>
        <p:spPr bwMode="auto">
          <a:xfrm>
            <a:off x="2698094" y="3942009"/>
            <a:ext cx="393647" cy="2333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5E4BE84-DC1A-DCFF-D2BA-A2403653C5CE}"/>
                  </a:ext>
                </a:extLst>
              </p:cNvPr>
              <p:cNvSpPr txBox="1"/>
              <p:nvPr/>
            </p:nvSpPr>
            <p:spPr>
              <a:xfrm>
                <a:off x="3778202" y="2657710"/>
                <a:ext cx="4956238" cy="661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i="0" dirty="0" smtClean="0">
                          <a:latin typeface="Cambria Math" panose="02040503050406030204" pitchFamily="18" charset="0"/>
                        </a:rPr>
                        <m:t>⁡(1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i="0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m:rPr>
                          <m:sty m:val="p"/>
                        </m:rPr>
                        <a:rPr lang="el-GR" altLang="zh-TW" i="0" dirty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altLang="zh-TW" i="0" dirty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i="0" dirty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m:rPr>
                              <m:sty m:val="p"/>
                            </m:rPr>
                            <a:rPr lang="el-GR" altLang="zh-TW" i="0" dirty="0" smtClean="0">
                              <a:latin typeface="Cambria Math" panose="02040503050406030204" pitchFamily="18" charset="0"/>
                            </a:rPr>
                            <m:t>ϕ</m:t>
                          </m:r>
                        </m:num>
                        <m:den>
                          <m:r>
                            <a:rPr lang="el-GR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dirty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m:rPr>
                              <m:sty m:val="p"/>
                            </m:rPr>
                            <a:rPr lang="el-GR" altLang="zh-TW" dirty="0">
                              <a:latin typeface="Cambria Math" panose="02040503050406030204" pitchFamily="18" charset="0"/>
                            </a:rPr>
                            <m:t>ϕ</m:t>
                          </m:r>
                        </m:den>
                      </m:f>
                      <m:d>
                        <m:dPr>
                          <m:ctrlPr>
                            <a:rPr lang="el-GR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TW" i="0" dirty="0">
                              <a:latin typeface="Cambria Math" panose="02040503050406030204" pitchFamily="18" charset="0"/>
                            </a:rPr>
                            <m:t>ϕ</m:t>
                          </m:r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TW" dirty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l-GR" altLang="zh-TW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i="0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i="0" dirty="0">
                          <a:latin typeface="Cambria Math" panose="02040503050406030204" pitchFamily="18" charset="0"/>
                        </a:rPr>
                        <m:t>⁡(1+</m:t>
                      </m:r>
                      <m:r>
                        <m:rPr>
                          <m:sty m:val="p"/>
                        </m:rPr>
                        <a:rPr lang="en-US" altLang="zh-TW" i="0" dirty="0">
                          <a:latin typeface="Cambria Math" panose="02040503050406030204" pitchFamily="18" charset="0"/>
                        </a:rPr>
                        <m:t>cosϕ</m:t>
                      </m:r>
                      <m:r>
                        <a:rPr lang="el-GR" altLang="zh-TW" i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5E4BE84-DC1A-DCFF-D2BA-A2403653C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02" y="2657710"/>
                <a:ext cx="4956238" cy="66165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080F10F-3AFB-A3E2-F8ED-8CA8A79FD5A3}"/>
              </a:ext>
            </a:extLst>
          </p:cNvPr>
          <p:cNvCxnSpPr>
            <a:cxnSpLocks/>
          </p:cNvCxnSpPr>
          <p:nvPr/>
        </p:nvCxnSpPr>
        <p:spPr bwMode="auto">
          <a:xfrm>
            <a:off x="3391275" y="2984813"/>
            <a:ext cx="393647" cy="2333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1E6DB72-0C5A-0408-35D5-98C2398603B3}"/>
                  </a:ext>
                </a:extLst>
              </p:cNvPr>
              <p:cNvSpPr txBox="1"/>
              <p:nvPr/>
            </p:nvSpPr>
            <p:spPr>
              <a:xfrm>
                <a:off x="3250127" y="3759900"/>
                <a:ext cx="4956238" cy="661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i="0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m:rPr>
                          <m:sty m:val="p"/>
                        </m:rPr>
                        <a:rPr lang="en-US" altLang="zh-TW" i="0" dirty="0" smtClean="0">
                          <a:latin typeface="Cambria Math" panose="02040503050406030204" pitchFamily="18" charset="0"/>
                        </a:rPr>
                        <m:t>cosθ</m:t>
                      </m:r>
                      <m:r>
                        <a:rPr lang="el-GR" altLang="zh-TW" i="0" dirty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i="0" dirty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m:rPr>
                              <m:sty m:val="p"/>
                            </m:rPr>
                            <a:rPr lang="el-GR" altLang="zh-TW" i="0" dirty="0" smtClean="0">
                              <a:latin typeface="Cambria Math" panose="02040503050406030204" pitchFamily="18" charset="0"/>
                            </a:rPr>
                            <m:t>ϕ</m:t>
                          </m:r>
                        </m:num>
                        <m:den>
                          <m:r>
                            <a:rPr lang="el-GR" altLang="zh-TW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altLang="zh-TW" dirty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m:rPr>
                              <m:sty m:val="p"/>
                            </m:rPr>
                            <a:rPr lang="el-GR" altLang="zh-TW" dirty="0">
                              <a:latin typeface="Cambria Math" panose="02040503050406030204" pitchFamily="18" charset="0"/>
                            </a:rPr>
                            <m:t>ϕ</m:t>
                          </m:r>
                        </m:den>
                      </m:f>
                      <m:d>
                        <m:dPr>
                          <m:ctrlPr>
                            <a:rPr lang="el-GR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TW" i="0" dirty="0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l-GR" altLang="zh-TW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TW" i="0" dirty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</m:d>
                      <m:r>
                        <a:rPr lang="el-GR" altLang="zh-TW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i="0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i="0" dirty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m:rPr>
                          <m:sty m:val="p"/>
                        </m:rPr>
                        <a:rPr lang="en-US" altLang="zh-TW" i="0" dirty="0">
                          <a:latin typeface="Cambria Math" panose="02040503050406030204" pitchFamily="18" charset="0"/>
                        </a:rPr>
                        <m:t>cosϕ</m:t>
                      </m:r>
                      <m:r>
                        <a:rPr lang="el-GR" altLang="zh-TW" i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1E6DB72-0C5A-0408-35D5-98C239860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127" y="3759900"/>
                <a:ext cx="4956238" cy="66165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弧形 19">
            <a:extLst>
              <a:ext uri="{FF2B5EF4-FFF2-40B4-BE49-F238E27FC236}">
                <a16:creationId xmlns:a16="http://schemas.microsoft.com/office/drawing/2014/main" id="{6B0EC2E8-43BA-6B7B-94CB-BC8E43FD0EE0}"/>
              </a:ext>
            </a:extLst>
          </p:cNvPr>
          <p:cNvSpPr/>
          <p:nvPr/>
        </p:nvSpPr>
        <p:spPr bwMode="auto">
          <a:xfrm flipH="1">
            <a:off x="932527" y="5671693"/>
            <a:ext cx="1887619" cy="2330378"/>
          </a:xfrm>
          <a:prstGeom prst="arc">
            <a:avLst>
              <a:gd name="adj1" fmla="val 19188080"/>
              <a:gd name="adj2" fmla="val 21147003"/>
            </a:avLst>
          </a:prstGeom>
          <a:noFill/>
          <a:ln w="38100" cap="flat" cmpd="sng" algn="ctr">
            <a:solidFill>
              <a:srgbClr val="39663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96EBF5B0-C896-9591-0833-4CDD6CAD8030}"/>
              </a:ext>
            </a:extLst>
          </p:cNvPr>
          <p:cNvGrpSpPr/>
          <p:nvPr/>
        </p:nvGrpSpPr>
        <p:grpSpPr>
          <a:xfrm>
            <a:off x="5436096" y="1869340"/>
            <a:ext cx="1887618" cy="257015"/>
            <a:chOff x="1616375" y="2217419"/>
            <a:chExt cx="4064736" cy="511435"/>
          </a:xfrm>
        </p:grpSpPr>
        <p:sp>
          <p:nvSpPr>
            <p:cNvPr id="31" name="左大括弧 30">
              <a:extLst>
                <a:ext uri="{FF2B5EF4-FFF2-40B4-BE49-F238E27FC236}">
                  <a16:creationId xmlns:a16="http://schemas.microsoft.com/office/drawing/2014/main" id="{943E1431-2F7C-D5F9-4DA8-6F5258583B2C}"/>
                </a:ext>
              </a:extLst>
            </p:cNvPr>
            <p:cNvSpPr/>
            <p:nvPr/>
          </p:nvSpPr>
          <p:spPr>
            <a:xfrm rot="16200000">
              <a:off x="3474586" y="359208"/>
              <a:ext cx="348314" cy="4064736"/>
            </a:xfrm>
            <a:prstGeom prst="leftBrace">
              <a:avLst>
                <a:gd name="adj1" fmla="val 41199"/>
                <a:gd name="adj2" fmla="val 50000"/>
              </a:avLst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E1D3739-BEAD-5F34-DDB8-65F24E6C4526}"/>
                </a:ext>
              </a:extLst>
            </p:cNvPr>
            <p:cNvSpPr/>
            <p:nvPr/>
          </p:nvSpPr>
          <p:spPr>
            <a:xfrm>
              <a:off x="3020060" y="2540391"/>
              <a:ext cx="685798" cy="188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33" name="左大括弧 32">
            <a:extLst>
              <a:ext uri="{FF2B5EF4-FFF2-40B4-BE49-F238E27FC236}">
                <a16:creationId xmlns:a16="http://schemas.microsoft.com/office/drawing/2014/main" id="{DA6C7622-D0B8-BB98-ECA2-833D2970C6CB}"/>
              </a:ext>
            </a:extLst>
          </p:cNvPr>
          <p:cNvSpPr/>
          <p:nvPr/>
        </p:nvSpPr>
        <p:spPr>
          <a:xfrm rot="16200000">
            <a:off x="8114901" y="1260015"/>
            <a:ext cx="180890" cy="1360912"/>
          </a:xfrm>
          <a:prstGeom prst="leftBrace">
            <a:avLst>
              <a:gd name="adj1" fmla="val 41199"/>
              <a:gd name="adj2" fmla="val 48880"/>
            </a:avLst>
          </a:prstGeom>
          <a:ln w="28575">
            <a:solidFill>
              <a:srgbClr val="0199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1990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3F3EF2F1-4477-0117-EEA0-8C232F765D04}"/>
              </a:ext>
            </a:extLst>
          </p:cNvPr>
          <p:cNvGrpSpPr/>
          <p:nvPr/>
        </p:nvGrpSpPr>
        <p:grpSpPr>
          <a:xfrm>
            <a:off x="846462" y="1885502"/>
            <a:ext cx="1887618" cy="257015"/>
            <a:chOff x="1616375" y="2217419"/>
            <a:chExt cx="4064736" cy="511435"/>
          </a:xfrm>
        </p:grpSpPr>
        <p:sp>
          <p:nvSpPr>
            <p:cNvPr id="36" name="左大括弧 35">
              <a:extLst>
                <a:ext uri="{FF2B5EF4-FFF2-40B4-BE49-F238E27FC236}">
                  <a16:creationId xmlns:a16="http://schemas.microsoft.com/office/drawing/2014/main" id="{BCA66A36-8C1B-F04B-619B-4FB59F6FC568}"/>
                </a:ext>
              </a:extLst>
            </p:cNvPr>
            <p:cNvSpPr/>
            <p:nvPr/>
          </p:nvSpPr>
          <p:spPr>
            <a:xfrm rot="16200000">
              <a:off x="3474586" y="359208"/>
              <a:ext cx="348314" cy="4064736"/>
            </a:xfrm>
            <a:prstGeom prst="leftBrace">
              <a:avLst>
                <a:gd name="adj1" fmla="val 41199"/>
                <a:gd name="adj2" fmla="val 50000"/>
              </a:avLst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CF29D77-C69E-019D-DD6D-BAC3D1BD7B38}"/>
                </a:ext>
              </a:extLst>
            </p:cNvPr>
            <p:cNvSpPr/>
            <p:nvPr/>
          </p:nvSpPr>
          <p:spPr>
            <a:xfrm>
              <a:off x="3020060" y="2540391"/>
              <a:ext cx="685798" cy="188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38" name="左大括弧 37">
            <a:extLst>
              <a:ext uri="{FF2B5EF4-FFF2-40B4-BE49-F238E27FC236}">
                <a16:creationId xmlns:a16="http://schemas.microsoft.com/office/drawing/2014/main" id="{A1ED39E2-410D-479C-E616-D16E1932FEDE}"/>
              </a:ext>
            </a:extLst>
          </p:cNvPr>
          <p:cNvSpPr/>
          <p:nvPr/>
        </p:nvSpPr>
        <p:spPr>
          <a:xfrm rot="16200000">
            <a:off x="3525267" y="1276177"/>
            <a:ext cx="180890" cy="1360912"/>
          </a:xfrm>
          <a:prstGeom prst="leftBrace">
            <a:avLst>
              <a:gd name="adj1" fmla="val 41199"/>
              <a:gd name="adj2" fmla="val 48880"/>
            </a:avLst>
          </a:prstGeom>
          <a:ln w="28575">
            <a:solidFill>
              <a:srgbClr val="0199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1990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53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A370-D341-BFDD-4D09-617D07A4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F14D43-63EA-3711-BD77-1FC40A38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3B6623-29B0-AD31-F321-F55D6BEE9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8439472" cy="4800600"/>
          </a:xfrm>
        </p:spPr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Hamming Distance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Segmented Cosine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7899B92-1AFA-56F2-0E42-08A2545E6522}"/>
                  </a:ext>
                </a:extLst>
              </p:cNvPr>
              <p:cNvSpPr txBox="1"/>
              <p:nvPr/>
            </p:nvSpPr>
            <p:spPr>
              <a:xfrm>
                <a:off x="323528" y="2556520"/>
                <a:ext cx="8439472" cy="877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HAM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800" b="0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</m:acc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800" b="0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acc>
                        </m:e>
                      </m:d>
                      <m:r>
                        <a:rPr lang="vi-VN" altLang="zh-TW" sz="1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800" b="0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q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b="0" i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 i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TW" altLang="en-US" sz="1800" b="0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den>
                          </m:f>
                        </m:e>
                      </m:nary>
                      <m:r>
                        <a:rPr lang="en-US" altLang="zh-TW" sz="1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800" b="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TW" sz="1800" b="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800" b="0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  <m:d>
                                    <m:dPr>
                                      <m:ctrlPr>
                                        <a:rPr lang="en-US" altLang="zh-TW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1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8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q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TW" sz="1800" b="0" i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1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8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1800" b="0" i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1800" b="0" i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TW" altLang="en-US" sz="1800" b="0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7899B92-1AFA-56F2-0E42-08A2545E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556520"/>
                <a:ext cx="8439472" cy="877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D10238E-6102-E0B6-FEB3-16B73240F26C}"/>
                  </a:ext>
                </a:extLst>
              </p:cNvPr>
              <p:cNvSpPr/>
              <p:nvPr/>
            </p:nvSpPr>
            <p:spPr>
              <a:xfrm>
                <a:off x="391885" y="4246749"/>
                <a:ext cx="8135432" cy="958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TW" alt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𝑠𝑒𝑔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TW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𝑠𝑒𝑔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𝑛𝑜𝑟𝑚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𝑛𝑜𝑟𝑚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D10238E-6102-E0B6-FEB3-16B73240F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5" y="4246749"/>
                <a:ext cx="8135432" cy="9580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2820FB-D0A4-5768-044A-B9F99BD477AA}"/>
                  </a:ext>
                </a:extLst>
              </p:cNvPr>
              <p:cNvSpPr/>
              <p:nvPr/>
            </p:nvSpPr>
            <p:spPr>
              <a:xfrm>
                <a:off x="270534" y="5210039"/>
                <a:ext cx="8378134" cy="958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d>
                        <m:d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TW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𝑠𝑒𝑔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TW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𝑠𝑒𝑔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20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𝑛𝑜𝑟𝑚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𝑛𝑜𝑟𝑚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TW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2820FB-D0A4-5768-044A-B9F99BD47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34" y="5210039"/>
                <a:ext cx="8378134" cy="9580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824A4B7-5379-17C6-1276-2936FE7EC23D}"/>
                  </a:ext>
                </a:extLst>
              </p:cNvPr>
              <p:cNvSpPr txBox="1"/>
              <p:nvPr/>
            </p:nvSpPr>
            <p:spPr>
              <a:xfrm>
                <a:off x="2465929" y="3725017"/>
                <a:ext cx="6612254" cy="369332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14:m>
                  <m:oMath xmlns:m="http://schemas.openxmlformats.org/officeDocument/2006/math">
                    <m:r>
                      <a:rPr kumimoji="0" lang="en-US" altLang="zh-TW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kern="0" dirty="0">
                    <a:solidFill>
                      <a:prstClr val="black"/>
                    </a:solidFill>
                    <a:latin typeface="Calibri" panose="020F0502020204030204"/>
                  </a:rPr>
                  <a:t> Hamming Distance</a:t>
                </a:r>
                <a:r>
                  <a:rPr kumimoji="0" lang="zh-TW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lang="en-US" altLang="zh-TW" b="1" kern="0" dirty="0">
                    <a:solidFill>
                      <a:prstClr val="black"/>
                    </a:solidFill>
                    <a:latin typeface="Calibri" panose="020F0502020204030204"/>
                  </a:rPr>
                  <a:t>+</a:t>
                </a:r>
                <a:r>
                  <a:rPr lang="zh-TW" altLang="en-US" b="1" kern="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kumimoji="0" lang="en-US" altLang="zh-TW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Low-</a:t>
                </a:r>
                <a:r>
                  <a:rPr kumimoji="0" lang="en-US" altLang="ja-JP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Dimensional</a:t>
                </a:r>
                <a:r>
                  <a:rPr kumimoji="0" lang="en-US" altLang="zh-TW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Magnitudes</a:t>
                </a:r>
                <a:endParaRPr kumimoji="0" lang="en-US" altLang="zh-TW" b="1" i="0" u="none" strike="noStrike" kern="0" cap="none" spc="0" normalizeH="0" baseline="0" noProof="0" dirty="0">
                  <a:ln>
                    <a:noFill/>
                  </a:ln>
                  <a:solidFill>
                    <a:srgbClr val="ED7D31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824A4B7-5379-17C6-1276-2936FE7E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929" y="3725017"/>
                <a:ext cx="6612254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49EE2F4-043C-7781-1052-8ECE3083C39C}"/>
                  </a:ext>
                </a:extLst>
              </p:cNvPr>
              <p:cNvSpPr txBox="1"/>
              <p:nvPr/>
            </p:nvSpPr>
            <p:spPr>
              <a:xfrm>
                <a:off x="2411760" y="1913177"/>
                <a:ext cx="5326717" cy="369332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altLang="zh-TW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kern="0" dirty="0">
                    <a:solidFill>
                      <a:prstClr val="black"/>
                    </a:solidFill>
                    <a:latin typeface="Calibri" panose="020F0502020204030204"/>
                  </a:rPr>
                  <a:t> Sum of </a:t>
                </a:r>
                <a:r>
                  <a:rPr kumimoji="0" lang="en-US" altLang="zh-TW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Low-Dimensional</a:t>
                </a:r>
                <a:r>
                  <a:rPr kumimoji="0" lang="en-US" altLang="zh-TW" b="1" i="0" u="none" strike="noStrike" kern="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vi-VN" altLang="zh-TW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Angles</a:t>
                </a:r>
                <a:endParaRPr lang="en-US" altLang="zh-TW" b="1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49EE2F4-043C-7781-1052-8ECE3083C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913177"/>
                <a:ext cx="5326717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691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EDFDEF-225C-E04A-47F7-A13B6907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Preprocessing with Angle &amp; Range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3FAC84-828A-F51D-8177-F7AB988FF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Obtained estimation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8E2E2B4-F29F-9EEF-4075-8ED2778A3935}"/>
                  </a:ext>
                </a:extLst>
              </p:cNvPr>
              <p:cNvSpPr/>
              <p:nvPr/>
            </p:nvSpPr>
            <p:spPr>
              <a:xfrm>
                <a:off x="383028" y="2132856"/>
                <a:ext cx="6853268" cy="784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zh-TW" alt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0" lang="en-US" altLang="zh-TW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kumimoji="0" lang="en-US" altLang="zh-TW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altLang="zh-TW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TW" sz="1600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600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𝒎𝒊𝒏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1600" b="1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1600" b="1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eqArr>
                                            <m:eqArrPr>
                                              <m:ctrlPr>
                                                <a:rPr lang="en-US" altLang="zh-TW" sz="1600" b="1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zh-TW" sz="1600" b="1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acc>
                                                        <m:accPr>
                                                          <m:chr m:val="⃑"/>
                                                          <m:ctrlPr>
                                                            <a:rPr lang="en-US" altLang="zh-TW" sz="1600" b="1" i="1">
                                                              <a:solidFill>
                                                                <a:srgbClr val="0000FF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𝒒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𝒔𝒆𝒈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,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𝒊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acc>
                                                    </m:e>
                                                  </m:d>
                                                  <m: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zh-TW" sz="1600" b="1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acc>
                                                        <m:accPr>
                                                          <m:chr m:val="⃑"/>
                                                          <m:ctrlPr>
                                                            <a:rPr lang="en-US" altLang="zh-TW" sz="1600" b="1" i="1">
                                                              <a:solidFill>
                                                                <a:srgbClr val="0000FF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𝒔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𝒔𝒆𝒈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,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𝒊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acc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e>
                                              <m:r>
                                                <a:rPr lang="en-US" altLang="zh-TW" sz="1600" b="1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  <m:r>
                                                <a:rPr lang="zh-TW" altLang="en-US" sz="1600" b="1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𝝅</m:t>
                                              </m:r>
                                              <m:r>
                                                <a:rPr lang="en-US" altLang="zh-TW" sz="1600" b="1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zh-TW" sz="1600" b="1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acc>
                                                        <m:accPr>
                                                          <m:chr m:val="⃑"/>
                                                          <m:ctrlPr>
                                                            <a:rPr lang="en-US" altLang="zh-TW" sz="1600" b="1" i="1">
                                                              <a:solidFill>
                                                                <a:srgbClr val="0000FF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𝒒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𝒔𝒆𝒈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,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𝒊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acc>
                                                    </m:e>
                                                  </m:d>
                                                  <m: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TW" sz="1600" b="1" i="1">
                                                      <a:solidFill>
                                                        <a:srgbClr val="0000FF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altLang="zh-TW" sz="1600" b="1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acc>
                                                        <m:accPr>
                                                          <m:chr m:val="⃑"/>
                                                          <m:ctrlPr>
                                                            <a:rPr lang="en-US" altLang="zh-TW" sz="1600" b="1" i="1">
                                                              <a:solidFill>
                                                                <a:srgbClr val="0000FF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𝒔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𝒔𝒆𝒈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,</m:t>
                                                              </m:r>
                                                              <m:r>
                                                                <a:rPr lang="en-US" altLang="zh-TW" sz="1600" b="1" i="1">
                                                                  <a:solidFill>
                                                                    <a:srgbClr val="0000FF"/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𝒊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acc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eqArr>
                                        </m:e>
                                      </m:d>
                                    </m:e>
                                  </m:func>
                                  <m: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0" lang="vi-VN" altLang="zh-TW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kumimoji="0" lang="en-US" altLang="zh-TW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⃑"/>
                                              <m:ctrlPr>
                                                <a:rPr kumimoji="0" lang="en-US" altLang="zh-TW" sz="16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1990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en-US" altLang="zh-TW" sz="16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1990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𝒒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kumimoji="0" lang="en-US" altLang="zh-TW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1990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kumimoji="0" lang="en-US" altLang="zh-TW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1990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⃑"/>
                                              <m:ctrlPr>
                                                <a:rPr kumimoji="0" lang="en-US" altLang="zh-TW" sz="16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1990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en-US" altLang="zh-TW" sz="16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1990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𝒔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  <m:r>
                                    <a:rPr kumimoji="0" lang="en-US" altLang="zh-TW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8E2E2B4-F29F-9EEF-4075-8ED2778A3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28" y="2132856"/>
                <a:ext cx="6853268" cy="7848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EC8D6C9D-53FA-96F3-564D-505F79D4B4FF}"/>
              </a:ext>
            </a:extLst>
          </p:cNvPr>
          <p:cNvCxnSpPr>
            <a:cxnSpLocks/>
          </p:cNvCxnSpPr>
          <p:nvPr/>
        </p:nvCxnSpPr>
        <p:spPr bwMode="auto">
          <a:xfrm flipV="1">
            <a:off x="7884368" y="1940268"/>
            <a:ext cx="0" cy="1152128"/>
          </a:xfrm>
          <a:prstGeom prst="straightConnector1">
            <a:avLst/>
          </a:prstGeom>
          <a:noFill/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980C2F4-4B4B-B5E5-3AD9-3877F579AE88}"/>
              </a:ext>
            </a:extLst>
          </p:cNvPr>
          <p:cNvCxnSpPr>
            <a:cxnSpLocks/>
          </p:cNvCxnSpPr>
          <p:nvPr/>
        </p:nvCxnSpPr>
        <p:spPr bwMode="auto">
          <a:xfrm>
            <a:off x="7265032" y="2516332"/>
            <a:ext cx="1238671" cy="0"/>
          </a:xfrm>
          <a:prstGeom prst="straightConnector1">
            <a:avLst/>
          </a:prstGeom>
          <a:noFill/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3AD18F01-748E-8F52-59E5-3F8C19EB10A0}"/>
              </a:ext>
            </a:extLst>
          </p:cNvPr>
          <p:cNvCxnSpPr>
            <a:cxnSpLocks/>
          </p:cNvCxnSpPr>
          <p:nvPr/>
        </p:nvCxnSpPr>
        <p:spPr bwMode="auto">
          <a:xfrm flipV="1">
            <a:off x="7884368" y="1940268"/>
            <a:ext cx="244761" cy="576064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0C521B5-8AC1-932A-5606-5D64E10866A0}"/>
              </a:ext>
            </a:extLst>
          </p:cNvPr>
          <p:cNvCxnSpPr>
            <a:cxnSpLocks/>
          </p:cNvCxnSpPr>
          <p:nvPr/>
        </p:nvCxnSpPr>
        <p:spPr bwMode="auto">
          <a:xfrm>
            <a:off x="7884367" y="2516332"/>
            <a:ext cx="489522" cy="432048"/>
          </a:xfrm>
          <a:prstGeom prst="straightConnector1">
            <a:avLst/>
          </a:prstGeom>
          <a:noFill/>
          <a:ln w="38100" cap="flat" cmpd="sng" algn="ctr">
            <a:solidFill>
              <a:srgbClr val="01990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弧形 16">
            <a:extLst>
              <a:ext uri="{FF2B5EF4-FFF2-40B4-BE49-F238E27FC236}">
                <a16:creationId xmlns:a16="http://schemas.microsoft.com/office/drawing/2014/main" id="{994FAA5A-CA10-53F6-8BAC-1A1416FFB442}"/>
              </a:ext>
            </a:extLst>
          </p:cNvPr>
          <p:cNvSpPr/>
          <p:nvPr/>
        </p:nvSpPr>
        <p:spPr bwMode="auto">
          <a:xfrm>
            <a:off x="7524328" y="2156293"/>
            <a:ext cx="720078" cy="720070"/>
          </a:xfrm>
          <a:prstGeom prst="arc">
            <a:avLst>
              <a:gd name="adj1" fmla="val 17651008"/>
              <a:gd name="adj2" fmla="val 257114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B106279-02B7-1EEF-C0FC-B0290CA492FC}"/>
                  </a:ext>
                </a:extLst>
              </p:cNvPr>
              <p:cNvSpPr txBox="1"/>
              <p:nvPr/>
            </p:nvSpPr>
            <p:spPr>
              <a:xfrm>
                <a:off x="7950897" y="2019027"/>
                <a:ext cx="138775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altLang="zh-TW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2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𝒔𝒆𝒈</m:t>
                                  </m:r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TW" sz="12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2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𝒔𝒆𝒈</m:t>
                                  </m:r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B106279-02B7-1EEF-C0FC-B0290CA49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897" y="2019027"/>
                <a:ext cx="138775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弧形 20">
            <a:extLst>
              <a:ext uri="{FF2B5EF4-FFF2-40B4-BE49-F238E27FC236}">
                <a16:creationId xmlns:a16="http://schemas.microsoft.com/office/drawing/2014/main" id="{8BB9DA77-6018-AD6F-7308-6FBE3483CE11}"/>
              </a:ext>
            </a:extLst>
          </p:cNvPr>
          <p:cNvSpPr/>
          <p:nvPr/>
        </p:nvSpPr>
        <p:spPr bwMode="auto">
          <a:xfrm>
            <a:off x="7668340" y="2290570"/>
            <a:ext cx="432052" cy="432048"/>
          </a:xfrm>
          <a:prstGeom prst="arc">
            <a:avLst>
              <a:gd name="adj1" fmla="val 2879305"/>
              <a:gd name="adj2" fmla="val 17699858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4B77D6F-C6B2-C283-846A-4419A313A5DA}"/>
                  </a:ext>
                </a:extLst>
              </p:cNvPr>
              <p:cNvSpPr txBox="1"/>
              <p:nvPr/>
            </p:nvSpPr>
            <p:spPr>
              <a:xfrm>
                <a:off x="7112552" y="2157304"/>
                <a:ext cx="67771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altLang="zh-TW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4B77D6F-C6B2-C283-846A-4419A313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552" y="2157304"/>
                <a:ext cx="67771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2548AAC7-D8AA-CEF9-AD02-74A458E32731}"/>
              </a:ext>
            </a:extLst>
          </p:cNvPr>
          <p:cNvGrpSpPr/>
          <p:nvPr/>
        </p:nvGrpSpPr>
        <p:grpSpPr>
          <a:xfrm>
            <a:off x="1920600" y="2891119"/>
            <a:ext cx="3228507" cy="511435"/>
            <a:chOff x="1616375" y="2217419"/>
            <a:chExt cx="4064736" cy="511435"/>
          </a:xfrm>
        </p:grpSpPr>
        <p:sp>
          <p:nvSpPr>
            <p:cNvPr id="32" name="左大括弧 31">
              <a:extLst>
                <a:ext uri="{FF2B5EF4-FFF2-40B4-BE49-F238E27FC236}">
                  <a16:creationId xmlns:a16="http://schemas.microsoft.com/office/drawing/2014/main" id="{0506EDED-6AB2-B27E-C5FF-5B7C96D1C3E1}"/>
                </a:ext>
              </a:extLst>
            </p:cNvPr>
            <p:cNvSpPr/>
            <p:nvPr/>
          </p:nvSpPr>
          <p:spPr>
            <a:xfrm rot="16200000">
              <a:off x="3474586" y="359208"/>
              <a:ext cx="348314" cy="4064736"/>
            </a:xfrm>
            <a:prstGeom prst="leftBrace">
              <a:avLst>
                <a:gd name="adj1" fmla="val 41199"/>
                <a:gd name="adj2" fmla="val 50000"/>
              </a:avLst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259A532-E2A6-8DAB-8D70-FBBC19ACD24A}"/>
                </a:ext>
              </a:extLst>
            </p:cNvPr>
            <p:cNvSpPr/>
            <p:nvPr/>
          </p:nvSpPr>
          <p:spPr>
            <a:xfrm>
              <a:off x="3020060" y="2540391"/>
              <a:ext cx="685798" cy="188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35" name="左大括弧 34">
            <a:extLst>
              <a:ext uri="{FF2B5EF4-FFF2-40B4-BE49-F238E27FC236}">
                <a16:creationId xmlns:a16="http://schemas.microsoft.com/office/drawing/2014/main" id="{1FF1B083-18F8-3602-316A-03AA1982B7F6}"/>
              </a:ext>
            </a:extLst>
          </p:cNvPr>
          <p:cNvSpPr/>
          <p:nvPr/>
        </p:nvSpPr>
        <p:spPr>
          <a:xfrm rot="16200000">
            <a:off x="5980501" y="2448837"/>
            <a:ext cx="348314" cy="1232880"/>
          </a:xfrm>
          <a:prstGeom prst="leftBrace">
            <a:avLst>
              <a:gd name="adj1" fmla="val 41199"/>
              <a:gd name="adj2" fmla="val 50000"/>
            </a:avLst>
          </a:prstGeom>
          <a:ln w="28575">
            <a:solidFill>
              <a:srgbClr val="0199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1990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6F21711-AB13-AB2E-A199-AB5EC0FCC7E8}"/>
              </a:ext>
            </a:extLst>
          </p:cNvPr>
          <p:cNvSpPr/>
          <p:nvPr/>
        </p:nvSpPr>
        <p:spPr>
          <a:xfrm>
            <a:off x="3139962" y="3193490"/>
            <a:ext cx="728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Angle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B3050E6-16D8-C27D-E4E5-E134B09A2FAF}"/>
              </a:ext>
            </a:extLst>
          </p:cNvPr>
          <p:cNvSpPr/>
          <p:nvPr/>
        </p:nvSpPr>
        <p:spPr>
          <a:xfrm>
            <a:off x="5570489" y="3189541"/>
            <a:ext cx="12328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1990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Magnitude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990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CEEBB28-4ECB-9A62-C0A5-5BDBD04D37FC}"/>
                  </a:ext>
                </a:extLst>
              </p:cNvPr>
              <p:cNvSpPr txBox="1"/>
              <p:nvPr/>
            </p:nvSpPr>
            <p:spPr>
              <a:xfrm>
                <a:off x="22646" y="3856645"/>
                <a:ext cx="4222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[0, 2]=[1−1, 1+1]</m:t>
                      </m:r>
                      <m:r>
                        <a:rPr kumimoji="0" lang="en-US" altLang="zh-TW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zh-TW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CEEBB28-4ECB-9A62-C0A5-5BDBD04D3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6" y="3856645"/>
                <a:ext cx="4222114" cy="369332"/>
              </a:xfrm>
              <a:prstGeom prst="rect">
                <a:avLst/>
              </a:prstGeom>
              <a:blipFill>
                <a:blip r:embed="rId5"/>
                <a:stretch>
                  <a:fillRect r="-145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52B1110-FB0A-0B7D-1F17-57FBD904E423}"/>
                  </a:ext>
                </a:extLst>
              </p:cNvPr>
              <p:cNvSpPr txBox="1"/>
              <p:nvPr/>
            </p:nvSpPr>
            <p:spPr>
              <a:xfrm>
                <a:off x="56838" y="4268333"/>
                <a:ext cx="4206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1, 5</m:t>
                          </m:r>
                        </m:e>
                      </m:d>
                      <m:r>
                        <a:rPr kumimoji="0" lang="en-US" altLang="zh-TW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3−2, 3+2</m:t>
                          </m:r>
                        </m:e>
                      </m:d>
                      <m:r>
                        <a:rPr kumimoji="0" lang="en-US" altLang="zh-TW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TW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zh-TW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52B1110-FB0A-0B7D-1F17-57FBD904E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8" y="4268333"/>
                <a:ext cx="4206434" cy="369332"/>
              </a:xfrm>
              <a:prstGeom prst="rect">
                <a:avLst/>
              </a:prstGeom>
              <a:blipFill>
                <a:blip r:embed="rId6"/>
                <a:stretch>
                  <a:fillRect r="-145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4999347-85FB-A85A-3818-C7D6687B55C0}"/>
                  </a:ext>
                </a:extLst>
              </p:cNvPr>
              <p:cNvSpPr txBox="1"/>
              <p:nvPr/>
            </p:nvSpPr>
            <p:spPr>
              <a:xfrm>
                <a:off x="-638130" y="4715260"/>
                <a:ext cx="6243376" cy="3984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</m:t>
                      </m:r>
                      <m:d>
                        <m:dPr>
                          <m:ctrlP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0,2</m:t>
                              </m:r>
                            </m:e>
                          </m:d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1,5</m:t>
                              </m:r>
                            </m:e>
                          </m:d>
                        </m:e>
                      </m:d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en-US" altLang="zh-TW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0,1,2</m:t>
                                  </m:r>
                                </m:e>
                              </m:d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∈{1,2,3,4,5}</m:t>
                              </m:r>
                            </m:lim>
                          </m:limLow>
                        </m:fName>
                        <m:e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zh-TW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4999347-85FB-A85A-3818-C7D6687B5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8130" y="4715260"/>
                <a:ext cx="6243376" cy="398442"/>
              </a:xfrm>
              <a:prstGeom prst="rect">
                <a:avLst/>
              </a:prstGeom>
              <a:blipFill>
                <a:blip r:embed="rId7"/>
                <a:stretch>
                  <a:fillRect t="-1538" b="-18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07244D-B500-3A77-0A2A-138E560ED2AD}"/>
              </a:ext>
            </a:extLst>
          </p:cNvPr>
          <p:cNvSpPr txBox="1"/>
          <p:nvPr/>
        </p:nvSpPr>
        <p:spPr>
          <a:xfrm>
            <a:off x="107504" y="572324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Angle</a:t>
            </a:r>
            <a:r>
              <a:rPr kumimoji="0" lang="zh-TW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terms :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centers of ranges</a:t>
            </a:r>
            <a:endParaRPr kumimoji="0" lang="zh-TW" altLang="en-US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1DBEB7D-5055-59E4-BCBB-8E38CF638DF0}"/>
              </a:ext>
            </a:extLst>
          </p:cNvPr>
          <p:cNvSpPr txBox="1"/>
          <p:nvPr/>
        </p:nvSpPr>
        <p:spPr>
          <a:xfrm>
            <a:off x="107503" y="6121791"/>
            <a:ext cx="406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i="0" u="none" strike="noStrike" kern="1200" cap="none" spc="0" normalizeH="0" baseline="0" noProof="0" dirty="0">
                <a:ln>
                  <a:noFill/>
                </a:ln>
                <a:solidFill>
                  <a:srgbClr val="01990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Magnitude terms</a:t>
            </a:r>
            <a:r>
              <a:rPr kumimoji="0" lang="en-US" altLang="zh-TW" b="1" i="0" u="none" strike="noStrike" kern="1200" cap="none" spc="0" normalizeH="0" noProof="0" dirty="0">
                <a:ln>
                  <a:noFill/>
                </a:ln>
                <a:solidFill>
                  <a:srgbClr val="01990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: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rgbClr val="01990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b="1" i="0" u="none" strike="noStrike" kern="1200" cap="none" spc="0" normalizeH="0" baseline="0" noProof="0" dirty="0">
                <a:ln>
                  <a:noFill/>
                </a:ln>
                <a:solidFill>
                  <a:srgbClr val="01990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half-lengths of ranges</a:t>
            </a:r>
            <a:endParaRPr kumimoji="0" lang="zh-TW" altLang="en-US" b="1" i="0" u="none" strike="noStrike" kern="1200" cap="none" spc="0" normalizeH="0" baseline="0" noProof="0" dirty="0">
              <a:ln>
                <a:noFill/>
              </a:ln>
              <a:solidFill>
                <a:srgbClr val="01990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D533EB8D-5DD1-7FF9-5C2B-875FD5F9511D}"/>
                  </a:ext>
                </a:extLst>
              </p:cNvPr>
              <p:cNvSpPr/>
              <p:nvPr/>
            </p:nvSpPr>
            <p:spPr>
              <a:xfrm>
                <a:off x="879332" y="5113702"/>
                <a:ext cx="451399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altLang="zh-TW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a:rPr kumimoji="0" lang="en-US" altLang="zh-TW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𝐦𝐚𝐱</m:t>
                          </m:r>
                        </m:fName>
                        <m:e>
                          <m:r>
                            <a:rPr kumimoji="0" lang="en-US" altLang="zh-TW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0" lang="en-US" altLang="zh-TW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kumimoji="0" lang="en-US" altLang="zh-TW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altLang="zh-TW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kumimoji="0" lang="en-US" altLang="zh-TW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US" altLang="zh-TW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TW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990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1990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1990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𝒓</m:t>
                              </m:r>
                            </m:e>
                            <m:sub>
                              <m: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1990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0" lang="en-US" altLang="zh-TW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990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1990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1990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𝒓</m:t>
                              </m:r>
                            </m:e>
                            <m:sub>
                              <m:r>
                                <a:rPr kumimoji="0" lang="en-US" altLang="zh-TW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1990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  <m:r>
                            <a:rPr kumimoji="0" lang="en-US" altLang="zh-TW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990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r>
                            <a:rPr kumimoji="0" lang="en-US" altLang="zh-TW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TW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  <m:r>
                            <a:rPr kumimoji="0" lang="en-US" altLang="zh-TW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0" lang="zh-TW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D533EB8D-5DD1-7FF9-5C2B-875FD5F95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2" y="5113702"/>
                <a:ext cx="4513993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B22AB0EF-8A3E-6EBD-BF0F-96619DE62824}"/>
              </a:ext>
            </a:extLst>
          </p:cNvPr>
          <p:cNvGrpSpPr/>
          <p:nvPr/>
        </p:nvGrpSpPr>
        <p:grpSpPr>
          <a:xfrm>
            <a:off x="5199635" y="3714388"/>
            <a:ext cx="3519797" cy="2277741"/>
            <a:chOff x="5073368" y="3868123"/>
            <a:chExt cx="3519797" cy="2175223"/>
          </a:xfrm>
        </p:grpSpPr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4F800A01-19E6-2FE7-5766-ADC056371E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4294" y="4304683"/>
              <a:ext cx="1" cy="168609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119BC3B7-8CAB-A15A-DA75-565562F7A7E0}"/>
                </a:ext>
              </a:extLst>
            </p:cNvPr>
            <p:cNvGrpSpPr/>
            <p:nvPr/>
          </p:nvGrpSpPr>
          <p:grpSpPr>
            <a:xfrm>
              <a:off x="5073368" y="3881427"/>
              <a:ext cx="485725" cy="442796"/>
              <a:chOff x="152643" y="5432675"/>
              <a:chExt cx="725956" cy="661795"/>
            </a:xfrm>
          </p:grpSpPr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C4CE66E7-307A-876E-4B06-0C419821ABF7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74F7F74-0446-E71C-85EC-822E48067482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0</a:t>
                </a:r>
              </a:p>
            </p:txBody>
          </p:sp>
        </p:grp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386EBD91-6B9C-E37A-A091-4156271BF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5540" y="4311877"/>
              <a:ext cx="1" cy="168609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85620AEF-B057-7292-1666-827B7A17D7D8}"/>
                </a:ext>
              </a:extLst>
            </p:cNvPr>
            <p:cNvGrpSpPr/>
            <p:nvPr/>
          </p:nvGrpSpPr>
          <p:grpSpPr>
            <a:xfrm>
              <a:off x="5658151" y="3869081"/>
              <a:ext cx="485725" cy="442796"/>
              <a:chOff x="152643" y="5432675"/>
              <a:chExt cx="725956" cy="661795"/>
            </a:xfrm>
          </p:grpSpPr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831ABD6C-3255-E85B-0568-CAF737B58DE0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CD867EC-33CA-3D03-D4B4-C45A180F1148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EBC115C5-E76F-8934-6AF5-55D27B703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7838" y="4283514"/>
              <a:ext cx="1" cy="168609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9B94D5C5-1E24-B003-3611-F9A5B113408F}"/>
                </a:ext>
              </a:extLst>
            </p:cNvPr>
            <p:cNvGrpSpPr/>
            <p:nvPr/>
          </p:nvGrpSpPr>
          <p:grpSpPr>
            <a:xfrm>
              <a:off x="6280931" y="3873583"/>
              <a:ext cx="485725" cy="442796"/>
              <a:chOff x="152643" y="5432675"/>
              <a:chExt cx="725956" cy="661795"/>
            </a:xfrm>
          </p:grpSpPr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EE43E29B-EC76-4408-14CC-830413C021B2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4EE69226-459B-686C-315C-B56EE2C5CD18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2</a:t>
                </a:r>
              </a:p>
            </p:txBody>
          </p:sp>
        </p:grp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F137AEDD-02C7-6F55-3FF6-2FB1FD693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5852" y="4357256"/>
              <a:ext cx="1" cy="168609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72B3E4E2-5D4C-E20F-C7AD-62070E1EFBED}"/>
                </a:ext>
              </a:extLst>
            </p:cNvPr>
            <p:cNvGrpSpPr/>
            <p:nvPr/>
          </p:nvGrpSpPr>
          <p:grpSpPr>
            <a:xfrm>
              <a:off x="6859567" y="3868123"/>
              <a:ext cx="485725" cy="442796"/>
              <a:chOff x="152643" y="5432675"/>
              <a:chExt cx="725956" cy="661795"/>
            </a:xfrm>
          </p:grpSpPr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852027F8-CCFF-EA83-160F-937239A2E70D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F3E0815-036B-217B-EF83-0B8DA83C503A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3</a:t>
                </a:r>
              </a:p>
            </p:txBody>
          </p:sp>
        </p:grp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5032E8A-6473-ECBC-5C2B-804588257F8E}"/>
                </a:ext>
              </a:extLst>
            </p:cNvPr>
            <p:cNvSpPr/>
            <p:nvPr/>
          </p:nvSpPr>
          <p:spPr>
            <a:xfrm>
              <a:off x="5311374" y="4974328"/>
              <a:ext cx="1204531" cy="1361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3CD66389-8175-E082-CE7B-16901A08D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6286" y="4351408"/>
              <a:ext cx="1" cy="168609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D186C2BD-2A44-3053-6C34-24D6C56E54F2}"/>
                </a:ext>
              </a:extLst>
            </p:cNvPr>
            <p:cNvGrpSpPr/>
            <p:nvPr/>
          </p:nvGrpSpPr>
          <p:grpSpPr>
            <a:xfrm>
              <a:off x="7473424" y="3868123"/>
              <a:ext cx="485725" cy="442796"/>
              <a:chOff x="152643" y="5432675"/>
              <a:chExt cx="725956" cy="661795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8475E7BA-91D6-0905-5CBE-67BAF60A4B6E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257EA3E7-1D1D-5AF1-9115-7D8B5A6A1B48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4</a:t>
                </a:r>
              </a:p>
            </p:txBody>
          </p:sp>
        </p:grp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66B7C5D5-C1E4-3F27-7465-4A563E76EA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49225" y="4338741"/>
              <a:ext cx="1" cy="168609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280431BF-D6CD-1DCC-5C60-4405E6D4C7BE}"/>
                </a:ext>
              </a:extLst>
            </p:cNvPr>
            <p:cNvGrpSpPr/>
            <p:nvPr/>
          </p:nvGrpSpPr>
          <p:grpSpPr>
            <a:xfrm>
              <a:off x="8107440" y="3869081"/>
              <a:ext cx="485725" cy="442796"/>
              <a:chOff x="152643" y="5432675"/>
              <a:chExt cx="725956" cy="661795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D9166A43-7FA0-9690-830D-563F2BF1512C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B2E8F2-7857-7B2E-E881-0B67DFD0D90A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5</a:t>
                </a:r>
              </a:p>
            </p:txBody>
          </p:sp>
        </p:grp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6315FEE-6E8D-E14E-4D33-24AF6304257B}"/>
                </a:ext>
              </a:extLst>
            </p:cNvPr>
            <p:cNvSpPr/>
            <p:nvPr/>
          </p:nvSpPr>
          <p:spPr>
            <a:xfrm>
              <a:off x="5924624" y="5507194"/>
              <a:ext cx="2412439" cy="115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332A2C1-DEB3-DE75-D9C6-8D942D9BACE8}"/>
                    </a:ext>
                  </a:extLst>
                </p:cNvPr>
                <p:cNvSpPr/>
                <p:nvPr/>
              </p:nvSpPr>
              <p:spPr>
                <a:xfrm>
                  <a:off x="5553131" y="4615923"/>
                  <a:ext cx="740907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[0, 2]</m:t>
                        </m:r>
                      </m:oMath>
                    </m:oMathPara>
                  </a14:m>
                  <a:endParaRPr kumimoji="0" lang="zh-TW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332A2C1-DEB3-DE75-D9C6-8D942D9BAC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3131" y="4615923"/>
                  <a:ext cx="740907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51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D3813EA8-CA35-EC38-7AC9-2E69184A12AA}"/>
                    </a:ext>
                  </a:extLst>
                </p:cNvPr>
                <p:cNvSpPr/>
                <p:nvPr/>
              </p:nvSpPr>
              <p:spPr>
                <a:xfrm>
                  <a:off x="6753436" y="5152564"/>
                  <a:ext cx="740908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[1</m:t>
                        </m:r>
                        <m:r>
                          <a:rPr kumimoji="0" lang="en-US" altLang="zh-TW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</m:t>
                        </m:r>
                        <m:r>
                          <a:rPr kumimoji="0" lang="en-US" altLang="zh-TW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  <m:r>
                          <a:rPr kumimoji="0" lang="en-US" altLang="zh-TW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oMath>
                    </m:oMathPara>
                  </a14:m>
                  <a:endParaRPr kumimoji="0" lang="zh-TW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D3813EA8-CA35-EC38-7AC9-2E69184A12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436" y="5152564"/>
                  <a:ext cx="740908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51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00D1F9AA-464B-D6F2-3286-3ACCFA69DD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6724" y="5221669"/>
              <a:ext cx="599181" cy="3334"/>
            </a:xfrm>
            <a:prstGeom prst="straightConnector1">
              <a:avLst/>
            </a:prstGeom>
            <a:ln w="28575">
              <a:solidFill>
                <a:srgbClr val="01990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95875B3D-6A5E-15DB-FA1E-93F9B7610E55}"/>
                    </a:ext>
                  </a:extLst>
                </p:cNvPr>
                <p:cNvSpPr txBox="1"/>
                <p:nvPr/>
              </p:nvSpPr>
              <p:spPr>
                <a:xfrm>
                  <a:off x="6000850" y="5162331"/>
                  <a:ext cx="486042" cy="3233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6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1990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6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1990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𝒓</m:t>
                            </m:r>
                          </m:e>
                          <m:sub>
                            <m:r>
                              <a:rPr kumimoji="0" lang="en-US" altLang="zh-TW" sz="16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1990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9901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95875B3D-6A5E-15DB-FA1E-93F9B7610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0850" y="5162331"/>
                  <a:ext cx="486042" cy="32331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2A96733D-7DBC-C0E1-D028-8D6EF97D5419}"/>
                </a:ext>
              </a:extLst>
            </p:cNvPr>
            <p:cNvCxnSpPr>
              <a:cxnSpLocks/>
            </p:cNvCxnSpPr>
            <p:nvPr/>
          </p:nvCxnSpPr>
          <p:spPr>
            <a:xfrm>
              <a:off x="5914530" y="5719226"/>
              <a:ext cx="1168386" cy="5677"/>
            </a:xfrm>
            <a:prstGeom prst="straightConnector1">
              <a:avLst/>
            </a:prstGeom>
            <a:ln w="28575">
              <a:solidFill>
                <a:srgbClr val="01990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83019E14-A486-D5EC-8DAC-4439B48A137E}"/>
                    </a:ext>
                  </a:extLst>
                </p:cNvPr>
                <p:cNvSpPr txBox="1"/>
                <p:nvPr/>
              </p:nvSpPr>
              <p:spPr>
                <a:xfrm>
                  <a:off x="6303341" y="5681462"/>
                  <a:ext cx="486042" cy="3233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6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1990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6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1990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𝒓</m:t>
                            </m:r>
                          </m:e>
                          <m:sub>
                            <m:r>
                              <a:rPr kumimoji="0" lang="en-US" altLang="zh-TW" sz="16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1990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9901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83019E14-A486-D5EC-8DAC-4439B48A1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341" y="5681462"/>
                  <a:ext cx="486042" cy="32331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A73F903-9BC5-B567-7BA6-AC0A445BB7B2}"/>
                    </a:ext>
                  </a:extLst>
                </p:cNvPr>
                <p:cNvSpPr txBox="1"/>
                <p:nvPr/>
              </p:nvSpPr>
              <p:spPr>
                <a:xfrm>
                  <a:off x="5681025" y="4346532"/>
                  <a:ext cx="4860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6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altLang="zh-TW" sz="16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kumimoji="0" lang="en-US" altLang="zh-TW" sz="16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A73F903-9BC5-B567-7BA6-AC0A445BB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1025" y="4346532"/>
                  <a:ext cx="48604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EB91B494-E4F2-38F4-475C-5F6EA29B83B4}"/>
                    </a:ext>
                  </a:extLst>
                </p:cNvPr>
                <p:cNvSpPr txBox="1"/>
                <p:nvPr/>
              </p:nvSpPr>
              <p:spPr>
                <a:xfrm>
                  <a:off x="6899961" y="4882813"/>
                  <a:ext cx="4860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6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altLang="zh-TW" sz="16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kumimoji="0" lang="en-US" altLang="zh-TW" sz="16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EB91B494-E4F2-38F4-475C-5F6EA29B8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9961" y="4882813"/>
                  <a:ext cx="486042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0475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3" grpId="0"/>
      <p:bldP spid="44" grpId="0"/>
      <p:bldP spid="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CF1F-9A6F-6860-8CC7-68F86434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120B32-1E14-C0F6-DCA1-97C313CD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Codeword Generation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53BCF89-8FF3-0437-2D4F-6174C945E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Möbius Encoding (Codeword length: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53BCF89-8FF3-0437-2D4F-6174C945E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DF4D0C0E-7E9E-48F7-6B31-1F0E2A467B97}"/>
              </a:ext>
            </a:extLst>
          </p:cNvPr>
          <p:cNvGrpSpPr/>
          <p:nvPr/>
        </p:nvGrpSpPr>
        <p:grpSpPr>
          <a:xfrm>
            <a:off x="611560" y="2204861"/>
            <a:ext cx="2271924" cy="1871837"/>
            <a:chOff x="5073368" y="3868123"/>
            <a:chExt cx="2271924" cy="1787589"/>
          </a:xfrm>
        </p:grpSpPr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D6D6B1A0-33E8-0BEF-8DFE-F6A43BEB844E}"/>
                </a:ext>
              </a:extLst>
            </p:cNvPr>
            <p:cNvCxnSpPr>
              <a:cxnSpLocks/>
            </p:cNvCxnSpPr>
            <p:nvPr/>
          </p:nvCxnSpPr>
          <p:spPr>
            <a:xfrm>
              <a:off x="5314294" y="4772758"/>
              <a:ext cx="0" cy="882954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1586D04B-F1D0-A963-9C77-E4BCC15C8DEB}"/>
                </a:ext>
              </a:extLst>
            </p:cNvPr>
            <p:cNvGrpSpPr/>
            <p:nvPr/>
          </p:nvGrpSpPr>
          <p:grpSpPr>
            <a:xfrm>
              <a:off x="5073368" y="3881427"/>
              <a:ext cx="485725" cy="442796"/>
              <a:chOff x="152643" y="5432675"/>
              <a:chExt cx="725956" cy="661795"/>
            </a:xfrm>
          </p:grpSpPr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AC638236-A48E-056D-962E-97EA317A2092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3D559BB3-35B1-0FCF-C0EB-6EA3D1183A76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0</a:t>
                </a:r>
              </a:p>
            </p:txBody>
          </p:sp>
        </p:grp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1290762C-B1F2-B54C-3DC2-24EEA19DD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1013" y="4765871"/>
              <a:ext cx="14527" cy="856128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9871D8A-8055-ECAA-AA5D-CA759BF88986}"/>
                </a:ext>
              </a:extLst>
            </p:cNvPr>
            <p:cNvGrpSpPr/>
            <p:nvPr/>
          </p:nvGrpSpPr>
          <p:grpSpPr>
            <a:xfrm>
              <a:off x="5658151" y="3869081"/>
              <a:ext cx="485725" cy="442796"/>
              <a:chOff x="152643" y="5432675"/>
              <a:chExt cx="725956" cy="661795"/>
            </a:xfrm>
          </p:grpSpPr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E5EF0402-0C6A-9744-C862-293EBCE59FC9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8F88889-5E61-DD8D-968E-3A53EF1759D5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572AD682-E086-7823-6C60-C674AA0483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4974" y="4770373"/>
              <a:ext cx="12864" cy="885338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FA823895-A383-A2E5-619B-0F0FEBCB059D}"/>
                </a:ext>
              </a:extLst>
            </p:cNvPr>
            <p:cNvGrpSpPr/>
            <p:nvPr/>
          </p:nvGrpSpPr>
          <p:grpSpPr>
            <a:xfrm>
              <a:off x="6280931" y="3873583"/>
              <a:ext cx="485725" cy="442796"/>
              <a:chOff x="152643" y="5432675"/>
              <a:chExt cx="725956" cy="661795"/>
            </a:xfrm>
          </p:grpSpPr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A999CD68-8A52-1758-77C1-15F974F38330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739C01E0-0FF4-FAF1-D13D-F4005B4B82F0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2</a:t>
                </a:r>
              </a:p>
            </p:txBody>
          </p:sp>
        </p:grp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610CA809-B4DA-70B4-462D-4915734C2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2428" y="4759454"/>
              <a:ext cx="1" cy="896258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835243B0-2633-8EAA-C3C9-532907B60929}"/>
                </a:ext>
              </a:extLst>
            </p:cNvPr>
            <p:cNvGrpSpPr/>
            <p:nvPr/>
          </p:nvGrpSpPr>
          <p:grpSpPr>
            <a:xfrm>
              <a:off x="6859567" y="3868123"/>
              <a:ext cx="485725" cy="442796"/>
              <a:chOff x="152643" y="5432675"/>
              <a:chExt cx="725956" cy="661795"/>
            </a:xfrm>
          </p:grpSpPr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E261F162-5915-27ED-8910-DC4A71DC2A50}"/>
                  </a:ext>
                </a:extLst>
              </p:cNvPr>
              <p:cNvSpPr/>
              <p:nvPr/>
            </p:nvSpPr>
            <p:spPr>
              <a:xfrm>
                <a:off x="388300" y="5432675"/>
                <a:ext cx="254642" cy="25464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B54F17C3-A8C5-F03F-D75C-8A773A393A0D}"/>
                  </a:ext>
                </a:extLst>
              </p:cNvPr>
              <p:cNvSpPr txBox="1"/>
              <p:nvPr/>
            </p:nvSpPr>
            <p:spPr>
              <a:xfrm>
                <a:off x="152643" y="5755916"/>
                <a:ext cx="7259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BBCA69-2665-C804-2C5B-B720815962FB}"/>
              </a:ext>
            </a:extLst>
          </p:cNvPr>
          <p:cNvSpPr txBox="1"/>
          <p:nvPr/>
        </p:nvSpPr>
        <p:spPr>
          <a:xfrm>
            <a:off x="609623" y="2748276"/>
            <a:ext cx="485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00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DE212981-79D4-A3F6-6FAD-7FC1D599DDAA}"/>
              </a:ext>
            </a:extLst>
          </p:cNvPr>
          <p:cNvSpPr txBox="1"/>
          <p:nvPr/>
        </p:nvSpPr>
        <p:spPr>
          <a:xfrm>
            <a:off x="1196343" y="2748276"/>
            <a:ext cx="485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01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60B1248F-ED73-70AC-23E0-195DD13724AA}"/>
              </a:ext>
            </a:extLst>
          </p:cNvPr>
          <p:cNvSpPr txBox="1"/>
          <p:nvPr/>
        </p:nvSpPr>
        <p:spPr>
          <a:xfrm>
            <a:off x="1819123" y="2748276"/>
            <a:ext cx="485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11</a:t>
            </a: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FD83F0BA-78CF-3A41-E4EE-56F237DF3052}"/>
              </a:ext>
            </a:extLst>
          </p:cNvPr>
          <p:cNvSpPr txBox="1"/>
          <p:nvPr/>
        </p:nvSpPr>
        <p:spPr>
          <a:xfrm>
            <a:off x="2397758" y="2748276"/>
            <a:ext cx="485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10</a:t>
            </a:r>
          </a:p>
        </p:txBody>
      </p: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FFA56799-323E-E46F-8F68-6648ABB02591}"/>
              </a:ext>
            </a:extLst>
          </p:cNvPr>
          <p:cNvCxnSpPr>
            <a:cxnSpLocks/>
          </p:cNvCxnSpPr>
          <p:nvPr/>
        </p:nvCxnSpPr>
        <p:spPr>
          <a:xfrm>
            <a:off x="852485" y="3284984"/>
            <a:ext cx="1190681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F5B7A622-5887-455E-A516-333816AD6FB4}"/>
              </a:ext>
            </a:extLst>
          </p:cNvPr>
          <p:cNvSpPr txBox="1"/>
          <p:nvPr/>
        </p:nvSpPr>
        <p:spPr>
          <a:xfrm>
            <a:off x="683286" y="3329250"/>
            <a:ext cx="1529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prstClr val="black"/>
                </a:solidFill>
                <a:latin typeface="Calibri" panose="020F0502020204030204"/>
                <a:cs typeface="Arial"/>
                <a:sym typeface="Arial"/>
              </a:rPr>
              <a:t>2-bit Difference</a:t>
            </a:r>
            <a:endParaRPr lang="zh-TW" altLang="en-US" sz="1400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8EFA6C31-944C-3119-51C8-DC85EBC472F1}"/>
              </a:ext>
            </a:extLst>
          </p:cNvPr>
          <p:cNvCxnSpPr>
            <a:cxnSpLocks/>
          </p:cNvCxnSpPr>
          <p:nvPr/>
        </p:nvCxnSpPr>
        <p:spPr>
          <a:xfrm>
            <a:off x="2068895" y="3696138"/>
            <a:ext cx="582476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5499F306-6EF3-76BC-0AAA-641C93EF0DB2}"/>
              </a:ext>
            </a:extLst>
          </p:cNvPr>
          <p:cNvSpPr txBox="1"/>
          <p:nvPr/>
        </p:nvSpPr>
        <p:spPr>
          <a:xfrm>
            <a:off x="1633219" y="3733621"/>
            <a:ext cx="1529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prstClr val="black"/>
                </a:solidFill>
                <a:latin typeface="Calibri" panose="020F0502020204030204"/>
                <a:cs typeface="Arial"/>
                <a:sym typeface="Arial"/>
              </a:rPr>
              <a:t>1-bit Difference</a:t>
            </a:r>
            <a:endParaRPr lang="zh-TW" altLang="en-US" sz="1400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243E8328-1465-AEED-DEF0-4FB1311D48F8}"/>
              </a:ext>
            </a:extLst>
          </p:cNvPr>
          <p:cNvSpPr txBox="1"/>
          <p:nvPr/>
        </p:nvSpPr>
        <p:spPr>
          <a:xfrm>
            <a:off x="1002327" y="3010917"/>
            <a:ext cx="8737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prstClr val="black"/>
                </a:solidFill>
                <a:latin typeface="Calibri" panose="020F0502020204030204"/>
                <a:cs typeface="Arial"/>
                <a:sym typeface="Arial"/>
              </a:rPr>
              <a:t>[0,2]: XX </a:t>
            </a:r>
            <a:endParaRPr lang="zh-TW" altLang="en-US" sz="1400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2331925A-6B60-97BC-7733-C512212C3B7B}"/>
              </a:ext>
            </a:extLst>
          </p:cNvPr>
          <p:cNvSpPr txBox="1"/>
          <p:nvPr/>
        </p:nvSpPr>
        <p:spPr>
          <a:xfrm>
            <a:off x="1913749" y="3377547"/>
            <a:ext cx="8737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prstClr val="black"/>
                </a:solidFill>
                <a:latin typeface="Calibri" panose="020F0502020204030204"/>
                <a:cs typeface="Arial"/>
                <a:sym typeface="Arial"/>
              </a:rPr>
              <a:t>[2,3]: 1X </a:t>
            </a:r>
            <a:endParaRPr lang="zh-TW" altLang="en-US" sz="1400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B8A859D1-CA8D-DDD8-7E39-8CE802751E28}"/>
                  </a:ext>
                </a:extLst>
              </p:cNvPr>
              <p:cNvSpPr txBox="1"/>
              <p:nvPr/>
            </p:nvSpPr>
            <p:spPr>
              <a:xfrm>
                <a:off x="572284" y="3998954"/>
                <a:ext cx="2219567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TW" sz="1600" dirty="0">
                    <a:solidFill>
                      <a:prstClr val="black"/>
                    </a:solidFill>
                    <a:latin typeface="Calibri" panose="020F0502020204030204"/>
                    <a:cs typeface="Arial"/>
                    <a:sym typeface="Arial"/>
                  </a:rPr>
                  <a:t>Limitation: Range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TW" sz="160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N</m:t>
                        </m:r>
                      </m:num>
                      <m:den>
                        <m:r>
                          <a:rPr lang="en-US" altLang="zh-TW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endParaRPr lang="zh-TW" altLang="en-US" sz="1600" dirty="0">
                  <a:solidFill>
                    <a:prstClr val="black"/>
                  </a:solidFill>
                  <a:latin typeface="Calibri" panose="020F0502020204030204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B8A859D1-CA8D-DDD8-7E39-8CE802751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84" y="3998954"/>
                <a:ext cx="2219567" cy="445635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675B9765-327C-376E-A9C2-379F5177E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932563"/>
              </p:ext>
            </p:extLst>
          </p:nvPr>
        </p:nvGraphicFramePr>
        <p:xfrm>
          <a:off x="3463745" y="3533521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105" name="表格 104">
            <a:extLst>
              <a:ext uri="{FF2B5EF4-FFF2-40B4-BE49-F238E27FC236}">
                <a16:creationId xmlns:a16="http://schemas.microsoft.com/office/drawing/2014/main" id="{86D50995-CF49-F32E-2EF8-4B3B435B5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1425"/>
              </p:ext>
            </p:extLst>
          </p:nvPr>
        </p:nvGraphicFramePr>
        <p:xfrm>
          <a:off x="4451880" y="2824373"/>
          <a:ext cx="360000" cy="677151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3613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4101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</a:tbl>
          </a:graphicData>
        </a:graphic>
      </p:graphicFrame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535E6641-88FE-4375-90EC-587CF43E3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264451"/>
              </p:ext>
            </p:extLst>
          </p:nvPr>
        </p:nvGraphicFramePr>
        <p:xfrm>
          <a:off x="4458768" y="3547077"/>
          <a:ext cx="360000" cy="677151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3613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4101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</a:tbl>
          </a:graphicData>
        </a:graphic>
      </p:graphicFrame>
      <p:graphicFrame>
        <p:nvGraphicFramePr>
          <p:cNvPr id="107" name="表格 106">
            <a:extLst>
              <a:ext uri="{FF2B5EF4-FFF2-40B4-BE49-F238E27FC236}">
                <a16:creationId xmlns:a16="http://schemas.microsoft.com/office/drawing/2014/main" id="{490FF250-D5E0-BB6A-1A74-7B8F5B729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36474"/>
              </p:ext>
            </p:extLst>
          </p:nvPr>
        </p:nvGraphicFramePr>
        <p:xfrm>
          <a:off x="4458768" y="4272655"/>
          <a:ext cx="360000" cy="677151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3613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4101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</a:tbl>
          </a:graphicData>
        </a:graphic>
      </p:graphicFrame>
      <p:graphicFrame>
        <p:nvGraphicFramePr>
          <p:cNvPr id="108" name="表格 107">
            <a:extLst>
              <a:ext uri="{FF2B5EF4-FFF2-40B4-BE49-F238E27FC236}">
                <a16:creationId xmlns:a16="http://schemas.microsoft.com/office/drawing/2014/main" id="{753BCCBF-B5A5-0227-CFB2-B22FB1110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642528"/>
              </p:ext>
            </p:extLst>
          </p:nvPr>
        </p:nvGraphicFramePr>
        <p:xfrm>
          <a:off x="4458768" y="4992485"/>
          <a:ext cx="360000" cy="677151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3613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4101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</a:tbl>
          </a:graphicData>
        </a:graphic>
      </p:graphicFrame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91FFBCEC-9A2C-D6AF-2929-7EBE3FAC889E}"/>
              </a:ext>
            </a:extLst>
          </p:cNvPr>
          <p:cNvCxnSpPr>
            <a:cxnSpLocks/>
            <a:stCxn id="104" idx="3"/>
            <a:endCxn id="105" idx="1"/>
          </p:cNvCxnSpPr>
          <p:nvPr/>
        </p:nvCxnSpPr>
        <p:spPr>
          <a:xfrm flipV="1">
            <a:off x="3823745" y="3162948"/>
            <a:ext cx="628135" cy="1106833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E418D2C9-BF7F-A272-726E-114326552431}"/>
              </a:ext>
            </a:extLst>
          </p:cNvPr>
          <p:cNvCxnSpPr>
            <a:cxnSpLocks/>
            <a:stCxn id="104" idx="3"/>
            <a:endCxn id="106" idx="1"/>
          </p:cNvCxnSpPr>
          <p:nvPr/>
        </p:nvCxnSpPr>
        <p:spPr>
          <a:xfrm flipV="1">
            <a:off x="3823745" y="3885652"/>
            <a:ext cx="635023" cy="38412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42D6EC5E-3EBD-251F-509E-A4D331E4E1C5}"/>
              </a:ext>
            </a:extLst>
          </p:cNvPr>
          <p:cNvCxnSpPr>
            <a:cxnSpLocks/>
            <a:stCxn id="104" idx="3"/>
            <a:endCxn id="107" idx="1"/>
          </p:cNvCxnSpPr>
          <p:nvPr/>
        </p:nvCxnSpPr>
        <p:spPr>
          <a:xfrm>
            <a:off x="3823745" y="4269781"/>
            <a:ext cx="635023" cy="34144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119" name="直線單箭頭接點 118">
            <a:extLst>
              <a:ext uri="{FF2B5EF4-FFF2-40B4-BE49-F238E27FC236}">
                <a16:creationId xmlns:a16="http://schemas.microsoft.com/office/drawing/2014/main" id="{301F01EB-8110-FEB9-80C7-5D63A8384F1B}"/>
              </a:ext>
            </a:extLst>
          </p:cNvPr>
          <p:cNvCxnSpPr>
            <a:cxnSpLocks/>
            <a:stCxn id="104" idx="3"/>
            <a:endCxn id="108" idx="1"/>
          </p:cNvCxnSpPr>
          <p:nvPr/>
        </p:nvCxnSpPr>
        <p:spPr>
          <a:xfrm>
            <a:off x="3823745" y="4269781"/>
            <a:ext cx="635023" cy="106127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pic>
        <p:nvPicPr>
          <p:cNvPr id="182" name="圖片 181">
            <a:extLst>
              <a:ext uri="{FF2B5EF4-FFF2-40B4-BE49-F238E27FC236}">
                <a16:creationId xmlns:a16="http://schemas.microsoft.com/office/drawing/2014/main" id="{39B947F1-0B5D-6E46-717F-357675002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14" y="4394345"/>
            <a:ext cx="2932965" cy="2269383"/>
          </a:xfrm>
          <a:prstGeom prst="rect">
            <a:avLst/>
          </a:prstGeom>
        </p:spPr>
      </p:pic>
      <p:grpSp>
        <p:nvGrpSpPr>
          <p:cNvPr id="183" name="群組 182">
            <a:extLst>
              <a:ext uri="{FF2B5EF4-FFF2-40B4-BE49-F238E27FC236}">
                <a16:creationId xmlns:a16="http://schemas.microsoft.com/office/drawing/2014/main" id="{0C0DB2B9-B441-968D-2704-A96B350FFFAA}"/>
              </a:ext>
            </a:extLst>
          </p:cNvPr>
          <p:cNvGrpSpPr/>
          <p:nvPr/>
        </p:nvGrpSpPr>
        <p:grpSpPr>
          <a:xfrm>
            <a:off x="5041073" y="3386590"/>
            <a:ext cx="1656184" cy="1625303"/>
            <a:chOff x="4860032" y="2852936"/>
            <a:chExt cx="1656184" cy="1625303"/>
          </a:xfrm>
        </p:grpSpPr>
        <p:cxnSp>
          <p:nvCxnSpPr>
            <p:cNvPr id="184" name="直線單箭頭接點 183">
              <a:extLst>
                <a:ext uri="{FF2B5EF4-FFF2-40B4-BE49-F238E27FC236}">
                  <a16:creationId xmlns:a16="http://schemas.microsoft.com/office/drawing/2014/main" id="{8FFF55F0-3D60-D933-389E-AD699F9DE3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60032" y="3705103"/>
              <a:ext cx="1656184" cy="14345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線單箭頭接點 184">
              <a:extLst>
                <a:ext uri="{FF2B5EF4-FFF2-40B4-BE49-F238E27FC236}">
                  <a16:creationId xmlns:a16="http://schemas.microsoft.com/office/drawing/2014/main" id="{E821F392-3E00-FED4-948B-3D3E4EB8A4F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652120" y="2852936"/>
              <a:ext cx="0" cy="159624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6" name="弧形 185">
              <a:extLst>
                <a:ext uri="{FF2B5EF4-FFF2-40B4-BE49-F238E27FC236}">
                  <a16:creationId xmlns:a16="http://schemas.microsoft.com/office/drawing/2014/main" id="{7290AF0C-B9D1-E64E-D624-C3537896E2B8}"/>
                </a:ext>
              </a:extLst>
            </p:cNvPr>
            <p:cNvSpPr/>
            <p:nvPr/>
          </p:nvSpPr>
          <p:spPr bwMode="auto">
            <a:xfrm>
              <a:off x="4995887" y="3086830"/>
              <a:ext cx="1299060" cy="1221282"/>
            </a:xfrm>
            <a:prstGeom prst="arc">
              <a:avLst>
                <a:gd name="adj1" fmla="val 12270218"/>
                <a:gd name="adj2" fmla="val 14899981"/>
              </a:avLst>
            </a:prstGeom>
            <a:noFill/>
            <a:ln w="762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87" name="弧形 186">
              <a:extLst>
                <a:ext uri="{FF2B5EF4-FFF2-40B4-BE49-F238E27FC236}">
                  <a16:creationId xmlns:a16="http://schemas.microsoft.com/office/drawing/2014/main" id="{2D565E9D-6703-3AFA-BE13-B2940075399C}"/>
                </a:ext>
              </a:extLst>
            </p:cNvPr>
            <p:cNvSpPr/>
            <p:nvPr/>
          </p:nvSpPr>
          <p:spPr bwMode="auto">
            <a:xfrm>
              <a:off x="5155143" y="3237200"/>
              <a:ext cx="979168" cy="920542"/>
            </a:xfrm>
            <a:prstGeom prst="arc">
              <a:avLst>
                <a:gd name="adj1" fmla="val 1688301"/>
                <a:gd name="adj2" fmla="val 4293416"/>
              </a:avLst>
            </a:prstGeom>
            <a:noFill/>
            <a:ln w="76200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88" name="弧形 187">
              <a:extLst>
                <a:ext uri="{FF2B5EF4-FFF2-40B4-BE49-F238E27FC236}">
                  <a16:creationId xmlns:a16="http://schemas.microsoft.com/office/drawing/2014/main" id="{03CD1339-6F03-7542-2AD1-DA827811EDD4}"/>
                </a:ext>
              </a:extLst>
            </p:cNvPr>
            <p:cNvSpPr/>
            <p:nvPr/>
          </p:nvSpPr>
          <p:spPr bwMode="auto">
            <a:xfrm>
              <a:off x="5186096" y="3270012"/>
              <a:ext cx="909364" cy="854918"/>
            </a:xfrm>
            <a:prstGeom prst="arc">
              <a:avLst>
                <a:gd name="adj1" fmla="val 12270218"/>
                <a:gd name="adj2" fmla="val 20029210"/>
              </a:avLst>
            </a:prstGeom>
            <a:noFill/>
            <a:ln w="762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89" name="弧形 188">
              <a:extLst>
                <a:ext uri="{FF2B5EF4-FFF2-40B4-BE49-F238E27FC236}">
                  <a16:creationId xmlns:a16="http://schemas.microsoft.com/office/drawing/2014/main" id="{1683C9AB-E4CB-6236-94AD-295773592682}"/>
                </a:ext>
              </a:extLst>
            </p:cNvPr>
            <p:cNvSpPr/>
            <p:nvPr/>
          </p:nvSpPr>
          <p:spPr bwMode="auto">
            <a:xfrm>
              <a:off x="4947075" y="3051096"/>
              <a:ext cx="1394100" cy="1310632"/>
            </a:xfrm>
            <a:prstGeom prst="arc">
              <a:avLst>
                <a:gd name="adj1" fmla="val 17611275"/>
                <a:gd name="adj2" fmla="val 4289767"/>
              </a:avLst>
            </a:prstGeom>
            <a:noFill/>
            <a:ln w="762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190" name="直線接點 189">
              <a:extLst>
                <a:ext uri="{FF2B5EF4-FFF2-40B4-BE49-F238E27FC236}">
                  <a16:creationId xmlns:a16="http://schemas.microsoft.com/office/drawing/2014/main" id="{6FB1F03F-5988-7CA9-F115-4582FD0B8BF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327222" y="2995307"/>
              <a:ext cx="627113" cy="1448282"/>
            </a:xfrm>
            <a:prstGeom prst="line">
              <a:avLst/>
            </a:prstGeom>
            <a:ln>
              <a:prstDash val="lg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直線接點 190">
              <a:extLst>
                <a:ext uri="{FF2B5EF4-FFF2-40B4-BE49-F238E27FC236}">
                  <a16:creationId xmlns:a16="http://schemas.microsoft.com/office/drawing/2014/main" id="{AEDBBF5D-EC9F-6A67-A298-56E21AD0D02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368961" y="2964764"/>
              <a:ext cx="543636" cy="1513475"/>
            </a:xfrm>
            <a:prstGeom prst="line">
              <a:avLst/>
            </a:prstGeom>
            <a:ln>
              <a:prstDash val="lg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直線接點 191">
              <a:extLst>
                <a:ext uri="{FF2B5EF4-FFF2-40B4-BE49-F238E27FC236}">
                  <a16:creationId xmlns:a16="http://schemas.microsoft.com/office/drawing/2014/main" id="{F5AF0241-4B1F-5A9C-17B2-00C1317E265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878752" y="3307188"/>
              <a:ext cx="1565456" cy="780074"/>
            </a:xfrm>
            <a:prstGeom prst="line">
              <a:avLst/>
            </a:prstGeom>
            <a:ln>
              <a:prstDash val="lg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直線接點 192">
              <a:extLst>
                <a:ext uri="{FF2B5EF4-FFF2-40B4-BE49-F238E27FC236}">
                  <a16:creationId xmlns:a16="http://schemas.microsoft.com/office/drawing/2014/main" id="{DDDC50B1-AF8D-3D3C-4096-1005EE1362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860032" y="3329250"/>
              <a:ext cx="1551407" cy="745605"/>
            </a:xfrm>
            <a:prstGeom prst="line">
              <a:avLst/>
            </a:prstGeom>
            <a:ln>
              <a:prstDash val="lg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9B496376-F415-978B-0DE3-45227ACAA01A}"/>
                </a:ext>
              </a:extLst>
            </p:cNvPr>
            <p:cNvSpPr/>
            <p:nvPr/>
          </p:nvSpPr>
          <p:spPr>
            <a:xfrm>
              <a:off x="6265006" y="3466371"/>
              <a:ext cx="97038" cy="10161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5" name="橢圓 194">
              <a:extLst>
                <a:ext uri="{FF2B5EF4-FFF2-40B4-BE49-F238E27FC236}">
                  <a16:creationId xmlns:a16="http://schemas.microsoft.com/office/drawing/2014/main" id="{B4595D6D-6A20-FAA4-0671-2507234C67E2}"/>
                </a:ext>
              </a:extLst>
            </p:cNvPr>
            <p:cNvSpPr/>
            <p:nvPr/>
          </p:nvSpPr>
          <p:spPr>
            <a:xfrm>
              <a:off x="5696209" y="3220032"/>
              <a:ext cx="97038" cy="1016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6" name="橢圓 195">
              <a:extLst>
                <a:ext uri="{FF2B5EF4-FFF2-40B4-BE49-F238E27FC236}">
                  <a16:creationId xmlns:a16="http://schemas.microsoft.com/office/drawing/2014/main" id="{FE4A28E4-F39C-3F35-BA3F-7F93F3D02C84}"/>
                </a:ext>
              </a:extLst>
            </p:cNvPr>
            <p:cNvSpPr/>
            <p:nvPr/>
          </p:nvSpPr>
          <p:spPr>
            <a:xfrm>
              <a:off x="5925266" y="3969691"/>
              <a:ext cx="97038" cy="1016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7" name="橢圓 196">
              <a:extLst>
                <a:ext uri="{FF2B5EF4-FFF2-40B4-BE49-F238E27FC236}">
                  <a16:creationId xmlns:a16="http://schemas.microsoft.com/office/drawing/2014/main" id="{0C7C2FE0-B6B1-6870-F61B-E25DBC78C879}"/>
                </a:ext>
              </a:extLst>
            </p:cNvPr>
            <p:cNvSpPr/>
            <p:nvPr/>
          </p:nvSpPr>
          <p:spPr>
            <a:xfrm>
              <a:off x="5243601" y="3125538"/>
              <a:ext cx="97038" cy="101611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98" name="矩形 197">
            <a:extLst>
              <a:ext uri="{FF2B5EF4-FFF2-40B4-BE49-F238E27FC236}">
                <a16:creationId xmlns:a16="http://schemas.microsoft.com/office/drawing/2014/main" id="{5989E71F-24DE-C061-30EF-CCF51FE8E85C}"/>
              </a:ext>
            </a:extLst>
          </p:cNvPr>
          <p:cNvSpPr/>
          <p:nvPr/>
        </p:nvSpPr>
        <p:spPr>
          <a:xfrm>
            <a:off x="3241872" y="6016366"/>
            <a:ext cx="80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Vector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A7A326CF-DFA9-E06A-46D5-314822503628}"/>
              </a:ext>
            </a:extLst>
          </p:cNvPr>
          <p:cNvSpPr/>
          <p:nvPr/>
        </p:nvSpPr>
        <p:spPr>
          <a:xfrm>
            <a:off x="5226081" y="5865909"/>
            <a:ext cx="1232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Discretize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latin typeface="Calibri" panose="020F0502020204030204"/>
                <a:ea typeface="新細明體" panose="02020500000000000000" pitchFamily="18" charset="-120"/>
              </a:rPr>
              <a:t>Range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129E632B-FF1A-1D6B-821B-D461D5C106C8}"/>
              </a:ext>
            </a:extLst>
          </p:cNvPr>
          <p:cNvSpPr/>
          <p:nvPr/>
        </p:nvSpPr>
        <p:spPr>
          <a:xfrm>
            <a:off x="4093380" y="6016366"/>
            <a:ext cx="10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Segment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205" name="表格 204">
            <a:extLst>
              <a:ext uri="{FF2B5EF4-FFF2-40B4-BE49-F238E27FC236}">
                <a16:creationId xmlns:a16="http://schemas.microsoft.com/office/drawing/2014/main" id="{CC2C569A-078D-AF03-32A0-22707B075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556476"/>
              </p:ext>
            </p:extLst>
          </p:nvPr>
        </p:nvGraphicFramePr>
        <p:xfrm>
          <a:off x="7070536" y="1419396"/>
          <a:ext cx="360000" cy="536448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24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992439"/>
                  </a:ext>
                </a:extLst>
              </a:tr>
              <a:tr h="15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89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44461"/>
                  </a:ext>
                </a:extLst>
              </a:tr>
              <a:tr h="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494511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3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868860"/>
                  </a:ext>
                </a:extLst>
              </a:tr>
              <a:tr h="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8542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8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56786"/>
                  </a:ext>
                </a:extLst>
              </a:tr>
              <a:tr h="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272211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65992"/>
                  </a:ext>
                </a:extLst>
              </a:tr>
            </a:tbl>
          </a:graphicData>
        </a:graphic>
      </p:graphicFrame>
      <p:sp>
        <p:nvSpPr>
          <p:cNvPr id="206" name="矩形 205">
            <a:extLst>
              <a:ext uri="{FF2B5EF4-FFF2-40B4-BE49-F238E27FC236}">
                <a16:creationId xmlns:a16="http://schemas.microsoft.com/office/drawing/2014/main" id="{F3C5A005-A8AE-536F-24EC-6CBDCBC3E92D}"/>
              </a:ext>
            </a:extLst>
          </p:cNvPr>
          <p:cNvSpPr/>
          <p:nvPr/>
        </p:nvSpPr>
        <p:spPr>
          <a:xfrm>
            <a:off x="7435031" y="6016366"/>
            <a:ext cx="12328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Codeword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05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ADC5-29B2-29CC-D7E9-E44CF2D2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6028B-A4A8-64C0-9F61-13E209FB1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DE848F-5BD9-13AA-5DDD-3F205E35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Recall of hamming distance / segmented cosine increases as dimension grows </a:t>
            </a:r>
          </a:p>
          <a:p>
            <a:r>
              <a:rPr lang="en-US" altLang="zh-TW" dirty="0"/>
              <a:t>Complementary estimates perform better recall rate than individual estimates</a:t>
            </a:r>
            <a:endParaRPr lang="zh-TW" altLang="en-US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06DB975D-2B81-C172-F039-747B4C0B5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9520497"/>
                  </p:ext>
                </p:extLst>
              </p:nvPr>
            </p:nvGraphicFramePr>
            <p:xfrm>
              <a:off x="1432950" y="3362478"/>
              <a:ext cx="7578587" cy="2987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1323">
                      <a:extLst>
                        <a:ext uri="{9D8B030D-6E8A-4147-A177-3AD203B41FA5}">
                          <a16:colId xmlns:a16="http://schemas.microsoft.com/office/drawing/2014/main" val="2507763368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321773529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831373804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41475083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3557695119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188984454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4935944"/>
                        </a:ext>
                      </a:extLst>
                    </a:gridCol>
                  </a:tblGrid>
                  <a:tr h="294668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GloVe25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GloVe50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GloVe100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GloVe200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NYTimes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COCO-T2I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974959"/>
                      </a:ext>
                    </a:extLst>
                  </a:tr>
                  <a:tr h="294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Dimension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256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512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859956"/>
                      </a:ext>
                    </a:extLst>
                  </a:tr>
                  <a:tr h="5009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Hamming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Distance 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25.76%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33.69%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39.86%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46.55%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62.97%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82.69%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28372"/>
                      </a:ext>
                    </a:extLst>
                  </a:tr>
                  <a:tr h="29466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TW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Norm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92.53%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86.02%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73.99%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38.43%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83.60%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94.71%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880717"/>
                      </a:ext>
                    </a:extLst>
                  </a:tr>
                  <a:tr h="29466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79.74%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84.45%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88.06%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91.63%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95.14%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99.17%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4497845"/>
                      </a:ext>
                    </a:extLst>
                  </a:tr>
                  <a:tr h="5009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95.27%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(+2.74%)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95.71%</a:t>
                          </a:r>
                        </a:p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(+9.69%)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95.90%</a:t>
                          </a:r>
                        </a:p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(+21.91%)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96.13%</a:t>
                          </a:r>
                        </a:p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(+57.70%)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98.19%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(+14.59%)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99.20%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(+4.49%)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890247"/>
                      </a:ext>
                    </a:extLst>
                  </a:tr>
                  <a:tr h="5009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97.42%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(+4.89%)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98.67%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(+12.65%)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99.20%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(+25.21%)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99.42%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(+60.99%)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99.85%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(+16.25%)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99.86%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(+5.15%)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24578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06DB975D-2B81-C172-F039-747B4C0B5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9520497"/>
                  </p:ext>
                </p:extLst>
              </p:nvPr>
            </p:nvGraphicFramePr>
            <p:xfrm>
              <a:off x="1432950" y="3362478"/>
              <a:ext cx="7578587" cy="2987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1323">
                      <a:extLst>
                        <a:ext uri="{9D8B030D-6E8A-4147-A177-3AD203B41FA5}">
                          <a16:colId xmlns:a16="http://schemas.microsoft.com/office/drawing/2014/main" val="2507763368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321773529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831373804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41475083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3557695119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188984454"/>
                        </a:ext>
                      </a:extLst>
                    </a:gridCol>
                    <a:gridCol w="1029544">
                      <a:extLst>
                        <a:ext uri="{9D8B030D-6E8A-4147-A177-3AD203B41FA5}">
                          <a16:colId xmlns:a16="http://schemas.microsoft.com/office/drawing/2014/main" val="249359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GloVe25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GloVe50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GloVe100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GloVe200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NYTimes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bg1"/>
                              </a:solidFill>
                            </a:rPr>
                            <a:t>COCO-T2I</a:t>
                          </a:r>
                          <a:endParaRPr lang="zh-TW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974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Dimension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256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512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85995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Hamming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Distance 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25.76%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33.69%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39.86%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46.55%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62.97%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82.69%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283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5" t="-433333" r="-441739" b="-450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92.53%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86.02%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73.99%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38.43%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83.60%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94.71%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8807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5" t="-544000" r="-441739" b="-3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79.74%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84.45%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88.06%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91.63%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95.14%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</a:rPr>
                            <a:t>99.17%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449784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5" t="-378824" r="-441739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95.27%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(+2.74%)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95.71%</a:t>
                          </a:r>
                        </a:p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(+9.69%)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95.90%</a:t>
                          </a:r>
                        </a:p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(+21.91%)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96.13%</a:t>
                          </a:r>
                        </a:p>
                        <a:p>
                          <a:pPr marL="0" marR="0" lvl="0" indent="0" algn="ctr" defTabSz="91410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(+57.70%)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98.19%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(+14.59%)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99.20%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</a:rPr>
                            <a:t>(+4.49%)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89024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5" t="-478824" r="-441739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97.42%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(+4.89%)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98.67%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(+12.65%)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99.20%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(+25.21%)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99.42%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(+60.99%)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99.85%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(+16.25%)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99.86%</a:t>
                          </a:r>
                        </a:p>
                        <a:p>
                          <a:pPr algn="ctr"/>
                          <a:r>
                            <a:rPr lang="en-US" altLang="zh-TW" sz="1400" b="1" dirty="0">
                              <a:solidFill>
                                <a:srgbClr val="FF0000"/>
                              </a:solidFill>
                            </a:rPr>
                            <a:t>(+5.15%)</a:t>
                          </a:r>
                          <a:endParaRPr lang="zh-TW" altLang="en-US" sz="1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24578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左大括弧 8">
            <a:extLst>
              <a:ext uri="{FF2B5EF4-FFF2-40B4-BE49-F238E27FC236}">
                <a16:creationId xmlns:a16="http://schemas.microsoft.com/office/drawing/2014/main" id="{3579392C-C480-BB17-FE7A-7FC923FBA184}"/>
              </a:ext>
            </a:extLst>
          </p:cNvPr>
          <p:cNvSpPr/>
          <p:nvPr/>
        </p:nvSpPr>
        <p:spPr bwMode="auto">
          <a:xfrm>
            <a:off x="1158801" y="4725144"/>
            <a:ext cx="172840" cy="1053539"/>
          </a:xfrm>
          <a:prstGeom prst="leftBrace">
            <a:avLst>
              <a:gd name="adj1" fmla="val 28751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AE4740B-4E80-A833-5CD9-F0179F3C91DD}"/>
              </a:ext>
            </a:extLst>
          </p:cNvPr>
          <p:cNvSpPr txBox="1"/>
          <p:nvPr/>
        </p:nvSpPr>
        <p:spPr>
          <a:xfrm>
            <a:off x="-72652" y="4967456"/>
            <a:ext cx="1332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Extension of</a:t>
            </a:r>
          </a:p>
          <a:p>
            <a:pPr algn="ctr"/>
            <a:r>
              <a:rPr lang="en-US" altLang="zh-TW" sz="1400" dirty="0"/>
              <a:t>Ham. Dist.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058DF11-0A7C-FB4E-0C9C-30A762B71391}"/>
                  </a:ext>
                </a:extLst>
              </p:cNvPr>
              <p:cNvSpPr txBox="1"/>
              <p:nvPr/>
            </p:nvSpPr>
            <p:spPr>
              <a:xfrm>
                <a:off x="-108520" y="5854883"/>
                <a:ext cx="16222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TW" sz="14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altLang="zh-TW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  <a:p>
                <a:pPr algn="ctr"/>
                <a:r>
                  <a:rPr lang="en-US" altLang="zh-TW" sz="1400" dirty="0"/>
                  <a:t>(Complementary)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058DF11-0A7C-FB4E-0C9C-30A762B71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20" y="5854883"/>
                <a:ext cx="1622202" cy="523220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921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98A1AF4-6929-422D-2ACB-8E550C7E1B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76401"/>
                <a:ext cx="8382000" cy="960512"/>
              </a:xfrm>
            </p:spPr>
            <p:txBody>
              <a:bodyPr/>
              <a:lstStyle/>
              <a:p>
                <a:r>
                  <a:rPr lang="en-US" altLang="zh-TW" dirty="0"/>
                  <a:t>Increasing dimensions can enhance the benefits of Seg-Cos compared with LSH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TW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b="1" dirty="0">
                    <a:solidFill>
                      <a:schemeClr val="tx1"/>
                    </a:solidFill>
                  </a:rPr>
                  <a:t>(Complementary)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outperforms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TW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</m:sSub>
                  </m:oMath>
                </a14:m>
                <a:r>
                  <a:rPr lang="zh-TW" alt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b="1" dirty="0">
                    <a:solidFill>
                      <a:schemeClr val="tx1"/>
                    </a:solidFill>
                  </a:rPr>
                  <a:t>(Upper)</a:t>
                </a:r>
                <a:r>
                  <a:rPr lang="zh-TW" alt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dirty="0"/>
                  <a:t>when codeword is sufficiently long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98A1AF4-6929-422D-2ACB-8E550C7E1B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76401"/>
                <a:ext cx="8382000" cy="960512"/>
              </a:xfrm>
              <a:blipFill>
                <a:blip r:embed="rId2"/>
                <a:stretch>
                  <a:fillRect l="-727" t="-3165" b="-544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8">
            <a:extLst>
              <a:ext uri="{FF2B5EF4-FFF2-40B4-BE49-F238E27FC236}">
                <a16:creationId xmlns:a16="http://schemas.microsoft.com/office/drawing/2014/main" id="{78280015-D58A-1410-D6BC-4049250A9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45748"/>
            <a:ext cx="3931332" cy="288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34E1198-329A-1E74-F88A-006F6C560B32}"/>
              </a:ext>
            </a:extLst>
          </p:cNvPr>
          <p:cNvSpPr txBox="1"/>
          <p:nvPr/>
        </p:nvSpPr>
        <p:spPr>
          <a:xfrm>
            <a:off x="310679" y="3135425"/>
            <a:ext cx="2117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Discretization Error</a:t>
            </a:r>
            <a:endParaRPr kumimoji="0" lang="en-US" altLang="zh-TW" sz="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269CB02-AD11-9057-9781-4EFC1C43E5A9}"/>
              </a:ext>
            </a:extLst>
          </p:cNvPr>
          <p:cNvSpPr txBox="1"/>
          <p:nvPr/>
        </p:nvSpPr>
        <p:spPr>
          <a:xfrm>
            <a:off x="1475656" y="3143612"/>
            <a:ext cx="3440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Metric Error</a:t>
            </a:r>
            <a:r>
              <a:rPr lang="en-US" altLang="zh-TW" sz="1600" b="1" dirty="0">
                <a:solidFill>
                  <a:schemeClr val="accent4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C68C515-CBBB-6CEB-454D-0AD22EAD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</a:t>
            </a:r>
            <a:r>
              <a:rPr lang="en-US" altLang="zh-TW" dirty="0" err="1"/>
              <a:t>GloVe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1A75314-7A24-8203-6E14-0C77B840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116" y="3445748"/>
            <a:ext cx="3931332" cy="288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AA6C720-5E25-9FD4-3DEC-144D4D4A726B}"/>
              </a:ext>
            </a:extLst>
          </p:cNvPr>
          <p:cNvCxnSpPr>
            <a:cxnSpLocks/>
          </p:cNvCxnSpPr>
          <p:nvPr/>
        </p:nvCxnSpPr>
        <p:spPr>
          <a:xfrm>
            <a:off x="1816577" y="3573016"/>
            <a:ext cx="0" cy="252028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0AD1287-C243-F33A-56BE-CA43A0A0AF78}"/>
              </a:ext>
            </a:extLst>
          </p:cNvPr>
          <p:cNvCxnSpPr>
            <a:cxnSpLocks/>
          </p:cNvCxnSpPr>
          <p:nvPr/>
        </p:nvCxnSpPr>
        <p:spPr>
          <a:xfrm>
            <a:off x="899592" y="3429000"/>
            <a:ext cx="939845" cy="118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C5BE9DF-2B24-BA55-BDC2-823539785681}"/>
              </a:ext>
            </a:extLst>
          </p:cNvPr>
          <p:cNvCxnSpPr>
            <a:cxnSpLocks/>
          </p:cNvCxnSpPr>
          <p:nvPr/>
        </p:nvCxnSpPr>
        <p:spPr>
          <a:xfrm>
            <a:off x="1816577" y="3430187"/>
            <a:ext cx="2611407" cy="15561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187CD09-6614-C50F-4B19-C3EBBD004F51}"/>
              </a:ext>
            </a:extLst>
          </p:cNvPr>
          <p:cNvCxnSpPr>
            <a:cxnSpLocks/>
          </p:cNvCxnSpPr>
          <p:nvPr/>
        </p:nvCxnSpPr>
        <p:spPr bwMode="auto">
          <a:xfrm flipH="1">
            <a:off x="1922241" y="3865240"/>
            <a:ext cx="767638" cy="56443"/>
          </a:xfrm>
          <a:prstGeom prst="line">
            <a:avLst/>
          </a:prstGeom>
          <a:noFill/>
          <a:ln w="28575" cap="flat" cmpd="sng" algn="ctr">
            <a:solidFill>
              <a:srgbClr val="9D60A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517BEF2-999A-2C9E-CEDF-FA52D147F939}"/>
              </a:ext>
            </a:extLst>
          </p:cNvPr>
          <p:cNvSpPr txBox="1"/>
          <p:nvPr/>
        </p:nvSpPr>
        <p:spPr>
          <a:xfrm>
            <a:off x="4329527" y="3119864"/>
            <a:ext cx="2117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Discretization Error</a:t>
            </a:r>
            <a:endParaRPr kumimoji="0" lang="en-US" altLang="zh-TW" sz="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B5F90AB-214D-EEED-33C0-A0BF21A871B1}"/>
              </a:ext>
            </a:extLst>
          </p:cNvPr>
          <p:cNvSpPr txBox="1"/>
          <p:nvPr/>
        </p:nvSpPr>
        <p:spPr>
          <a:xfrm>
            <a:off x="5674438" y="3143612"/>
            <a:ext cx="3440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Metric Error</a:t>
            </a:r>
            <a:r>
              <a:rPr lang="en-US" altLang="zh-TW" sz="1600" b="1" dirty="0">
                <a:solidFill>
                  <a:schemeClr val="accent4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F7F17A3C-2F09-EA26-433E-B8FCE437A765}"/>
              </a:ext>
            </a:extLst>
          </p:cNvPr>
          <p:cNvCxnSpPr>
            <a:cxnSpLocks/>
          </p:cNvCxnSpPr>
          <p:nvPr/>
        </p:nvCxnSpPr>
        <p:spPr>
          <a:xfrm>
            <a:off x="5796136" y="3573016"/>
            <a:ext cx="0" cy="252028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228992A-E4F7-52E4-7435-9F539F929FEA}"/>
              </a:ext>
            </a:extLst>
          </p:cNvPr>
          <p:cNvCxnSpPr>
            <a:cxnSpLocks/>
          </p:cNvCxnSpPr>
          <p:nvPr/>
        </p:nvCxnSpPr>
        <p:spPr>
          <a:xfrm>
            <a:off x="5006350" y="3429000"/>
            <a:ext cx="789786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E73A810-D2BD-E2CF-6AA4-3F8E37A1AA25}"/>
              </a:ext>
            </a:extLst>
          </p:cNvPr>
          <p:cNvCxnSpPr>
            <a:cxnSpLocks/>
          </p:cNvCxnSpPr>
          <p:nvPr/>
        </p:nvCxnSpPr>
        <p:spPr>
          <a:xfrm>
            <a:off x="5796136" y="3429000"/>
            <a:ext cx="2830630" cy="16748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66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CFBF-AB67-D16E-CC33-426B174B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51E445E7-3586-BC77-50A8-C83935697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819" y="3573008"/>
            <a:ext cx="3960437" cy="290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7E88E86-BE78-9853-FCE7-298DF13C8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07" y="3645024"/>
            <a:ext cx="3960437" cy="290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6899B-E8F7-153F-CF99-059C99583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1"/>
            <a:ext cx="8382000" cy="960512"/>
          </a:xfrm>
        </p:spPr>
        <p:txBody>
          <a:bodyPr/>
          <a:lstStyle/>
          <a:p>
            <a:r>
              <a:rPr lang="en-US" altLang="zh-TW" dirty="0"/>
              <a:t>Seg-Cos can preserve higher recall rates in the short-codeword length scenarios</a:t>
            </a:r>
          </a:p>
          <a:p>
            <a:pPr lvl="1"/>
            <a:r>
              <a:rPr lang="en-US" altLang="zh-TW" dirty="0"/>
              <a:t>Approx. 100% recall rates in the high-dimensional vector database</a:t>
            </a:r>
          </a:p>
          <a:p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378C890-CDC3-EB52-FD84-B4E5E2CA9461}"/>
              </a:ext>
            </a:extLst>
          </p:cNvPr>
          <p:cNvSpPr txBox="1"/>
          <p:nvPr/>
        </p:nvSpPr>
        <p:spPr>
          <a:xfrm>
            <a:off x="42455" y="3117137"/>
            <a:ext cx="2117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Discretization Error</a:t>
            </a:r>
            <a:endParaRPr kumimoji="0" lang="en-US" altLang="zh-TW" sz="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2E6015-D21E-C114-FD5B-41243F3A6A88}"/>
              </a:ext>
            </a:extLst>
          </p:cNvPr>
          <p:cNvSpPr txBox="1"/>
          <p:nvPr/>
        </p:nvSpPr>
        <p:spPr>
          <a:xfrm>
            <a:off x="1252800" y="3125407"/>
            <a:ext cx="3440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Metric Error</a:t>
            </a:r>
            <a:r>
              <a:rPr lang="en-US" altLang="zh-TW" sz="1600" b="1" dirty="0">
                <a:solidFill>
                  <a:schemeClr val="accent4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E78E52B-4CC8-413A-EDF2-A1B3C96A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(NYTimes &amp; COCO-T2I)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237C483-09DB-1664-1A62-93314108A0B1}"/>
              </a:ext>
            </a:extLst>
          </p:cNvPr>
          <p:cNvCxnSpPr>
            <a:cxnSpLocks/>
          </p:cNvCxnSpPr>
          <p:nvPr/>
        </p:nvCxnSpPr>
        <p:spPr>
          <a:xfrm>
            <a:off x="1403648" y="3836797"/>
            <a:ext cx="0" cy="252028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45685DE-5294-8AD4-C53E-18F144F56F2C}"/>
              </a:ext>
            </a:extLst>
          </p:cNvPr>
          <p:cNvCxnSpPr>
            <a:cxnSpLocks/>
          </p:cNvCxnSpPr>
          <p:nvPr/>
        </p:nvCxnSpPr>
        <p:spPr>
          <a:xfrm>
            <a:off x="899592" y="3429000"/>
            <a:ext cx="504056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E54837B-51DC-E047-E318-E2BECA2E792B}"/>
              </a:ext>
            </a:extLst>
          </p:cNvPr>
          <p:cNvCxnSpPr>
            <a:cxnSpLocks/>
          </p:cNvCxnSpPr>
          <p:nvPr/>
        </p:nvCxnSpPr>
        <p:spPr>
          <a:xfrm>
            <a:off x="1417970" y="3427812"/>
            <a:ext cx="3010014" cy="17936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15083F8-D5F9-17F0-9CB5-5D194CB0ACC7}"/>
              </a:ext>
            </a:extLst>
          </p:cNvPr>
          <p:cNvSpPr txBox="1"/>
          <p:nvPr/>
        </p:nvSpPr>
        <p:spPr>
          <a:xfrm>
            <a:off x="4259742" y="3191005"/>
            <a:ext cx="2117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Discretization Error</a:t>
            </a:r>
            <a:endParaRPr kumimoji="0" lang="en-US" altLang="zh-TW" sz="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36B5023-DC7C-7B87-5C16-1AA60D3B97C9}"/>
              </a:ext>
            </a:extLst>
          </p:cNvPr>
          <p:cNvSpPr txBox="1"/>
          <p:nvPr/>
        </p:nvSpPr>
        <p:spPr>
          <a:xfrm>
            <a:off x="5424719" y="3199192"/>
            <a:ext cx="3440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Metric Error</a:t>
            </a:r>
            <a:r>
              <a:rPr lang="en-US" altLang="zh-TW" sz="1600" b="1" dirty="0">
                <a:solidFill>
                  <a:schemeClr val="accent4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Dominate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E4631B03-0548-4A06-9225-603A13E33267}"/>
              </a:ext>
            </a:extLst>
          </p:cNvPr>
          <p:cNvCxnSpPr>
            <a:cxnSpLocks/>
          </p:cNvCxnSpPr>
          <p:nvPr/>
        </p:nvCxnSpPr>
        <p:spPr>
          <a:xfrm>
            <a:off x="5508104" y="3720200"/>
            <a:ext cx="0" cy="252028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AF02DCFE-66E9-F531-C9BA-C8E118170C33}"/>
              </a:ext>
            </a:extLst>
          </p:cNvPr>
          <p:cNvCxnSpPr>
            <a:cxnSpLocks/>
          </p:cNvCxnSpPr>
          <p:nvPr/>
        </p:nvCxnSpPr>
        <p:spPr>
          <a:xfrm>
            <a:off x="5148064" y="3498819"/>
            <a:ext cx="432048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78D5B997-E551-8117-C2A8-373ECC0474B1}"/>
              </a:ext>
            </a:extLst>
          </p:cNvPr>
          <p:cNvCxnSpPr>
            <a:cxnSpLocks/>
          </p:cNvCxnSpPr>
          <p:nvPr/>
        </p:nvCxnSpPr>
        <p:spPr>
          <a:xfrm>
            <a:off x="5580112" y="3498819"/>
            <a:ext cx="2796935" cy="2509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20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70D2C-297D-30EA-4484-763C802D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6BB62D-7E93-6F36-DFA2-2726E9463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63000" cy="4800600"/>
          </a:xfrm>
        </p:spPr>
        <p:txBody>
          <a:bodyPr/>
          <a:lstStyle/>
          <a:p>
            <a:r>
              <a:rPr lang="en-US" altLang="zh-TW" dirty="0"/>
              <a:t>Hamming Distance &amp; Cosine Distance</a:t>
            </a:r>
          </a:p>
          <a:p>
            <a:pPr lvl="1"/>
            <a:r>
              <a:rPr lang="en-US" altLang="zh-TW" dirty="0"/>
              <a:t>Hamming distance can be viewed as an unweighted cosine distance</a:t>
            </a:r>
          </a:p>
          <a:p>
            <a:pPr lvl="1"/>
            <a:r>
              <a:rPr lang="en-US" altLang="zh-TW" dirty="0"/>
              <a:t>As long as we can estimate the weight, we can be closer to cosine distance</a:t>
            </a:r>
          </a:p>
          <a:p>
            <a:r>
              <a:rPr lang="en-US" altLang="zh-TW" dirty="0"/>
              <a:t>Estimation of Weights</a:t>
            </a:r>
          </a:p>
          <a:p>
            <a:pPr lvl="1"/>
            <a:r>
              <a:rPr lang="en-US" altLang="zh-TW" dirty="0"/>
              <a:t>Using logarithmic functions to form upper/lower bound</a:t>
            </a:r>
          </a:p>
          <a:p>
            <a:pPr lvl="1"/>
            <a:r>
              <a:rPr lang="en-US" altLang="zh-TW" dirty="0"/>
              <a:t>Apply Taylor Expansion and clamping skill to simplify computation</a:t>
            </a:r>
          </a:p>
          <a:p>
            <a:r>
              <a:rPr lang="en-US" altLang="zh-TW" dirty="0"/>
              <a:t>Preprocessing for Encoding</a:t>
            </a:r>
          </a:p>
          <a:p>
            <a:pPr lvl="1"/>
            <a:r>
              <a:rPr lang="en-US" altLang="zh-TW" dirty="0"/>
              <a:t>Segmentize, Quantize </a:t>
            </a:r>
            <a:r>
              <a:rPr lang="en-US" altLang="zh-TW" dirty="0" err="1"/>
              <a:t>centerpoint</a:t>
            </a:r>
            <a:r>
              <a:rPr lang="en-US" altLang="zh-TW" dirty="0"/>
              <a:t> &amp; range</a:t>
            </a:r>
          </a:p>
          <a:p>
            <a:r>
              <a:rPr lang="en-US" altLang="zh-TW" dirty="0"/>
              <a:t>Codeword Generation</a:t>
            </a:r>
          </a:p>
          <a:p>
            <a:pPr lvl="1"/>
            <a:r>
              <a:rPr lang="en-US" altLang="zh-TW" dirty="0"/>
              <a:t>Ring Encoding</a:t>
            </a:r>
          </a:p>
          <a:p>
            <a:r>
              <a:rPr lang="en-US" altLang="zh-TW" dirty="0"/>
              <a:t>Experiment Results</a:t>
            </a:r>
          </a:p>
          <a:p>
            <a:pPr lvl="1"/>
            <a:r>
              <a:rPr lang="en-US" altLang="zh-TW" dirty="0"/>
              <a:t>Complementary estimates perform better recall rate than individual estimates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5672885"/>
      </p:ext>
    </p:extLst>
  </p:cSld>
  <p:clrMapOvr>
    <a:masterClrMapping/>
  </p:clrMapOvr>
</p:sld>
</file>

<file path=ppt/theme/theme1.xml><?xml version="1.0" encoding="utf-8"?>
<a:theme xmlns:a="http://schemas.openxmlformats.org/drawingml/2006/main" name="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84499EF8-B3CF-49EF-8C27-588E979EA3AC}" vid="{185E0B34-4C48-479A-A23B-D0210B66C092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Access2">
  <a:themeElements>
    <a:clrScheme name="自然力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>
          <a:solidFill>
            <a:schemeClr val="accent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20140724_James_IC Training Final Project_v2</Template>
  <TotalTime>166553</TotalTime>
  <Words>1114</Words>
  <Application>Microsoft Office PowerPoint</Application>
  <PresentationFormat>如螢幕大小 (4:3)</PresentationFormat>
  <Paragraphs>404</Paragraphs>
  <Slides>16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16</vt:i4>
      </vt:variant>
    </vt:vector>
  </HeadingPairs>
  <TitlesOfParts>
    <vt:vector size="32" baseType="lpstr">
      <vt:lpstr>標楷體</vt:lpstr>
      <vt:lpstr>新細明體</vt:lpstr>
      <vt:lpstr>Arial</vt:lpstr>
      <vt:lpstr>Arial Black</vt:lpstr>
      <vt:lpstr>Calibri</vt:lpstr>
      <vt:lpstr>Cambria Math</vt:lpstr>
      <vt:lpstr>Symbol</vt:lpstr>
      <vt:lpstr>Tahoma</vt:lpstr>
      <vt:lpstr>Wingdings</vt:lpstr>
      <vt:lpstr>20140724_James_IC Training Final Project_v2</vt:lpstr>
      <vt:lpstr>佈景主題1</vt:lpstr>
      <vt:lpstr>1_Access Lab</vt:lpstr>
      <vt:lpstr>2_Access Lab</vt:lpstr>
      <vt:lpstr>1_Blends</vt:lpstr>
      <vt:lpstr>Access2</vt:lpstr>
      <vt:lpstr>2_20140724_James_IC Training Final Project_v2</vt:lpstr>
      <vt:lpstr>Segmented Angular Pre-Processing for Accurate and Efficient In-Memory VSS</vt:lpstr>
      <vt:lpstr>Outline</vt:lpstr>
      <vt:lpstr>Observation of Hamming Distance</vt:lpstr>
      <vt:lpstr>Hamming Distance &amp; Cosine Distance</vt:lpstr>
      <vt:lpstr>Hamming Distance &amp; Cosine Distance</vt:lpstr>
      <vt:lpstr>Hamming Distance &amp; Cosine Distance</vt:lpstr>
      <vt:lpstr>Estimation of Weights</vt:lpstr>
      <vt:lpstr>Estimation of Weights</vt:lpstr>
      <vt:lpstr>Estimation of Weights</vt:lpstr>
      <vt:lpstr>Estimation of Weights</vt:lpstr>
      <vt:lpstr>Preprocessing with Angle &amp; Range</vt:lpstr>
      <vt:lpstr>Codeword Generation</vt:lpstr>
      <vt:lpstr>Results</vt:lpstr>
      <vt:lpstr>Results (GloVe)</vt:lpstr>
      <vt:lpstr>Results (NYTimes &amp; COCO-T2I)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Training  Final Project</dc:title>
  <dc:creator>user</dc:creator>
  <cp:lastModifiedBy>access</cp:lastModifiedBy>
  <cp:revision>1885</cp:revision>
  <cp:lastPrinted>2025-05-02T08:25:41Z</cp:lastPrinted>
  <dcterms:created xsi:type="dcterms:W3CDTF">2014-07-23T04:37:50Z</dcterms:created>
  <dcterms:modified xsi:type="dcterms:W3CDTF">2026-03-04T06:51:37Z</dcterms:modified>
</cp:coreProperties>
</file>