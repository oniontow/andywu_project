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6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  <p:sldMasterId id="2147483672" r:id="rId3"/>
    <p:sldMasterId id="2147483684" r:id="rId4"/>
    <p:sldMasterId id="2147483696" r:id="rId5"/>
    <p:sldMasterId id="2147483701" r:id="rId6"/>
    <p:sldMasterId id="2147483718" r:id="rId7"/>
  </p:sldMasterIdLst>
  <p:notesMasterIdLst>
    <p:notesMasterId r:id="rId24"/>
  </p:notesMasterIdLst>
  <p:handoutMasterIdLst>
    <p:handoutMasterId r:id="rId25"/>
  </p:handoutMasterIdLst>
  <p:sldIdLst>
    <p:sldId id="256" r:id="rId8"/>
    <p:sldId id="257" r:id="rId9"/>
    <p:sldId id="271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144000" cy="6858000" type="screen4x3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9901"/>
    <a:srgbClr val="0000FF"/>
    <a:srgbClr val="4F81BD"/>
    <a:srgbClr val="FF0000"/>
    <a:srgbClr val="E7D4E6"/>
    <a:srgbClr val="8EB4E3"/>
    <a:srgbClr val="E6E6E6"/>
    <a:srgbClr val="F5F5F5"/>
    <a:srgbClr val="ECECEC"/>
    <a:srgbClr val="C050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98" autoAdjust="0"/>
    <p:restoredTop sz="94573" autoAdjust="0"/>
  </p:normalViewPr>
  <p:slideViewPr>
    <p:cSldViewPr>
      <p:cViewPr varScale="1">
        <p:scale>
          <a:sx n="115" d="100"/>
          <a:sy n="115" d="100"/>
        </p:scale>
        <p:origin x="2083" y="67"/>
      </p:cViewPr>
      <p:guideLst>
        <p:guide pos="288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5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F37E1-976C-4D68-AAA1-E18BCAC423B3}" type="datetimeFigureOut">
              <a:rPr lang="zh-TW" altLang="en-US" smtClean="0"/>
              <a:t>2026/3/2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BF533-2A2D-4D77-8B65-2DF21E0EF6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3881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65A04-DEC0-490E-BE54-AD23B90E8F9F}" type="datetimeFigureOut">
              <a:rPr lang="zh-TW" altLang="en-US" smtClean="0"/>
              <a:t>2026/3/2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236913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5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0520D-9A8A-4E05-BB16-8C1AC1960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7569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32909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6619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13770-EADD-F5D0-C37D-ABA651A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16AB0B-31E2-FBF7-342A-E15792F70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0140E31-451B-BB85-2892-36CDD7036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E2A937-9A5E-E87E-248D-7B6C77090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5111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7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pic>
        <p:nvPicPr>
          <p:cNvPr id="5" name="Picture 2" descr="Ntulogo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603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3127822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8179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678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2634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515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234947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94250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307353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1464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3224116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62139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20536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461499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730118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684110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462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79409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479378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43808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3736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647302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511021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38553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6800010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84307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808170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2924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732248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1085336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533710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883865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/>
        </p:nvSpPr>
        <p:spPr bwMode="gray">
          <a:xfrm>
            <a:off x="457200" y="2362200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70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9906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270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95400" y="3124200"/>
            <a:ext cx="6400800" cy="1752600"/>
          </a:xfrm>
        </p:spPr>
        <p:txBody>
          <a:bodyPr/>
          <a:lstStyle>
            <a:lvl1pPr marL="0" indent="0" algn="ctr">
              <a:buFont typeface="標楷體" pitchFamily="65" charset="-120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04025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8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35548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2090" y="6326372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7B0E40-838E-44C8-8537-DA4C635197E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07712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A355F5-F799-4671-9CB8-7FC2BDF19CF6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1273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3400" y="152400"/>
            <a:ext cx="8070850" cy="68421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981075"/>
            <a:ext cx="3990975" cy="528796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83125" y="981075"/>
            <a:ext cx="3992563" cy="25669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83125" y="3700463"/>
            <a:ext cx="3992563" cy="2568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0B935-75A3-4F97-B8FE-48499DD033B5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205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Ntulogo3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</p:spPr>
      </p:pic>
      <p:sp>
        <p:nvSpPr>
          <p:cNvPr id="4099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01" name="Rectangle 5"/>
          <p:cNvSpPr>
            <a:spLocks noChangeArrowheads="1"/>
          </p:cNvSpPr>
          <p:nvPr/>
        </p:nvSpPr>
        <p:spPr bwMode="auto">
          <a:xfrm>
            <a:off x="3048000" y="6858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2" name="Rectangle 6"/>
          <p:cNvSpPr>
            <a:spLocks noChangeArrowheads="1"/>
          </p:cNvSpPr>
          <p:nvPr/>
        </p:nvSpPr>
        <p:spPr bwMode="auto">
          <a:xfrm>
            <a:off x="685800" y="34290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3" name="Rectangle 7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4" name="Rectangle 8"/>
          <p:cNvSpPr>
            <a:spLocks noChangeArrowheads="1"/>
          </p:cNvSpPr>
          <p:nvPr/>
        </p:nvSpPr>
        <p:spPr bwMode="auto">
          <a:xfrm>
            <a:off x="5562600" y="6172200"/>
            <a:ext cx="2790825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4105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A55362-DAEE-40C4-8CB1-EA266F18E455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944424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5754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71978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21516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66365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8578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438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9817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3106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50421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914400"/>
            <a:ext cx="1943100" cy="53498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84213" y="914400"/>
            <a:ext cx="5678487" cy="534987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268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58603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6842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6842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275300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標題及文字在物件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84213" y="4130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7456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84213" y="1844675"/>
            <a:ext cx="7772400" cy="4419600"/>
          </a:xfrm>
        </p:spPr>
        <p:txBody>
          <a:bodyPr/>
          <a:lstStyle/>
          <a:p>
            <a:r>
              <a:rPr lang="zh-TW" altLang="en-US"/>
              <a:t>按一下圖示以新增表格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331321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4172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9D0262-E162-403E-858F-A7EB6D2690C2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新細明體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6274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720055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2749594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0878441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.ti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6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55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pic>
        <p:nvPicPr>
          <p:cNvPr id="1028" name="Picture 6" descr="Ntulogo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 dirty="0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 dirty="0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 dirty="0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 dirty="0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 dirty="0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 dirty="0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 dirty="0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 dirty="0">
                <a:latin typeface="Arial Black" pitchFamily="34" charset="0"/>
              </a:rPr>
              <a:t>               </a:t>
            </a:r>
            <a:r>
              <a:rPr kumimoji="0" lang="en-US" altLang="zh-TW" sz="1200" i="1" dirty="0">
                <a:latin typeface="Arial Black" pitchFamily="34" charset="0"/>
              </a:rPr>
              <a:t> </a:t>
            </a:r>
            <a:r>
              <a:rPr kumimoji="0" lang="en-US" altLang="zh-TW" sz="12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626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</p:grpSp>
      <p:sp>
        <p:nvSpPr>
          <p:cNvPr id="931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5124" name="Picture 6" descr="Ntulogo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5126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127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/>
              <a:t>P</a:t>
            </a:r>
            <a:fld id="{77AD3F1B-307F-4955-8069-98C95E8956F5}" type="slidenum">
              <a:rPr kumimoji="0" lang="en-US" altLang="zh-TW"/>
              <a:pPr eaLnBrk="0" hangingPunct="0"/>
              <a:t>‹#›</a:t>
            </a:fld>
            <a:endParaRPr kumimoji="0" lang="en-US" altLang="zh-TW"/>
          </a:p>
        </p:txBody>
      </p:sp>
    </p:spTree>
    <p:extLst>
      <p:ext uri="{BB962C8B-B14F-4D97-AF65-F5344CB8AC3E}">
        <p14:creationId xmlns:p14="http://schemas.microsoft.com/office/powerpoint/2010/main" val="1054790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60421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  <a:ea typeface="新細明體" charset="-12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  <a:ea typeface="新細明體" charset="-12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  <a:ea typeface="新細明體" charset="-12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  <a:ea typeface="新細明體" charset="-12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  <a:ea typeface="新細明體" charset="-12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  <a:ea typeface="新細明體" charset="-120"/>
              </a:rPr>
              <a:t>B</a:t>
            </a:r>
            <a:r>
              <a:rPr kumimoji="0" lang="en-US" altLang="zh-TW" sz="20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              </a:t>
            </a:r>
            <a:r>
              <a:rPr kumimoji="0" lang="en-US" altLang="zh-TW" sz="12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ea typeface="新細明體" charset="-120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60422" name="Picture 6" descr="Ntulogo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0423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60424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0425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>
                <a:solidFill>
                  <a:srgbClr val="000000"/>
                </a:solidFill>
                <a:ea typeface="新細明體" charset="-120"/>
              </a:rPr>
              <a:t>P</a:t>
            </a:r>
            <a:fld id="{C86545E2-EEFB-4DC4-8865-69F029E42BB0}" type="slidenum">
              <a:rPr kumimoji="0" lang="en-US" altLang="zh-TW">
                <a:solidFill>
                  <a:srgbClr val="000000"/>
                </a:solidFill>
                <a:ea typeface="新細明體" charset="-120"/>
              </a:rPr>
              <a:pPr eaLnBrk="0" hangingPunct="0"/>
              <a:t>‹#›</a:t>
            </a:fld>
            <a:endParaRPr kumimoji="0" lang="en-US" altLang="zh-TW">
              <a:solidFill>
                <a:srgbClr val="000000"/>
              </a:solidFill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620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2400"/>
            <a:ext cx="8070850" cy="684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981075"/>
            <a:ext cx="8135938" cy="528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2598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720583" y="6346825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 smtClean="0">
                <a:solidFill>
                  <a:srgbClr val="000000"/>
                </a:solidFill>
                <a:latin typeface="Tahoma" pitchFamily="34" charset="0"/>
              </a:rPr>
              <a:pPr>
                <a:defRPr/>
              </a:pPr>
              <a:t>‹#›</a:t>
            </a:fld>
            <a:endParaRPr lang="en-US" altLang="zh-TW" dirty="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5989" name="Rectangle 5"/>
          <p:cNvSpPr>
            <a:spLocks noChangeArrowheads="1"/>
          </p:cNvSpPr>
          <p:nvPr/>
        </p:nvSpPr>
        <p:spPr bwMode="gray">
          <a:xfrm>
            <a:off x="468313" y="865188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43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120000"/>
        <a:buFont typeface="標楷體" pitchFamily="65" charset="-120"/>
        <a:buChar char="․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5000"/>
        <a:buFont typeface="Symbol" pitchFamily="18" charset="2"/>
        <a:buChar char="¾"/>
        <a:defRPr kumimoji="1" sz="2000">
          <a:solidFill>
            <a:srgbClr val="000099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3300"/>
        </a:buClr>
        <a:buSzPct val="50000"/>
        <a:buFont typeface="Wingdings" pitchFamily="2" charset="2"/>
        <a:buChar char="n"/>
        <a:defRPr kumimoji="1" sz="2400">
          <a:solidFill>
            <a:srgbClr val="003300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990000"/>
        </a:buClr>
        <a:buSzPct val="55000"/>
        <a:buFont typeface="Wingdings" pitchFamily="2" charset="2"/>
        <a:buChar char="n"/>
        <a:defRPr kumimoji="1" sz="2000">
          <a:solidFill>
            <a:srgbClr val="990000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57200" y="714356"/>
            <a:ext cx="8229600" cy="5929513"/>
            <a:chOff x="288" y="480"/>
            <a:chExt cx="5184" cy="3644"/>
          </a:xfrm>
        </p:grpSpPr>
        <p:sp>
          <p:nvSpPr>
            <p:cNvPr id="3075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  <p:sp>
          <p:nvSpPr>
            <p:cNvPr id="3076" name="Rectangle 4"/>
            <p:cNvSpPr>
              <a:spLocks noChangeArrowheads="1"/>
            </p:cNvSpPr>
            <p:nvPr/>
          </p:nvSpPr>
          <p:spPr bwMode="auto">
            <a:xfrm>
              <a:off x="288" y="4076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</p:grpSp>
      <p:sp>
        <p:nvSpPr>
          <p:cNvPr id="3077" name="Text Box 5"/>
          <p:cNvSpPr txBox="1">
            <a:spLocks noChangeArrowheads="1"/>
          </p:cNvSpPr>
          <p:nvPr/>
        </p:nvSpPr>
        <p:spPr bwMode="auto">
          <a:xfrm>
            <a:off x="457200" y="381000"/>
            <a:ext cx="7391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3078" name="Picture 6" descr="Ntulogo3"/>
          <p:cNvPicPr>
            <a:picLocks noChangeAspect="1" noChangeArrowheads="1"/>
          </p:cNvPicPr>
          <p:nvPr/>
        </p:nvPicPr>
        <p:blipFill>
          <a:blip r:embed="rId18" cstate="screen"/>
          <a:srcRect/>
          <a:stretch>
            <a:fillRect/>
          </a:stretch>
        </p:blipFill>
        <p:spPr bwMode="auto">
          <a:xfrm>
            <a:off x="7924800" y="228600"/>
            <a:ext cx="779463" cy="760413"/>
          </a:xfrm>
          <a:prstGeom prst="rect">
            <a:avLst/>
          </a:prstGeom>
          <a:noFill/>
        </p:spPr>
      </p:pic>
      <p:sp>
        <p:nvSpPr>
          <p:cNvPr id="3079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91440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308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844675"/>
            <a:ext cx="77724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3081" name="Rectangle 9"/>
          <p:cNvSpPr>
            <a:spLocks noChangeArrowheads="1"/>
          </p:cNvSpPr>
          <p:nvPr/>
        </p:nvSpPr>
        <p:spPr bwMode="auto">
          <a:xfrm>
            <a:off x="8582376" y="6480137"/>
            <a:ext cx="4667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8ADC59-A20A-46E1-B02E-8653EE84F743}" type="slidenum">
              <a:rPr kumimoji="0" lang="en-US" altLang="zh-TW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082" name="Rectangle 10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95288" y="6453188"/>
            <a:ext cx="28956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142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18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9"/>
        </a:buBlip>
        <a:defRPr kumimoji="1"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 sz="16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E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I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L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B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t>P</a:t>
            </a:r>
            <a:fld id="{E0FF8C92-A794-40BC-BAC1-2D3349E2F883}" type="slidenum"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553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png"/><Relationship Id="rId3" Type="http://schemas.openxmlformats.org/officeDocument/2006/relationships/image" Target="../media/image7.emf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emf"/><Relationship Id="rId10" Type="http://schemas.openxmlformats.org/officeDocument/2006/relationships/image" Target="../media/image14.svg"/><Relationship Id="rId4" Type="http://schemas.openxmlformats.org/officeDocument/2006/relationships/image" Target="../media/image8.emf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80.png"/><Relationship Id="rId18" Type="http://schemas.openxmlformats.org/officeDocument/2006/relationships/image" Target="../media/image23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0.png"/><Relationship Id="rId17" Type="http://schemas.openxmlformats.org/officeDocument/2006/relationships/image" Target="../media/image22.png"/><Relationship Id="rId2" Type="http://schemas.openxmlformats.org/officeDocument/2006/relationships/image" Target="../media/image7.png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6.png"/><Relationship Id="rId5" Type="http://schemas.openxmlformats.org/officeDocument/2006/relationships/image" Target="../media/image100.png"/><Relationship Id="rId15" Type="http://schemas.openxmlformats.org/officeDocument/2006/relationships/image" Target="../media/image20.png"/><Relationship Id="rId10" Type="http://schemas.openxmlformats.org/officeDocument/2006/relationships/image" Target="../media/image150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30.png"/><Relationship Id="rId3" Type="http://schemas.openxmlformats.org/officeDocument/2006/relationships/image" Target="../media/image7.png"/><Relationship Id="rId7" Type="http://schemas.openxmlformats.org/officeDocument/2006/relationships/image" Target="../media/image19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11" Type="http://schemas.openxmlformats.org/officeDocument/2006/relationships/image" Target="../media/image28.png"/><Relationship Id="rId5" Type="http://schemas.openxmlformats.org/officeDocument/2006/relationships/image" Target="../media/image170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8.png"/><Relationship Id="rId9" Type="http://schemas.openxmlformats.org/officeDocument/2006/relationships/image" Target="../media/image21.png"/><Relationship Id="rId1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0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7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12" Type="http://schemas.openxmlformats.org/officeDocument/2006/relationships/image" Target="../media/image5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54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3" Type="http://schemas.openxmlformats.org/officeDocument/2006/relationships/image" Target="../media/image600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0.png"/><Relationship Id="rId10" Type="http://schemas.openxmlformats.org/officeDocument/2006/relationships/image" Target="../media/image67.png"/><Relationship Id="rId4" Type="http://schemas.openxmlformats.org/officeDocument/2006/relationships/image" Target="../media/image610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6220A-6C4C-46E7-C888-ECE599CD2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510" y="2132856"/>
            <a:ext cx="8928980" cy="1214438"/>
          </a:xfrm>
        </p:spPr>
        <p:txBody>
          <a:bodyPr/>
          <a:lstStyle/>
          <a:p>
            <a:r>
              <a:rPr lang="en-US" altLang="zh-TW" dirty="0"/>
              <a:t>Segmented</a:t>
            </a:r>
            <a:r>
              <a:rPr lang="zh-TW" altLang="en-US" dirty="0"/>
              <a:t> </a:t>
            </a:r>
            <a:r>
              <a:rPr lang="en-US" altLang="zh-TW" dirty="0"/>
              <a:t>Angular</a:t>
            </a:r>
            <a:r>
              <a:rPr lang="zh-TW" altLang="en-US" dirty="0"/>
              <a:t> </a:t>
            </a:r>
            <a:r>
              <a:rPr lang="en-US" altLang="zh-TW" dirty="0"/>
              <a:t>Pre-Processing</a:t>
            </a:r>
            <a:r>
              <a:rPr lang="zh-TW" altLang="en-US" dirty="0"/>
              <a:t> </a:t>
            </a:r>
            <a:r>
              <a:rPr lang="en-US" altLang="zh-TW" dirty="0"/>
              <a:t>for</a:t>
            </a:r>
            <a:r>
              <a:rPr lang="zh-TW" altLang="en-US" dirty="0"/>
              <a:t> </a:t>
            </a:r>
            <a:r>
              <a:rPr lang="en-US" altLang="zh-TW" dirty="0"/>
              <a:t>Accurate</a:t>
            </a:r>
            <a:r>
              <a:rPr lang="zh-TW" altLang="en-US" dirty="0"/>
              <a:t> </a:t>
            </a:r>
            <a:r>
              <a:rPr lang="en-US" altLang="zh-TW" dirty="0"/>
              <a:t>and</a:t>
            </a:r>
            <a:r>
              <a:rPr lang="zh-TW" altLang="en-US" dirty="0"/>
              <a:t> </a:t>
            </a:r>
            <a:r>
              <a:rPr lang="en-US" altLang="zh-TW" dirty="0"/>
              <a:t>Efficient</a:t>
            </a:r>
            <a:r>
              <a:rPr lang="zh-TW" altLang="en-US" dirty="0"/>
              <a:t> </a:t>
            </a:r>
            <a:r>
              <a:rPr lang="en-US" altLang="zh-TW" dirty="0"/>
              <a:t>In-Memory</a:t>
            </a:r>
            <a:r>
              <a:rPr lang="zh-TW" altLang="en-US" dirty="0"/>
              <a:t> </a:t>
            </a:r>
            <a:r>
              <a:rPr lang="en-US" altLang="zh-TW" dirty="0"/>
              <a:t>VSS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FC9B766-499C-8277-B8CA-0F28632EC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068763"/>
            <a:ext cx="9144000" cy="1880517"/>
          </a:xfrm>
        </p:spPr>
        <p:txBody>
          <a:bodyPr/>
          <a:lstStyle/>
          <a:p>
            <a:r>
              <a:rPr lang="en-US" altLang="zh-TW" dirty="0"/>
              <a:t>Speaker :</a:t>
            </a:r>
            <a:r>
              <a:rPr lang="zh-TW" altLang="en-US" dirty="0"/>
              <a:t> </a:t>
            </a:r>
            <a:r>
              <a:rPr lang="en-US" altLang="zh-TW" dirty="0"/>
              <a:t>Oniontow</a:t>
            </a:r>
          </a:p>
          <a:p>
            <a:r>
              <a:rPr lang="en-US" altLang="zh-TW" dirty="0"/>
              <a:t>Mentor : Rick Huang</a:t>
            </a:r>
          </a:p>
          <a:p>
            <a:r>
              <a:rPr lang="en-US" altLang="zh-TW" dirty="0"/>
              <a:t>Advisor: Prof. An-Yeu (Andy) Wu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</a:t>
            </a:r>
            <a:r>
              <a:rPr lang="en-US" altLang="zh-TW" dirty="0"/>
              <a:t>Dr. Hsiang-Yun Cheng </a:t>
            </a:r>
          </a:p>
          <a:p>
            <a:r>
              <a:rPr lang="en-US" altLang="zh-TW" dirty="0"/>
              <a:t>Date : 2026/03/09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82671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48684-C775-7306-A334-BC575AA9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7F710D-9324-9990-BA9E-93FCAFCC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sz="2200" dirty="0"/>
              <a:t>Hamming Distance &amp; Cosine Distance</a:t>
            </a:r>
          </a:p>
          <a:p>
            <a:r>
              <a:rPr lang="en-US" altLang="zh-TW" sz="2200" dirty="0"/>
              <a:t>Estimation of Weights</a:t>
            </a:r>
          </a:p>
          <a:p>
            <a:r>
              <a:rPr lang="en-US" altLang="zh-TW" sz="2200" dirty="0"/>
              <a:t>Preprocessing for Encoding</a:t>
            </a:r>
          </a:p>
          <a:p>
            <a:r>
              <a:rPr lang="en-US" altLang="zh-TW" sz="2200" dirty="0"/>
              <a:t>Codeword Generation</a:t>
            </a:r>
          </a:p>
          <a:p>
            <a:r>
              <a:rPr lang="en-US" altLang="zh-TW" sz="2200" dirty="0"/>
              <a:t>Experiment Results</a:t>
            </a:r>
          </a:p>
          <a:p>
            <a:endParaRPr lang="en-US" altLang="zh-TW" sz="2200" dirty="0"/>
          </a:p>
          <a:p>
            <a:endParaRPr lang="en-US" altLang="zh-TW" sz="2200" dirty="0"/>
          </a:p>
          <a:p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37484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5D63D1-9779-F2AE-ADA8-1C7EDA895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Observation of Hamming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AC7758-E047-B702-8ECA-E661CE0DF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Gap between Hamming distance and cosine distance narrowed when dimension of embeddings increases</a:t>
            </a:r>
          </a:p>
          <a:p>
            <a:pPr lvl="1"/>
            <a:r>
              <a:rPr lang="en-US" altLang="zh-TW" dirty="0"/>
              <a:t>Hamming distance (spatial metric) &amp; Cosine distance (angular metric)</a:t>
            </a:r>
          </a:p>
          <a:p>
            <a:pPr lvl="1"/>
            <a:r>
              <a:rPr lang="en-US" altLang="zh-TW" dirty="0"/>
              <a:t>There must be some relation between these two metric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32E02D-2D83-CCE9-5871-E4A293EF2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455" y="3901777"/>
            <a:ext cx="2583180" cy="222504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E14D819-19B1-B363-BA77-711E8BD6D02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2651" t="36733" r="3101" b="23883"/>
          <a:stretch/>
        </p:blipFill>
        <p:spPr>
          <a:xfrm>
            <a:off x="210728" y="4360882"/>
            <a:ext cx="1143000" cy="87630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746FDF0-091D-D41D-86E0-51B091D054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9141" y="3901777"/>
            <a:ext cx="2667000" cy="2225040"/>
          </a:xfrm>
          <a:prstGeom prst="rect">
            <a:avLst/>
          </a:prstGeom>
        </p:spPr>
      </p:pic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6F4877A-E322-475A-F8A5-B2C43EA87544}"/>
              </a:ext>
            </a:extLst>
          </p:cNvPr>
          <p:cNvCxnSpPr>
            <a:cxnSpLocks/>
          </p:cNvCxnSpPr>
          <p:nvPr/>
        </p:nvCxnSpPr>
        <p:spPr>
          <a:xfrm flipV="1">
            <a:off x="2378643" y="4392505"/>
            <a:ext cx="322300" cy="676675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21FCAC86-7FE8-BED8-0612-6803CC2510F6}"/>
              </a:ext>
            </a:extLst>
          </p:cNvPr>
          <p:cNvCxnSpPr>
            <a:cxnSpLocks/>
          </p:cNvCxnSpPr>
          <p:nvPr/>
        </p:nvCxnSpPr>
        <p:spPr>
          <a:xfrm>
            <a:off x="2767999" y="4392505"/>
            <a:ext cx="1414272" cy="469392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0FD10F40-7CA5-2ED2-9852-E86BFEE6B06C}"/>
              </a:ext>
            </a:extLst>
          </p:cNvPr>
          <p:cNvCxnSpPr>
            <a:cxnSpLocks/>
          </p:cNvCxnSpPr>
          <p:nvPr/>
        </p:nvCxnSpPr>
        <p:spPr>
          <a:xfrm>
            <a:off x="6767883" y="4824942"/>
            <a:ext cx="318135" cy="90805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98007D9-E082-C33D-0FA3-97CF118119C5}"/>
                  </a:ext>
                </a:extLst>
              </p:cNvPr>
              <p:cNvSpPr txBox="1"/>
              <p:nvPr/>
            </p:nvSpPr>
            <p:spPr>
              <a:xfrm>
                <a:off x="3200857" y="3277151"/>
                <a:ext cx="3337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𝐷</m:t>
                      </m:r>
                    </m:oMath>
                  </m:oMathPara>
                </a14:m>
                <a:endParaRPr kumimoji="0" lang="zh-TW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98007D9-E082-C33D-0FA3-97CF11811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857" y="3277151"/>
                <a:ext cx="33372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字方塊 11">
            <a:extLst>
              <a:ext uri="{FF2B5EF4-FFF2-40B4-BE49-F238E27FC236}">
                <a16:creationId xmlns:a16="http://schemas.microsoft.com/office/drawing/2014/main" id="{0A7A3ACE-6C87-AE46-A799-D8D94F9F8395}"/>
              </a:ext>
            </a:extLst>
          </p:cNvPr>
          <p:cNvSpPr txBox="1"/>
          <p:nvPr/>
        </p:nvSpPr>
        <p:spPr>
          <a:xfrm>
            <a:off x="3735072" y="3096269"/>
            <a:ext cx="3277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Discrepancy (Segment vs. Vector)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574BC95E-7EBA-4686-0C48-A750ECE1DB83}"/>
              </a:ext>
            </a:extLst>
          </p:cNvPr>
          <p:cNvSpPr txBox="1"/>
          <p:nvPr/>
        </p:nvSpPr>
        <p:spPr>
          <a:xfrm>
            <a:off x="3735072" y="3489969"/>
            <a:ext cx="3353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Number of Segments</a:t>
            </a:r>
          </a:p>
        </p:txBody>
      </p:sp>
      <p:pic>
        <p:nvPicPr>
          <p:cNvPr id="14" name="圖形 13" descr="箭號 (順時針曲線)">
            <a:extLst>
              <a:ext uri="{FF2B5EF4-FFF2-40B4-BE49-F238E27FC236}">
                <a16:creationId xmlns:a16="http://schemas.microsoft.com/office/drawing/2014/main" id="{3F3A7820-7981-C773-79C5-EF1A7A338B3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0053474" flipH="1">
            <a:off x="3399076" y="3255935"/>
            <a:ext cx="383472" cy="383472"/>
          </a:xfrm>
          <a:prstGeom prst="rect">
            <a:avLst/>
          </a:prstGeom>
        </p:spPr>
      </p:pic>
      <p:pic>
        <p:nvPicPr>
          <p:cNvPr id="15" name="圖形 14" descr="箭號 (順時針曲線)">
            <a:extLst>
              <a:ext uri="{FF2B5EF4-FFF2-40B4-BE49-F238E27FC236}">
                <a16:creationId xmlns:a16="http://schemas.microsoft.com/office/drawing/2014/main" id="{1528074C-3841-6696-E8AD-C67492688AE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053474" flipH="1">
            <a:off x="6877539" y="3078249"/>
            <a:ext cx="383472" cy="383472"/>
          </a:xfrm>
          <a:prstGeom prst="rect">
            <a:avLst/>
          </a:prstGeom>
        </p:spPr>
      </p:pic>
      <p:pic>
        <p:nvPicPr>
          <p:cNvPr id="16" name="圖形 15" descr="箭號 (順時針曲線)">
            <a:extLst>
              <a:ext uri="{FF2B5EF4-FFF2-40B4-BE49-F238E27FC236}">
                <a16:creationId xmlns:a16="http://schemas.microsoft.com/office/drawing/2014/main" id="{C030E57A-1462-628C-1821-D3FC0491BC14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053474" flipH="1">
            <a:off x="5760483" y="3468100"/>
            <a:ext cx="383472" cy="383472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D7C8D510-EF68-3379-CAE3-87ED98DA568E}"/>
              </a:ext>
            </a:extLst>
          </p:cNvPr>
          <p:cNvSpPr txBox="1"/>
          <p:nvPr/>
        </p:nvSpPr>
        <p:spPr>
          <a:xfrm>
            <a:off x="652839" y="4596861"/>
            <a:ext cx="228945" cy="276999"/>
          </a:xfrm>
          <a:prstGeom prst="rect">
            <a:avLst/>
          </a:prstGeom>
          <a:solidFill>
            <a:sysClr val="window" lastClr="FFFFFF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DB007FB-E754-54A4-B397-D0ED88BA8FBF}"/>
              </a:ext>
            </a:extLst>
          </p:cNvPr>
          <p:cNvSpPr txBox="1"/>
          <p:nvPr/>
        </p:nvSpPr>
        <p:spPr>
          <a:xfrm>
            <a:off x="652839" y="4704583"/>
            <a:ext cx="228945" cy="276999"/>
          </a:xfrm>
          <a:prstGeom prst="rect">
            <a:avLst/>
          </a:prstGeom>
          <a:solidFill>
            <a:sysClr val="window" lastClr="FFFFFF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AF8040C3-1791-0289-546E-F95725565350}"/>
                  </a:ext>
                </a:extLst>
              </p:cNvPr>
              <p:cNvSpPr/>
              <p:nvPr/>
            </p:nvSpPr>
            <p:spPr>
              <a:xfrm>
                <a:off x="584127" y="4570132"/>
                <a:ext cx="380232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𝑳</m:t>
                          </m:r>
                        </m:e>
                        <m:sub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AF8040C3-1791-0289-546E-F957255653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27" y="4570132"/>
                <a:ext cx="380232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C1135BBD-398C-9516-63EE-E1241E94F785}"/>
                  </a:ext>
                </a:extLst>
              </p:cNvPr>
              <p:cNvSpPr/>
              <p:nvPr/>
            </p:nvSpPr>
            <p:spPr>
              <a:xfrm>
                <a:off x="584127" y="4755869"/>
                <a:ext cx="415498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𝑳</m:t>
                          </m:r>
                        </m:e>
                        <m:sub>
                          <m:r>
                            <a:rPr kumimoji="0" lang="en-US" altLang="zh-TW" sz="12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∞</m:t>
                          </m:r>
                        </m:sub>
                      </m:sSub>
                    </m:oMath>
                  </m:oMathPara>
                </a14:m>
                <a:endPara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C1135BBD-398C-9516-63EE-E1241E94F7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27" y="4755869"/>
                <a:ext cx="415498" cy="2769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EEB5E14D-D7C9-C033-9816-CAAC6AD6C645}"/>
              </a:ext>
            </a:extLst>
          </p:cNvPr>
          <p:cNvCxnSpPr>
            <a:cxnSpLocks/>
          </p:cNvCxnSpPr>
          <p:nvPr/>
        </p:nvCxnSpPr>
        <p:spPr bwMode="auto">
          <a:xfrm>
            <a:off x="2767999" y="4083394"/>
            <a:ext cx="0" cy="1543356"/>
          </a:xfrm>
          <a:prstGeom prst="line">
            <a:avLst/>
          </a:prstGeom>
          <a:noFill/>
          <a:ln w="381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046423FA-A347-3CB9-8D7A-04724AC632CA}"/>
              </a:ext>
            </a:extLst>
          </p:cNvPr>
          <p:cNvCxnSpPr>
            <a:cxnSpLocks/>
          </p:cNvCxnSpPr>
          <p:nvPr/>
        </p:nvCxnSpPr>
        <p:spPr bwMode="auto">
          <a:xfrm>
            <a:off x="6748667" y="4083394"/>
            <a:ext cx="0" cy="1543356"/>
          </a:xfrm>
          <a:prstGeom prst="line">
            <a:avLst/>
          </a:prstGeom>
          <a:noFill/>
          <a:ln w="381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D8537DF-ADB9-417F-337F-FB5B7C139677}"/>
              </a:ext>
            </a:extLst>
          </p:cNvPr>
          <p:cNvSpPr txBox="1"/>
          <p:nvPr/>
        </p:nvSpPr>
        <p:spPr>
          <a:xfrm>
            <a:off x="3049248" y="6460040"/>
            <a:ext cx="3594448" cy="369332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TW" b="1" dirty="0"/>
              <a:t>Discrepancy Saturation Region</a:t>
            </a:r>
            <a:endParaRPr lang="zh-TW" altLang="en-US" b="1" dirty="0"/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E4B45AD1-607D-2E23-9594-FB02238EC546}"/>
              </a:ext>
            </a:extLst>
          </p:cNvPr>
          <p:cNvCxnSpPr/>
          <p:nvPr/>
        </p:nvCxnSpPr>
        <p:spPr bwMode="auto">
          <a:xfrm flipV="1">
            <a:off x="1649410" y="3690000"/>
            <a:ext cx="0" cy="2009775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B89C5E7-3A50-01C4-D667-D49F7D77C10A}"/>
              </a:ext>
            </a:extLst>
          </p:cNvPr>
          <p:cNvSpPr txBox="1"/>
          <p:nvPr/>
        </p:nvSpPr>
        <p:spPr>
          <a:xfrm>
            <a:off x="1670101" y="3568110"/>
            <a:ext cx="1136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Calibri" panose="020F0502020204030204" pitchFamily="34" charset="0"/>
                <a:cs typeface="Calibri" panose="020F0502020204030204" pitchFamily="34" charset="0"/>
              </a:rPr>
              <a:t>worse</a:t>
            </a:r>
            <a:endParaRPr lang="zh-TW" alt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F6E1E7C3-5E66-5CEF-77E1-E8A184D0D06D}"/>
              </a:ext>
            </a:extLst>
          </p:cNvPr>
          <p:cNvCxnSpPr>
            <a:cxnSpLocks/>
          </p:cNvCxnSpPr>
          <p:nvPr/>
        </p:nvCxnSpPr>
        <p:spPr bwMode="auto">
          <a:xfrm>
            <a:off x="2272748" y="5625548"/>
            <a:ext cx="2106145" cy="1202"/>
          </a:xfrm>
          <a:prstGeom prst="line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22549D8-019C-9719-C211-3655987DBB41}"/>
              </a:ext>
            </a:extLst>
          </p:cNvPr>
          <p:cNvCxnSpPr>
            <a:cxnSpLocks/>
          </p:cNvCxnSpPr>
          <p:nvPr/>
        </p:nvCxnSpPr>
        <p:spPr bwMode="auto">
          <a:xfrm>
            <a:off x="3489354" y="5501459"/>
            <a:ext cx="94689" cy="905240"/>
          </a:xfrm>
          <a:prstGeom prst="straightConnector1">
            <a:avLst/>
          </a:prstGeom>
          <a:noFill/>
          <a:ln w="5715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6DDF0F8E-C835-86EB-2431-099D2F033FF9}"/>
              </a:ext>
            </a:extLst>
          </p:cNvPr>
          <p:cNvCxnSpPr>
            <a:cxnSpLocks/>
          </p:cNvCxnSpPr>
          <p:nvPr/>
        </p:nvCxnSpPr>
        <p:spPr bwMode="auto">
          <a:xfrm flipV="1">
            <a:off x="5135217" y="5645426"/>
            <a:ext cx="1994453" cy="19878"/>
          </a:xfrm>
          <a:prstGeom prst="line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EF8C9504-73B0-7B01-5DDD-5EF67BE57CFF}"/>
              </a:ext>
            </a:extLst>
          </p:cNvPr>
          <p:cNvCxnSpPr>
            <a:cxnSpLocks/>
          </p:cNvCxnSpPr>
          <p:nvPr/>
        </p:nvCxnSpPr>
        <p:spPr>
          <a:xfrm flipV="1">
            <a:off x="5534783" y="4837489"/>
            <a:ext cx="1128131" cy="783667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E5200A2A-530E-B612-EB76-066539622A88}"/>
              </a:ext>
            </a:extLst>
          </p:cNvPr>
          <p:cNvCxnSpPr>
            <a:cxnSpLocks/>
          </p:cNvCxnSpPr>
          <p:nvPr/>
        </p:nvCxnSpPr>
        <p:spPr bwMode="auto">
          <a:xfrm flipH="1">
            <a:off x="6106796" y="5524092"/>
            <a:ext cx="905588" cy="859469"/>
          </a:xfrm>
          <a:prstGeom prst="straightConnector1">
            <a:avLst/>
          </a:prstGeom>
          <a:noFill/>
          <a:ln w="5715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0223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856154A8-0F79-2BB8-92E7-C26BD970049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5B1C783B-A109-161C-A3BB-CE2DD972B07E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CD37634A-A780-C738-043A-B3A65B4709E4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D7094E1C-911C-5B72-948A-3F16AAD4E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A38A62-4AF3-7508-AECA-EABBEBE87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C169796-AFC3-AE1A-632F-7EA3869E4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198034"/>
              </p:ext>
            </p:extLst>
          </p:nvPr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A490873-3540-E97D-ECFF-F93DFDB48F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7805073"/>
              </p:ext>
            </p:extLst>
          </p:nvPr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4897DB5C-B9E1-35AF-DC61-1C7B08EE4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5197028"/>
              </p:ext>
            </p:extLst>
          </p:nvPr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DD7E636-2AC5-9341-77EA-C28FC6BDC2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525736"/>
              </p:ext>
            </p:extLst>
          </p:nvPr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26F0D79F-B2A3-4F51-B1F0-B257F46B642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B6DF931-DEE9-78A2-2D12-41F6E6E368EA}"/>
              </a:ext>
            </a:extLst>
          </p:cNvPr>
          <p:cNvSpPr txBox="1"/>
          <p:nvPr/>
        </p:nvSpPr>
        <p:spPr>
          <a:xfrm>
            <a:off x="5487040" y="3802582"/>
            <a:ext cx="35127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dir.  = 0   Opposite dir. = 1</a:t>
            </a:r>
            <a:endParaRPr lang="zh-TW" altLang="en-US" sz="1600" dirty="0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4F551525-C946-DAB2-22B7-32AED5FB1044}"/>
              </a:ext>
            </a:extLst>
          </p:cNvPr>
          <p:cNvGrpSpPr/>
          <p:nvPr/>
        </p:nvGrpSpPr>
        <p:grpSpPr>
          <a:xfrm>
            <a:off x="5334074" y="4042607"/>
            <a:ext cx="3445317" cy="1128137"/>
            <a:chOff x="5240210" y="4303383"/>
            <a:chExt cx="3445317" cy="1128137"/>
          </a:xfrm>
        </p:grpSpPr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D120099C-385F-3602-4142-F9E8C860A25E}"/>
                </a:ext>
              </a:extLst>
            </p:cNvPr>
            <p:cNvGrpSpPr/>
            <p:nvPr/>
          </p:nvGrpSpPr>
          <p:grpSpPr>
            <a:xfrm>
              <a:off x="5240210" y="4303383"/>
              <a:ext cx="3445317" cy="1128137"/>
              <a:chOff x="5623920" y="4008726"/>
              <a:chExt cx="3445317" cy="1128137"/>
            </a:xfrm>
          </p:grpSpPr>
          <p:cxnSp>
            <p:nvCxnSpPr>
              <p:cNvPr id="34" name="直線單箭頭接點 33">
                <a:extLst>
                  <a:ext uri="{FF2B5EF4-FFF2-40B4-BE49-F238E27FC236}">
                    <a16:creationId xmlns:a16="http://schemas.microsoft.com/office/drawing/2014/main" id="{7BF16AF3-876E-AC4A-CD1E-1A6E9DFD087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38129" y="471903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/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直線單箭頭接點 35">
                <a:extLst>
                  <a:ext uri="{FF2B5EF4-FFF2-40B4-BE49-F238E27FC236}">
                    <a16:creationId xmlns:a16="http://schemas.microsoft.com/office/drawing/2014/main" id="{E2979B15-7891-9255-F14D-6A3913880E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8129" y="4719039"/>
                <a:ext cx="471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/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直線單箭頭接點 37">
                <a:extLst>
                  <a:ext uri="{FF2B5EF4-FFF2-40B4-BE49-F238E27FC236}">
                    <a16:creationId xmlns:a16="http://schemas.microsoft.com/office/drawing/2014/main" id="{08CC0E5C-2245-8564-BA03-07D03D1BD9F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44984" y="471232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/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0" name="直線單箭頭接點 39">
                <a:extLst>
                  <a:ext uri="{FF2B5EF4-FFF2-40B4-BE49-F238E27FC236}">
                    <a16:creationId xmlns:a16="http://schemas.microsoft.com/office/drawing/2014/main" id="{B56AFDDA-83C4-C875-F40C-6414F90710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8624" y="4712329"/>
                <a:ext cx="38023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/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/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/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1−</m:t>
                          </m:r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=2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橢圓 43">
                <a:extLst>
                  <a:ext uri="{FF2B5EF4-FFF2-40B4-BE49-F238E27FC236}">
                    <a16:creationId xmlns:a16="http://schemas.microsoft.com/office/drawing/2014/main" id="{7E3859A3-1369-7064-93DE-AED0C074B566}"/>
                  </a:ext>
                </a:extLst>
              </p:cNvPr>
              <p:cNvSpPr/>
              <p:nvPr/>
            </p:nvSpPr>
            <p:spPr>
              <a:xfrm>
                <a:off x="5900922" y="4674594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5" name="橢圓 44">
                <a:extLst>
                  <a:ext uri="{FF2B5EF4-FFF2-40B4-BE49-F238E27FC236}">
                    <a16:creationId xmlns:a16="http://schemas.microsoft.com/office/drawing/2014/main" id="{FC9E4BB0-2293-3DE9-B6F9-C1DD7EF3846B}"/>
                  </a:ext>
                </a:extLst>
              </p:cNvPr>
              <p:cNvSpPr/>
              <p:nvPr/>
            </p:nvSpPr>
            <p:spPr>
              <a:xfrm>
                <a:off x="7906009" y="4666179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/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  <m:r>
                            <a:rPr kumimoji="0" lang="en-US" altLang="zh-TW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弧形 51">
              <a:extLst>
                <a:ext uri="{FF2B5EF4-FFF2-40B4-BE49-F238E27FC236}">
                  <a16:creationId xmlns:a16="http://schemas.microsoft.com/office/drawing/2014/main" id="{A88B7D27-A865-3BE8-60C0-48906044CC9E}"/>
                </a:ext>
              </a:extLst>
            </p:cNvPr>
            <p:cNvSpPr/>
            <p:nvPr/>
          </p:nvSpPr>
          <p:spPr bwMode="auto">
            <a:xfrm rot="16200000" flipH="1" flipV="1">
              <a:off x="7436191" y="4861013"/>
              <a:ext cx="249049" cy="309019"/>
            </a:xfrm>
            <a:prstGeom prst="arc">
              <a:avLst>
                <a:gd name="adj1" fmla="val 16200000"/>
                <a:gd name="adj2" fmla="val 5260261"/>
              </a:avLst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/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DC41DE76-3298-6A06-8DF2-023226A29F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669746"/>
              </p:ext>
            </p:extLst>
          </p:nvPr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896CDE99-2423-EE04-A802-F0A1CA344BE1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12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14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1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C143DF13-3898-B1DC-4C0F-F510B3ECD410}"/>
              </a:ext>
            </a:extLst>
          </p:cNvPr>
          <p:cNvCxnSpPr>
            <a:cxnSpLocks/>
            <a:stCxn id="88" idx="3"/>
            <a:endCxn id="91" idx="1"/>
          </p:cNvCxnSpPr>
          <p:nvPr/>
        </p:nvCxnSpPr>
        <p:spPr bwMode="auto">
          <a:xfrm>
            <a:off x="9977036" y="5360161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0B75018E-362E-0C9F-5645-4487252538BB}"/>
              </a:ext>
            </a:extLst>
          </p:cNvPr>
          <p:cNvCxnSpPr>
            <a:cxnSpLocks/>
            <a:stCxn id="90" idx="3"/>
            <a:endCxn id="89" idx="1"/>
          </p:cNvCxnSpPr>
          <p:nvPr/>
        </p:nvCxnSpPr>
        <p:spPr bwMode="auto">
          <a:xfrm flipV="1">
            <a:off x="10517022" y="5899164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F713BB33-97F8-4823-1727-E696EE5F830D}"/>
              </a:ext>
            </a:extLst>
          </p:cNvPr>
          <p:cNvCxnSpPr>
            <a:cxnSpLocks/>
            <a:stCxn id="91" idx="3"/>
            <a:endCxn id="92" idx="1"/>
          </p:cNvCxnSpPr>
          <p:nvPr/>
        </p:nvCxnSpPr>
        <p:spPr bwMode="auto">
          <a:xfrm>
            <a:off x="11389089" y="5360161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F71682D9-BAF7-1EDC-4190-901B4F6FB0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86361"/>
              </p:ext>
            </p:extLst>
          </p:nvPr>
        </p:nvGraphicFramePr>
        <p:xfrm>
          <a:off x="9617036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45CE7E8E-CF38-233C-C4A8-DB4A82FF3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597276"/>
              </p:ext>
            </p:extLst>
          </p:nvPr>
        </p:nvGraphicFramePr>
        <p:xfrm>
          <a:off x="11551532" y="516290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17C22520-4806-BCC4-445C-A50F7C0ABB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32541"/>
              </p:ext>
            </p:extLst>
          </p:nvPr>
        </p:nvGraphicFramePr>
        <p:xfrm>
          <a:off x="10157022" y="517074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835718B-8A62-7049-72AB-A36BD603A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6261659"/>
              </p:ext>
            </p:extLst>
          </p:nvPr>
        </p:nvGraphicFramePr>
        <p:xfrm>
          <a:off x="11029089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627BA6DB-20D7-AF25-6FD5-3A71EBB23D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2535949"/>
              </p:ext>
            </p:extLst>
          </p:nvPr>
        </p:nvGraphicFramePr>
        <p:xfrm>
          <a:off x="12411786" y="479160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93" name="直線單箭頭接點 92">
            <a:extLst>
              <a:ext uri="{FF2B5EF4-FFF2-40B4-BE49-F238E27FC236}">
                <a16:creationId xmlns:a16="http://schemas.microsoft.com/office/drawing/2014/main" id="{96F7CDE9-14EE-F039-19B5-CEAC86CEED2F}"/>
              </a:ext>
            </a:extLst>
          </p:cNvPr>
          <p:cNvCxnSpPr>
            <a:cxnSpLocks/>
            <a:stCxn id="89" idx="3"/>
            <a:endCxn id="92" idx="1"/>
          </p:cNvCxnSpPr>
          <p:nvPr/>
        </p:nvCxnSpPr>
        <p:spPr bwMode="auto">
          <a:xfrm flipV="1">
            <a:off x="11911532" y="5527866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/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blipFill>
                <a:blip r:embed="rId17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/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/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blipFill>
                <a:blip r:embed="rId19"/>
                <a:stretch>
                  <a:fillRect r="-4828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/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blipFill>
                <a:blip r:embed="rId20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/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2423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799A-551E-EC07-8F2A-A585274A6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7FFB9083-ECCC-211A-36DA-5AF2853734D3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E5C6E7C2-16EF-DBB9-D5C8-CBEA799323AC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33848D30-2DB2-295D-5EF6-1A98CF6529A3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4975CDF5-600E-4DBB-CE35-541134C6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2AEABA-500C-E0E8-1483-C9B33CAC7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721" y="1672435"/>
            <a:ext cx="8382000" cy="4800600"/>
          </a:xfrm>
        </p:spPr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8EF4BCD-D552-68E7-CF11-2235ED94EE8C}"/>
              </a:ext>
            </a:extLst>
          </p:cNvPr>
          <p:cNvGraphicFramePr>
            <a:graphicFrameLocks noGrp="1"/>
          </p:cNvGraphicFramePr>
          <p:nvPr/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EDC360C-F9CD-8794-8A61-AA9C51666711}"/>
              </a:ext>
            </a:extLst>
          </p:cNvPr>
          <p:cNvGraphicFramePr>
            <a:graphicFrameLocks noGrp="1"/>
          </p:cNvGraphicFramePr>
          <p:nvPr/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1AE02A4B-FACA-3124-131E-6EE995FC0BBC}"/>
              </a:ext>
            </a:extLst>
          </p:cNvPr>
          <p:cNvGraphicFramePr>
            <a:graphicFrameLocks noGrp="1"/>
          </p:cNvGraphicFramePr>
          <p:nvPr/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E295374-370E-07EC-EC7E-662F171B8514}"/>
              </a:ext>
            </a:extLst>
          </p:cNvPr>
          <p:cNvGraphicFramePr>
            <a:graphicFrameLocks noGrp="1"/>
          </p:cNvGraphicFramePr>
          <p:nvPr/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78301353-E6E3-8375-16B9-CB926EE825C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53A9B6C6-EC81-14B1-2497-962471F5D9FF}"/>
              </a:ext>
            </a:extLst>
          </p:cNvPr>
          <p:cNvGraphicFramePr>
            <a:graphicFrameLocks noGrp="1"/>
          </p:cNvGraphicFramePr>
          <p:nvPr/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971B55E-FEF7-29B1-BC68-870D785EA832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7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8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AECF5ACC-66F2-AE13-B107-FAAFE6C0EF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297928"/>
              </p:ext>
            </p:extLst>
          </p:nvPr>
        </p:nvGraphicFramePr>
        <p:xfrm>
          <a:off x="5837132" y="379282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4E39EFD6-2E5C-F327-97A5-77A600CEAE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426130"/>
              </p:ext>
            </p:extLst>
          </p:nvPr>
        </p:nvGraphicFramePr>
        <p:xfrm>
          <a:off x="6444208" y="533382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D1158DB4-25B8-813D-E942-476C8AFA7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440996"/>
              </p:ext>
            </p:extLst>
          </p:nvPr>
        </p:nvGraphicFramePr>
        <p:xfrm>
          <a:off x="8437647" y="381133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/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blipFill>
                <a:blip r:embed="rId10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/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/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964FB320-FD80-361A-D867-BDE9924C5110}"/>
              </a:ext>
            </a:extLst>
          </p:cNvPr>
          <p:cNvCxnSpPr/>
          <p:nvPr/>
        </p:nvCxnSpPr>
        <p:spPr bwMode="auto">
          <a:xfrm>
            <a:off x="6197132" y="3973661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83ECE87F-284B-698C-D0B3-27279EDA4236}"/>
              </a:ext>
            </a:extLst>
          </p:cNvPr>
          <p:cNvCxnSpPr/>
          <p:nvPr/>
        </p:nvCxnSpPr>
        <p:spPr bwMode="auto">
          <a:xfrm>
            <a:off x="6197132" y="4360937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BA4C91A5-8822-75DE-B502-979CE898C42D}"/>
              </a:ext>
            </a:extLst>
          </p:cNvPr>
          <p:cNvCxnSpPr/>
          <p:nvPr/>
        </p:nvCxnSpPr>
        <p:spPr bwMode="auto">
          <a:xfrm>
            <a:off x="6197132" y="4726606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0E5EB748-332A-FF55-9CD9-7C1174DB90BA}"/>
              </a:ext>
            </a:extLst>
          </p:cNvPr>
          <p:cNvCxnSpPr/>
          <p:nvPr/>
        </p:nvCxnSpPr>
        <p:spPr bwMode="auto">
          <a:xfrm>
            <a:off x="6197132" y="5085184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/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/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/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/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E69794C-0F66-471B-DFA1-409E31ED015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517158"/>
            <a:ext cx="225149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551EC79-B775-3F4F-9F2E-C16338A7FF2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863886"/>
            <a:ext cx="533826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5760C888-EC11-AB8E-D492-E8EBFC09D4D0}"/>
              </a:ext>
            </a:extLst>
          </p:cNvPr>
          <p:cNvCxnSpPr>
            <a:cxnSpLocks/>
          </p:cNvCxnSpPr>
          <p:nvPr/>
        </p:nvCxnSpPr>
        <p:spPr bwMode="auto">
          <a:xfrm>
            <a:off x="6804208" y="6237312"/>
            <a:ext cx="849894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3C409908-0CDC-DD71-BC9F-7DF08374E2C7}"/>
              </a:ext>
            </a:extLst>
          </p:cNvPr>
          <p:cNvCxnSpPr>
            <a:cxnSpLocks/>
          </p:cNvCxnSpPr>
          <p:nvPr/>
        </p:nvCxnSpPr>
        <p:spPr bwMode="auto">
          <a:xfrm flipV="1">
            <a:off x="6804208" y="6595889"/>
            <a:ext cx="1156475" cy="1463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A013D181-A1C1-1352-C68C-4BC5C8B17547}"/>
              </a:ext>
            </a:extLst>
          </p:cNvPr>
          <p:cNvCxnSpPr>
            <a:cxnSpLocks/>
            <a:endCxn id="13" idx="2"/>
          </p:cNvCxnSpPr>
          <p:nvPr/>
        </p:nvCxnSpPr>
        <p:spPr bwMode="auto">
          <a:xfrm flipV="1">
            <a:off x="7025165" y="4124145"/>
            <a:ext cx="4192" cy="139232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1BCCEEC7-3511-E415-D078-C14A16280686}"/>
              </a:ext>
            </a:extLst>
          </p:cNvPr>
          <p:cNvCxnSpPr>
            <a:cxnSpLocks/>
            <a:endCxn id="14" idx="2"/>
          </p:cNvCxnSpPr>
          <p:nvPr/>
        </p:nvCxnSpPr>
        <p:spPr bwMode="auto">
          <a:xfrm flipV="1">
            <a:off x="7338034" y="4519085"/>
            <a:ext cx="17082" cy="134480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F97268E9-E629-A19E-3771-72497CF2AF0F}"/>
              </a:ext>
            </a:extLst>
          </p:cNvPr>
          <p:cNvCxnSpPr>
            <a:cxnSpLocks/>
            <a:endCxn id="15" idx="2"/>
          </p:cNvCxnSpPr>
          <p:nvPr/>
        </p:nvCxnSpPr>
        <p:spPr bwMode="auto">
          <a:xfrm flipV="1">
            <a:off x="7646711" y="4898697"/>
            <a:ext cx="14783" cy="133861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F05F45BE-3578-F05F-21FA-1D3EE3A511BE}"/>
              </a:ext>
            </a:extLst>
          </p:cNvPr>
          <p:cNvCxnSpPr>
            <a:cxnSpLocks/>
            <a:endCxn id="16" idx="2"/>
          </p:cNvCxnSpPr>
          <p:nvPr/>
        </p:nvCxnSpPr>
        <p:spPr bwMode="auto">
          <a:xfrm flipV="1">
            <a:off x="7960683" y="5283854"/>
            <a:ext cx="7595" cy="131203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93645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472CE-1970-CAB9-646C-D4E89A9F8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A95086-E178-825D-845C-C6CA3AF1E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</p:spPr>
            <p:txBody>
              <a:bodyPr/>
              <a:lstStyle/>
              <a:p>
                <a:r>
                  <a:rPr lang="en-US" altLang="zh-TW" dirty="0"/>
                  <a:t>Difference between Hamming distance &amp; cosine distance</a:t>
                </a:r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What if we can roughly estimate the weight?</a:t>
                </a:r>
              </a:p>
              <a:p>
                <a:pPr lvl="1"/>
                <a:r>
                  <a:rPr lang="en-US" altLang="zh-TW" dirty="0"/>
                  <a:t>Make Hamming distance more similar to cosine distance</a:t>
                </a:r>
              </a:p>
              <a:p>
                <a:pPr lvl="1"/>
                <a:r>
                  <a:rPr lang="en-US" altLang="zh-TW" dirty="0"/>
                  <a:t>Weights are multiplier in summation</a:t>
                </a:r>
              </a:p>
              <a:p>
                <a:pPr lvl="2"/>
                <a:r>
                  <a:rPr lang="en-US" altLang="zh-TW" dirty="0"/>
                  <a:t>Use logarithmic function to separate weights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COS</m:t>
                    </m:r>
                    <m:d>
                      <m:dPr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  <a:blipFill>
                <a:blip r:embed="rId3"/>
                <a:stretch>
                  <a:fillRect l="-655" t="-5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/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/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/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/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COS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a:rPr lang="en-US" altLang="zh-TW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E22206C1-A102-3EF0-A445-073A86B5AD61}"/>
              </a:ext>
            </a:extLst>
          </p:cNvPr>
          <p:cNvCxnSpPr>
            <a:cxnSpLocks/>
          </p:cNvCxnSpPr>
          <p:nvPr/>
        </p:nvCxnSpPr>
        <p:spPr bwMode="auto">
          <a:xfrm>
            <a:off x="4139153" y="3288727"/>
            <a:ext cx="1152927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71C5835-1906-67FD-91EC-BE45B88F666C}"/>
              </a:ext>
            </a:extLst>
          </p:cNvPr>
          <p:cNvSpPr txBox="1"/>
          <p:nvPr/>
        </p:nvSpPr>
        <p:spPr>
          <a:xfrm>
            <a:off x="2980738" y="3643925"/>
            <a:ext cx="36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Unweighted     vs     Weighted 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32B38F67-84C1-276E-2DBA-7040E75AB103}"/>
                  </a:ext>
                </a:extLst>
              </p:cNvPr>
              <p:cNvSpPr txBox="1"/>
              <p:nvPr/>
            </p:nvSpPr>
            <p:spPr>
              <a:xfrm>
                <a:off x="7452320" y="3479740"/>
                <a:ext cx="1675776" cy="635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4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4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4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32B38F67-84C1-276E-2DBA-7040E75AB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320" y="3479740"/>
                <a:ext cx="1675776" cy="6359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27246972-B972-94F2-B808-F5170A02CF09}"/>
              </a:ext>
            </a:extLst>
          </p:cNvPr>
          <p:cNvCxnSpPr>
            <a:cxnSpLocks/>
          </p:cNvCxnSpPr>
          <p:nvPr/>
        </p:nvCxnSpPr>
        <p:spPr bwMode="auto">
          <a:xfrm flipH="1">
            <a:off x="7956376" y="2093485"/>
            <a:ext cx="144016" cy="216024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09628D5-9F24-0F62-6F61-B20FB16DAB7F}"/>
                  </a:ext>
                </a:extLst>
              </p:cNvPr>
              <p:cNvSpPr txBox="1"/>
              <p:nvPr/>
            </p:nvSpPr>
            <p:spPr>
              <a:xfrm>
                <a:off x="7607425" y="1818253"/>
                <a:ext cx="176142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altLang="zh-TW" sz="14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kumimoji="0" lang="zh-TW" altLang="en-US" sz="1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zh-TW" altLang="en-US" sz="1400" dirty="0"/>
                  <a:t> </a:t>
                </a:r>
                <a:r>
                  <a:rPr lang="en-US" altLang="zh-TW" sz="1400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sz="1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09628D5-9F24-0F62-6F61-B20FB16DAB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425" y="1818253"/>
                <a:ext cx="1761425" cy="307777"/>
              </a:xfrm>
              <a:prstGeom prst="rect">
                <a:avLst/>
              </a:prstGeom>
              <a:blipFill>
                <a:blip r:embed="rId9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0525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1AF1A7-A1E0-245B-2840-955175DCA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81A98F-36D0-69AC-4107-243389D01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First using Cauchy-Schwarz </a:t>
            </a:r>
            <a:r>
              <a:rPr lang="en-US" altLang="zh-TW" dirty="0" err="1"/>
              <a:t>ineq</a:t>
            </a:r>
            <a:r>
              <a:rPr lang="en-US" altLang="zh-TW" dirty="0"/>
              <a:t>.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/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nary>
                      <m:r>
                        <a:rPr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/>
              <p:nvPr/>
            </p:nvSpPr>
            <p:spPr>
              <a:xfrm>
                <a:off x="7068345" y="1421878"/>
                <a:ext cx="2088232" cy="7136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6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6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6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6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6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6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345" y="1421878"/>
                <a:ext cx="2088232" cy="7136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/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/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33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EFE18-FDDB-27B5-7EF5-D476605A5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4E1501-28CA-4530-4F39-F0BCBA563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56D3C0-38D6-C8F8-5196-48E064E22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Using Jensen’s </a:t>
            </a:r>
            <a:r>
              <a:rPr lang="en-US" altLang="zh-TW" dirty="0" err="1"/>
              <a:t>ineq</a:t>
            </a:r>
            <a:r>
              <a:rPr lang="en-US" altLang="zh-TW" dirty="0"/>
              <a:t>. &amp; log-cosine </a:t>
            </a:r>
            <a:r>
              <a:rPr lang="en-US" altLang="zh-TW" dirty="0" err="1"/>
              <a:t>ineq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/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/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/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zh-TW" alt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θ</m:t>
                      </m:r>
                      <m:r>
                        <a:rPr kumimoji="0" lang="en-US" altLang="zh-TW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kumimoji="0" lang="en-US" altLang="zh-TW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圖片 12">
            <a:extLst>
              <a:ext uri="{FF2B5EF4-FFF2-40B4-BE49-F238E27FC236}">
                <a16:creationId xmlns:a16="http://schemas.microsoft.com/office/drawing/2014/main" id="{61876DC0-C79C-1930-AF2C-DE1372678A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122" y="1679534"/>
            <a:ext cx="831098" cy="10363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/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/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−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  <m: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≤−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934D76A9-601B-55B7-3870-98FBA5C21D9F}"/>
                  </a:ext>
                </a:extLst>
              </p:cNvPr>
              <p:cNvSpPr txBox="1"/>
              <p:nvPr/>
            </p:nvSpPr>
            <p:spPr>
              <a:xfrm>
                <a:off x="7068345" y="1421878"/>
                <a:ext cx="2088232" cy="7136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6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6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6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6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6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6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934D76A9-601B-55B7-3870-98FBA5C21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345" y="1421878"/>
                <a:ext cx="2088232" cy="71365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2643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994D35-D6F5-0652-A67C-933C040CB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</p:spPr>
            <p:txBody>
              <a:bodyPr/>
              <a:lstStyle/>
              <a:p>
                <a:endParaRPr lang="en-US" altLang="zh-TW" dirty="0"/>
              </a:p>
              <a:p>
                <a:r>
                  <a:rPr lang="en-US" altLang="zh-TW" dirty="0"/>
                  <a:t>Non-linear relation between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zh-TW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</m:oMath>
                </a14:m>
                <a:endParaRPr lang="en-US" altLang="zh-TW" b="0" dirty="0">
                  <a:solidFill>
                    <a:prstClr val="black"/>
                  </a:solidFill>
                  <a:latin typeface="Calibri" panose="020F0502020204030204" pitchFamily="34" charset="0"/>
                </a:endParaRPr>
              </a:p>
              <a:p>
                <a:pPr lvl="1"/>
                <a:r>
                  <a:rPr lang="en-US" altLang="zh-TW" dirty="0">
                    <a:solidFill>
                      <a:srgbClr val="0000FF"/>
                    </a:solidFill>
                  </a:rPr>
                  <a:t>Apply Taylor Expansion</a:t>
                </a:r>
              </a:p>
              <a:p>
                <a:pPr lvl="1"/>
                <a:endParaRPr lang="en-US" altLang="zh-TW" dirty="0"/>
              </a:p>
              <a:p>
                <a:pPr lvl="1"/>
                <a:endParaRPr lang="zh-TW" altLang="en-US" dirty="0"/>
              </a:p>
              <a:p>
                <a:pPr lvl="1"/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Loose bound due to logarithmic function</a:t>
                </a:r>
              </a:p>
              <a:p>
                <a:pPr marL="933450" lvl="3" indent="0">
                  <a:buNone/>
                </a:pPr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  <a:blipFill>
                <a:blip r:embed="rId2"/>
                <a:stretch>
                  <a:fillRect l="-72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/>
              <p:nvPr/>
            </p:nvSpPr>
            <p:spPr>
              <a:xfrm>
                <a:off x="1767170" y="2814272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7170" y="2814272"/>
                <a:ext cx="1861456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/>
              <p:nvPr/>
            </p:nvSpPr>
            <p:spPr>
              <a:xfrm>
                <a:off x="1070691" y="3768862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691" y="3768862"/>
                <a:ext cx="1861456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群組 18">
            <a:extLst>
              <a:ext uri="{FF2B5EF4-FFF2-40B4-BE49-F238E27FC236}">
                <a16:creationId xmlns:a16="http://schemas.microsoft.com/office/drawing/2014/main" id="{255397A5-E97F-0829-AE3B-A7C29F250D98}"/>
              </a:ext>
            </a:extLst>
          </p:cNvPr>
          <p:cNvGrpSpPr/>
          <p:nvPr/>
        </p:nvGrpSpPr>
        <p:grpSpPr>
          <a:xfrm>
            <a:off x="-44183" y="1574438"/>
            <a:ext cx="2829863" cy="4345208"/>
            <a:chOff x="103938" y="3310467"/>
            <a:chExt cx="2829863" cy="4345208"/>
          </a:xfrm>
        </p:grpSpPr>
        <p:sp>
          <p:nvSpPr>
            <p:cNvPr id="14" name="弧形 13">
              <a:extLst>
                <a:ext uri="{FF2B5EF4-FFF2-40B4-BE49-F238E27FC236}">
                  <a16:creationId xmlns:a16="http://schemas.microsoft.com/office/drawing/2014/main" id="{F277FAB6-ED46-7160-5FDC-AD466B4EC319}"/>
                </a:ext>
              </a:extLst>
            </p:cNvPr>
            <p:cNvSpPr/>
            <p:nvPr/>
          </p:nvSpPr>
          <p:spPr bwMode="auto">
            <a:xfrm flipV="1">
              <a:off x="103938" y="3310467"/>
              <a:ext cx="1887619" cy="2330378"/>
            </a:xfrm>
            <a:prstGeom prst="arc">
              <a:avLst>
                <a:gd name="adj1" fmla="val 16200000"/>
                <a:gd name="adj2" fmla="val 20443995"/>
              </a:avLst>
            </a:prstGeom>
            <a:noFill/>
            <a:ln w="3810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8F3CEBDD-01C9-1848-1402-36BA179E40E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0681" y="4447997"/>
              <a:ext cx="0" cy="2099072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1115ACE9-F86B-87E8-D94A-7A0CA181268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950400" y="5451162"/>
              <a:ext cx="1074058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85D596A2-4FE4-89B1-7AB5-14605A0F663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6617" y="5117857"/>
              <a:ext cx="944902" cy="689430"/>
            </a:xfrm>
            <a:prstGeom prst="line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67783E4A-241C-F41D-9A06-59CD8D3B77D9}"/>
                </a:ext>
              </a:extLst>
            </p:cNvPr>
            <p:cNvSpPr/>
            <p:nvPr/>
          </p:nvSpPr>
          <p:spPr bwMode="auto">
            <a:xfrm flipH="1">
              <a:off x="1046182" y="5325297"/>
              <a:ext cx="1887619" cy="2330378"/>
            </a:xfrm>
            <a:prstGeom prst="arc">
              <a:avLst>
                <a:gd name="adj1" fmla="val 16200000"/>
                <a:gd name="adj2" fmla="val 413"/>
              </a:avLst>
            </a:prstGeom>
            <a:noFill/>
            <a:ln w="38100" cap="flat" cmpd="sng" algn="ctr">
              <a:solidFill>
                <a:srgbClr val="396639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/>
              <p:nvPr/>
            </p:nvSpPr>
            <p:spPr>
              <a:xfrm>
                <a:off x="1819939" y="3090118"/>
                <a:ext cx="847127" cy="5107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altLang="zh-TW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π</m:t>
                          </m:r>
                        </m:num>
                        <m:den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9939" y="3090118"/>
                <a:ext cx="847127" cy="510781"/>
              </a:xfrm>
              <a:prstGeom prst="rect">
                <a:avLst/>
              </a:prstGeom>
              <a:blipFill>
                <a:blip r:embed="rId5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3FB13055-7FAA-8B25-549E-72BF3412826E}"/>
              </a:ext>
            </a:extLst>
          </p:cNvPr>
          <p:cNvSpPr txBox="1"/>
          <p:nvPr/>
        </p:nvSpPr>
        <p:spPr>
          <a:xfrm>
            <a:off x="2043686" y="5267887"/>
            <a:ext cx="23122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solidFill>
                  <a:srgbClr val="019901"/>
                </a:solidFill>
              </a:rPr>
              <a:t>Clamping</a:t>
            </a:r>
            <a:r>
              <a:rPr lang="zh-TW" altLang="en-US" sz="1600" dirty="0">
                <a:solidFill>
                  <a:srgbClr val="019901"/>
                </a:solidFill>
              </a:rPr>
              <a:t> </a:t>
            </a:r>
            <a:r>
              <a:rPr lang="en-US" altLang="zh-TW" sz="1600" dirty="0">
                <a:solidFill>
                  <a:srgbClr val="019901"/>
                </a:solidFill>
              </a:rPr>
              <a:t>&amp;</a:t>
            </a:r>
            <a:r>
              <a:rPr lang="zh-TW" altLang="en-US" sz="1600" dirty="0">
                <a:solidFill>
                  <a:srgbClr val="019901"/>
                </a:solidFill>
              </a:rPr>
              <a:t> </a:t>
            </a:r>
            <a:r>
              <a:rPr lang="en-US" altLang="zh-TW" sz="1600" dirty="0">
                <a:solidFill>
                  <a:srgbClr val="019901"/>
                </a:solidFill>
              </a:rPr>
              <a:t>Normalize</a:t>
            </a:r>
            <a:endParaRPr lang="zh-TW" altLang="en-US" sz="1600" dirty="0">
              <a:solidFill>
                <a:srgbClr val="019901"/>
              </a:solidFill>
            </a:endParaRPr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23507EFB-7380-C585-4B40-735E5BFE778E}"/>
              </a:ext>
            </a:extLst>
          </p:cNvPr>
          <p:cNvGrpSpPr/>
          <p:nvPr/>
        </p:nvGrpSpPr>
        <p:grpSpPr>
          <a:xfrm>
            <a:off x="836745" y="5158894"/>
            <a:ext cx="1983401" cy="2836445"/>
            <a:chOff x="947812" y="4990937"/>
            <a:chExt cx="1983401" cy="2836445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1F1B7A9A-A7D1-D353-EA32-BCA915838321}"/>
                </a:ext>
              </a:extLst>
            </p:cNvPr>
            <p:cNvGrpSpPr/>
            <p:nvPr/>
          </p:nvGrpSpPr>
          <p:grpSpPr>
            <a:xfrm>
              <a:off x="947812" y="4990937"/>
              <a:ext cx="1983401" cy="2836445"/>
              <a:chOff x="950400" y="4819230"/>
              <a:chExt cx="1983401" cy="2836445"/>
            </a:xfrm>
          </p:grpSpPr>
          <p:cxnSp>
            <p:nvCxnSpPr>
              <p:cNvPr id="27" name="直線單箭頭接點 26">
                <a:extLst>
                  <a:ext uri="{FF2B5EF4-FFF2-40B4-BE49-F238E27FC236}">
                    <a16:creationId xmlns:a16="http://schemas.microsoft.com/office/drawing/2014/main" id="{95DE7D9D-7D2F-0FF1-D409-4CCC3BE42CC0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1040681" y="4819230"/>
                <a:ext cx="0" cy="1246375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28" name="直線單箭頭接點 27">
                <a:extLst>
                  <a:ext uri="{FF2B5EF4-FFF2-40B4-BE49-F238E27FC236}">
                    <a16:creationId xmlns:a16="http://schemas.microsoft.com/office/drawing/2014/main" id="{9BBE1A3F-6827-0C8D-7551-7D1FAE821D5F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950400" y="5451162"/>
                <a:ext cx="1074058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30" name="弧形 29">
                <a:extLst>
                  <a:ext uri="{FF2B5EF4-FFF2-40B4-BE49-F238E27FC236}">
                    <a16:creationId xmlns:a16="http://schemas.microsoft.com/office/drawing/2014/main" id="{C3C37914-585C-9486-EC08-F425AFBA45DA}"/>
                  </a:ext>
                </a:extLst>
              </p:cNvPr>
              <p:cNvSpPr/>
              <p:nvPr/>
            </p:nvSpPr>
            <p:spPr bwMode="auto">
              <a:xfrm flipH="1">
                <a:off x="1046182" y="5325297"/>
                <a:ext cx="1887619" cy="2330378"/>
              </a:xfrm>
              <a:prstGeom prst="arc">
                <a:avLst>
                  <a:gd name="adj1" fmla="val 16200000"/>
                  <a:gd name="adj2" fmla="val 19264087"/>
                </a:avLst>
              </a:prstGeom>
              <a:noFill/>
              <a:ln w="38100" cap="flat" cmpd="sng" algn="ctr">
                <a:solidFill>
                  <a:srgbClr val="396639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p:grpSp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2D5B6ED5-74F0-17A9-04C0-9707F7268CA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038093" y="6021288"/>
              <a:ext cx="186174" cy="0"/>
            </a:xfrm>
            <a:prstGeom prst="line">
              <a:avLst/>
            </a:prstGeom>
            <a:ln w="38100">
              <a:solidFill>
                <a:schemeClr val="accent3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/>
              <p:nvPr/>
            </p:nvSpPr>
            <p:spPr>
              <a:xfrm>
                <a:off x="494561" y="5918400"/>
                <a:ext cx="466831" cy="5791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β</m:t>
                          </m:r>
                        </m:num>
                        <m:den>
                          <m: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61" y="5918400"/>
                <a:ext cx="466831" cy="5791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/>
              <p:nvPr/>
            </p:nvSpPr>
            <p:spPr>
              <a:xfrm>
                <a:off x="4298740" y="5115176"/>
                <a:ext cx="3578424" cy="8204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⃑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US" altLang="zh-TW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TW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TW" sz="1600"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altLang="zh-TW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600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TW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acc>
                                      <m:accPr>
                                        <m:chr m:val="⃑"/>
                                        <m:ctrlPr>
                                          <a:rPr lang="en-US" altLang="zh-TW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</m:func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TW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zh-TW" altLang="en-US" sz="16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β</m:t>
                                </m:r>
                              </m:num>
                              <m:den>
                                <m:r>
                                  <a:rPr lang="en-US" altLang="zh-TW" sz="16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</m:oMath>
                </a14:m>
                <a:r>
                  <a:rPr lang="en-US" altLang="zh-TW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  </m:t>
                        </m:r>
                        <m:r>
                          <m:rPr>
                            <m:sty m:val="p"/>
                          </m:rPr>
                          <a:rPr lang="en-US" altLang="zh-TW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norm</m:t>
                        </m:r>
                      </m:sub>
                    </m:sSub>
                    <m:r>
                      <a:rPr lang="en-US" altLang="zh-TW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target</m:t>
                        </m:r>
                      </m:sub>
                    </m:sSub>
                    <m:r>
                      <a:rPr lang="en-US" altLang="zh-TW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altLang="zh-TW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US" altLang="zh-TW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zh-TW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8740" y="5115176"/>
                <a:ext cx="3578424" cy="820481"/>
              </a:xfrm>
              <a:prstGeom prst="rect">
                <a:avLst/>
              </a:prstGeom>
              <a:blipFill>
                <a:blip r:embed="rId7"/>
                <a:stretch>
                  <a:fillRect b="-496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/>
              <p:nvPr/>
            </p:nvSpPr>
            <p:spPr>
              <a:xfrm>
                <a:off x="2043686" y="5795330"/>
                <a:ext cx="6097438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𝑛𝑜𝑟𝑚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𝑛𝑜𝑟𝑚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3686" y="5795330"/>
                <a:ext cx="6097438" cy="8714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D0F7463-9832-5BFA-CA1B-C56BEBF4F89B}"/>
              </a:ext>
            </a:extLst>
          </p:cNvPr>
          <p:cNvCxnSpPr>
            <a:cxnSpLocks/>
          </p:cNvCxnSpPr>
          <p:nvPr/>
        </p:nvCxnSpPr>
        <p:spPr bwMode="auto">
          <a:xfrm>
            <a:off x="2698094" y="3942009"/>
            <a:ext cx="393647" cy="233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E4BE84-DC1A-DCFF-D2BA-A2403653C5CE}"/>
                  </a:ext>
                </a:extLst>
              </p:cNvPr>
              <p:cNvSpPr txBox="1"/>
              <p:nvPr/>
            </p:nvSpPr>
            <p:spPr>
              <a:xfrm>
                <a:off x="3778202" y="2657710"/>
                <a:ext cx="4956238" cy="661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 smtClean="0">
                          <a:latin typeface="Cambria Math" panose="02040503050406030204" pitchFamily="18" charset="0"/>
                        </a:rPr>
                        <m:t>⁡(1</m:t>
                      </m:r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m:rPr>
                          <m:sty m:val="p"/>
                        </m:rPr>
                        <a:rPr lang="el-GR" altLang="zh-TW" i="0" dirty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l-GR" altLang="zh-TW" i="0" dirty="0" smtClean="0">
                              <a:latin typeface="Cambria Math" panose="02040503050406030204" pitchFamily="18" charset="0"/>
                            </a:rPr>
                            <m:t>ϕ</m:t>
                          </m:r>
                        </m:num>
                        <m:den>
                          <m:r>
                            <a:rPr lang="el-GR" altLang="zh-TW" dirty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dirty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ϕ</m:t>
                          </m:r>
                        </m:den>
                      </m:f>
                      <m:d>
                        <m:dPr>
                          <m:ctrlPr>
                            <a:rPr lang="el-GR" altLang="zh-TW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ϕ</m:t>
                          </m:r>
                          <m:r>
                            <a:rPr lang="en-US" altLang="zh-TW" b="0" i="0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>
                          <a:latin typeface="Cambria Math" panose="02040503050406030204" pitchFamily="18" charset="0"/>
                        </a:rPr>
                        <m:t>⁡(1+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cosϕ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E4BE84-DC1A-DCFF-D2BA-A2403653C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202" y="2657710"/>
                <a:ext cx="4956238" cy="66165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F080F10F-3AFB-A3E2-F8ED-8CA8A79FD5A3}"/>
              </a:ext>
            </a:extLst>
          </p:cNvPr>
          <p:cNvCxnSpPr>
            <a:cxnSpLocks/>
          </p:cNvCxnSpPr>
          <p:nvPr/>
        </p:nvCxnSpPr>
        <p:spPr bwMode="auto">
          <a:xfrm>
            <a:off x="3391275" y="2984813"/>
            <a:ext cx="393647" cy="233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1E6DB72-0C5A-0408-35D5-98C2398603B3}"/>
                  </a:ext>
                </a:extLst>
              </p:cNvPr>
              <p:cNvSpPr txBox="1"/>
              <p:nvPr/>
            </p:nvSpPr>
            <p:spPr>
              <a:xfrm>
                <a:off x="3250127" y="3759900"/>
                <a:ext cx="4956238" cy="661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cosθ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l-GR" altLang="zh-TW" i="0" dirty="0" smtClean="0">
                              <a:latin typeface="Cambria Math" panose="02040503050406030204" pitchFamily="18" charset="0"/>
                            </a:rPr>
                            <m:t>ϕ</m:t>
                          </m:r>
                        </m:num>
                        <m:den>
                          <m:r>
                            <a:rPr lang="el-GR" altLang="zh-TW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m:rPr>
                              <m:sty m:val="p"/>
                            </m:rPr>
                            <a:rPr lang="en-US" altLang="zh-TW" dirty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ϕ</m:t>
                          </m:r>
                        </m:den>
                      </m:f>
                      <m:d>
                        <m:dPr>
                          <m:ctrlPr>
                            <a:rPr lang="el-GR" altLang="zh-TW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l-GR" altLang="zh-TW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ϕ</m:t>
                          </m:r>
                        </m:e>
                      </m:d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cosϕ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1E6DB72-0C5A-0408-35D5-98C239860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0127" y="3759900"/>
                <a:ext cx="4956238" cy="66165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弧形 19">
            <a:extLst>
              <a:ext uri="{FF2B5EF4-FFF2-40B4-BE49-F238E27FC236}">
                <a16:creationId xmlns:a16="http://schemas.microsoft.com/office/drawing/2014/main" id="{6B0EC2E8-43BA-6B7B-94CB-BC8E43FD0EE0}"/>
              </a:ext>
            </a:extLst>
          </p:cNvPr>
          <p:cNvSpPr/>
          <p:nvPr/>
        </p:nvSpPr>
        <p:spPr bwMode="auto">
          <a:xfrm flipH="1">
            <a:off x="932527" y="5671693"/>
            <a:ext cx="1887619" cy="2330378"/>
          </a:xfrm>
          <a:prstGeom prst="arc">
            <a:avLst>
              <a:gd name="adj1" fmla="val 19188080"/>
              <a:gd name="adj2" fmla="val 21147003"/>
            </a:avLst>
          </a:prstGeom>
          <a:noFill/>
          <a:ln w="38100" cap="flat" cmpd="sng" algn="ctr">
            <a:solidFill>
              <a:srgbClr val="396639"/>
            </a:solidFill>
            <a:prstDash val="sysDot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96EBF5B0-C896-9591-0833-4CDD6CAD8030}"/>
              </a:ext>
            </a:extLst>
          </p:cNvPr>
          <p:cNvGrpSpPr/>
          <p:nvPr/>
        </p:nvGrpSpPr>
        <p:grpSpPr>
          <a:xfrm>
            <a:off x="5436096" y="1869340"/>
            <a:ext cx="1887618" cy="257015"/>
            <a:chOff x="1616375" y="2217419"/>
            <a:chExt cx="4064736" cy="511435"/>
          </a:xfrm>
        </p:grpSpPr>
        <p:sp>
          <p:nvSpPr>
            <p:cNvPr id="31" name="左大括弧 30">
              <a:extLst>
                <a:ext uri="{FF2B5EF4-FFF2-40B4-BE49-F238E27FC236}">
                  <a16:creationId xmlns:a16="http://schemas.microsoft.com/office/drawing/2014/main" id="{943E1431-2F7C-D5F9-4DA8-6F5258583B2C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D3739-BEAD-5F34-DDB8-65F24E6C4526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3" name="左大括弧 32">
            <a:extLst>
              <a:ext uri="{FF2B5EF4-FFF2-40B4-BE49-F238E27FC236}">
                <a16:creationId xmlns:a16="http://schemas.microsoft.com/office/drawing/2014/main" id="{DA6C7622-D0B8-BB98-ECA2-833D2970C6CB}"/>
              </a:ext>
            </a:extLst>
          </p:cNvPr>
          <p:cNvSpPr/>
          <p:nvPr/>
        </p:nvSpPr>
        <p:spPr>
          <a:xfrm rot="16200000">
            <a:off x="8114901" y="1260015"/>
            <a:ext cx="180890" cy="1360912"/>
          </a:xfrm>
          <a:prstGeom prst="leftBrace">
            <a:avLst>
              <a:gd name="adj1" fmla="val 41199"/>
              <a:gd name="adj2" fmla="val 4888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3F3EF2F1-4477-0117-EEA0-8C232F765D04}"/>
              </a:ext>
            </a:extLst>
          </p:cNvPr>
          <p:cNvGrpSpPr/>
          <p:nvPr/>
        </p:nvGrpSpPr>
        <p:grpSpPr>
          <a:xfrm>
            <a:off x="846462" y="1885502"/>
            <a:ext cx="1887618" cy="257015"/>
            <a:chOff x="1616375" y="2217419"/>
            <a:chExt cx="4064736" cy="511435"/>
          </a:xfrm>
        </p:grpSpPr>
        <p:sp>
          <p:nvSpPr>
            <p:cNvPr id="36" name="左大括弧 35">
              <a:extLst>
                <a:ext uri="{FF2B5EF4-FFF2-40B4-BE49-F238E27FC236}">
                  <a16:creationId xmlns:a16="http://schemas.microsoft.com/office/drawing/2014/main" id="{BCA66A36-8C1B-F04B-619B-4FB59F6FC568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9CF29D77-C69E-019D-DD6D-BAC3D1BD7B38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8" name="左大括弧 37">
            <a:extLst>
              <a:ext uri="{FF2B5EF4-FFF2-40B4-BE49-F238E27FC236}">
                <a16:creationId xmlns:a16="http://schemas.microsoft.com/office/drawing/2014/main" id="{A1ED39E2-410D-479C-E616-D16E1932FEDE}"/>
              </a:ext>
            </a:extLst>
          </p:cNvPr>
          <p:cNvSpPr/>
          <p:nvPr/>
        </p:nvSpPr>
        <p:spPr>
          <a:xfrm rot="16200000">
            <a:off x="3525267" y="1276177"/>
            <a:ext cx="180890" cy="1360912"/>
          </a:xfrm>
          <a:prstGeom prst="leftBrace">
            <a:avLst>
              <a:gd name="adj1" fmla="val 41199"/>
              <a:gd name="adj2" fmla="val 4888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0537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4A370-D341-BFDD-4D09-617D07A40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F14D43-63EA-3711-BD77-1FC40A38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3B6623-29B0-AD31-F321-F55D6BEE9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524000"/>
            <a:ext cx="8439472" cy="4800600"/>
          </a:xfrm>
        </p:spPr>
        <p:txBody>
          <a:bodyPr/>
          <a:lstStyle/>
          <a:p>
            <a:endParaRPr lang="en-US" altLang="zh-TW" dirty="0"/>
          </a:p>
          <a:p>
            <a:r>
              <a:rPr lang="en-US" altLang="zh-TW" dirty="0"/>
              <a:t>Hamming Distance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Segmented Cosine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/>
              <p:nvPr/>
            </p:nvSpPr>
            <p:spPr>
              <a:xfrm>
                <a:off x="323528" y="2556520"/>
                <a:ext cx="8439472" cy="877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HAM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</m:acc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</m:acc>
                        </m:e>
                      </m:d>
                      <m:r>
                        <a:rPr lang="vi-VN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q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θ</m:t>
                                  </m:r>
                                  <m:d>
                                    <m:dPr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q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800" b="0" i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2556520"/>
                <a:ext cx="8439472" cy="87799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/>
              <p:nvPr/>
            </p:nvSpPr>
            <p:spPr>
              <a:xfrm>
                <a:off x="391885" y="4246749"/>
                <a:ext cx="8135432" cy="95808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0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altLang="zh-TW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0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0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0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0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zh-TW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𝑛𝑜𝑟𝑚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0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zh-TW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𝑛𝑜𝑟𝑚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885" y="4246749"/>
                <a:ext cx="8135432" cy="9580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/>
              <p:nvPr/>
            </p:nvSpPr>
            <p:spPr>
              <a:xfrm>
                <a:off x="270534" y="5210039"/>
                <a:ext cx="8378134" cy="95808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sub>
                      </m:sSub>
                      <m:d>
                        <m:d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altLang="zh-TW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0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0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0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0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𝑛𝑜𝑟𝑚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0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𝑛𝑜𝑟𝑚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534" y="5210039"/>
                <a:ext cx="8378134" cy="9580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C824A4B7-5379-17C6-1276-2936FE7EC23D}"/>
                  </a:ext>
                </a:extLst>
              </p:cNvPr>
              <p:cNvSpPr txBox="1"/>
              <p:nvPr/>
            </p:nvSpPr>
            <p:spPr>
              <a:xfrm>
                <a:off x="2465929" y="3725017"/>
                <a:ext cx="6612254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pPr lvl="0" algn="ctr">
                  <a:defRPr/>
                </a:pPr>
                <a14:m>
                  <m:oMath xmlns:m="http://schemas.openxmlformats.org/officeDocument/2006/math">
                    <m:r>
                      <a:rPr kumimoji="0" lang="en-US" altLang="zh-TW" b="0" i="1" u="none" strike="noStrike" kern="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altLang="zh-TW" kern="0" dirty="0">
                    <a:solidFill>
                      <a:prstClr val="black"/>
                    </a:solidFill>
                    <a:latin typeface="Calibri" panose="020F0502020204030204"/>
                  </a:rPr>
                  <a:t> Hamming Distance</a:t>
                </a:r>
                <a:r>
                  <a:rPr kumimoji="0" lang="zh-TW" altLang="en-US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 </a:t>
                </a:r>
                <a:r>
                  <a:rPr lang="en-US" altLang="zh-TW" b="1" kern="0" dirty="0">
                    <a:solidFill>
                      <a:prstClr val="black"/>
                    </a:solidFill>
                    <a:latin typeface="Calibri" panose="020F0502020204030204"/>
                  </a:rPr>
                  <a:t>+</a:t>
                </a:r>
                <a:r>
                  <a:rPr lang="zh-TW" altLang="en-US" b="1" kern="0" dirty="0">
                    <a:solidFill>
                      <a:prstClr val="black"/>
                    </a:solidFill>
                    <a:latin typeface="Calibri" panose="020F0502020204030204"/>
                  </a:rPr>
                  <a:t> </a:t>
                </a:r>
                <a:r>
                  <a:rPr kumimoji="0" lang="en-US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Low-</a:t>
                </a:r>
                <a:r>
                  <a:rPr kumimoji="0" lang="en-US" altLang="ja-JP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Dimensional</a:t>
                </a:r>
                <a:r>
                  <a:rPr kumimoji="0" lang="en-US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 Magnitudes</a:t>
                </a:r>
                <a:endParaRPr kumimoji="0" lang="en-US" altLang="zh-TW" b="1" i="0" u="none" strike="noStrike" kern="0" cap="none" spc="0" normalizeH="0" baseline="0" noProof="0" dirty="0">
                  <a:ln>
                    <a:noFill/>
                  </a:ln>
                  <a:solidFill>
                    <a:srgbClr val="ED7D31">
                      <a:lumMod val="75000"/>
                    </a:srgbClr>
                  </a:solidFill>
                  <a:effectLst/>
                  <a:uLnTx/>
                  <a:uFillTx/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C824A4B7-5379-17C6-1276-2936FE7EC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929" y="3725017"/>
                <a:ext cx="6612254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49EE2F4-043C-7781-1052-8ECE3083C39C}"/>
                  </a:ext>
                </a:extLst>
              </p:cNvPr>
              <p:cNvSpPr txBox="1"/>
              <p:nvPr/>
            </p:nvSpPr>
            <p:spPr>
              <a:xfrm>
                <a:off x="2411760" y="1913177"/>
                <a:ext cx="5326717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lang="en-US" altLang="zh-TW" b="0" i="1" kern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altLang="zh-TW" kern="0" dirty="0">
                    <a:solidFill>
                      <a:prstClr val="black"/>
                    </a:solidFill>
                    <a:latin typeface="Calibri" panose="020F0502020204030204"/>
                  </a:rPr>
                  <a:t> Sum of </a:t>
                </a:r>
                <a:r>
                  <a:rPr kumimoji="0" lang="en-US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Low-Dimensional</a:t>
                </a:r>
                <a:r>
                  <a:rPr kumimoji="0" lang="en-US" altLang="zh-TW" b="1" i="0" u="none" strike="noStrike" kern="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 </a:t>
                </a:r>
                <a:r>
                  <a:rPr kumimoji="0" lang="vi-VN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Angles</a:t>
                </a:r>
                <a:endParaRPr lang="en-US" altLang="zh-TW" b="1" kern="0" dirty="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49EE2F4-043C-7781-1052-8ECE3083C3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60" y="1913177"/>
                <a:ext cx="5326717" cy="369332"/>
              </a:xfrm>
              <a:prstGeom prst="rect">
                <a:avLst/>
              </a:prstGeom>
              <a:blipFill>
                <a:blip r:embed="rId6"/>
                <a:stretch>
                  <a:fillRect t="-10000" b="-26667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7691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EDFDEF-225C-E04A-47F7-A13B6907A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Preprocessing with Angle &amp; Range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3FAC84-828A-F51D-8177-F7AB988FF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Obtained estimation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/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zh-TW" altLang="en-US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kumimoji="0" lang="en-US" altLang="zh-TW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𝒎𝒊𝒏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eqArr>
                                            <m:eqArrPr>
                                              <m:ctrlP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eqArrPr>
                                            <m:e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  <m:e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𝟐</m:t>
                                              </m:r>
                                              <m:r>
                                                <a:rPr lang="zh-TW" altLang="en-US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𝝅</m:t>
                                              </m:r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</m:eqArr>
                                        </m:e>
                                      </m:d>
                                    </m:e>
                                  </m:func>
                                  <m: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kumimoji="0" lang="vi-VN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ctrlPr>
                                        <a:rPr kumimoji="0" lang="en-US" altLang="zh-TW" sz="16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𝒒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  <m:r>
                                        <a:rPr kumimoji="0" lang="en-US" altLang="zh-TW" sz="1600" b="1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1990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𝒔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</m:d>
                                  <m: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kumimoji="0" lang="zh-TW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EC8D6C9D-53FA-96F3-564D-505F79D4B4FF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0" cy="1152128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5980C2F4-4B4B-B5E5-3AD9-3877F579AE88}"/>
              </a:ext>
            </a:extLst>
          </p:cNvPr>
          <p:cNvCxnSpPr>
            <a:cxnSpLocks/>
          </p:cNvCxnSpPr>
          <p:nvPr/>
        </p:nvCxnSpPr>
        <p:spPr bwMode="auto">
          <a:xfrm>
            <a:off x="7265032" y="2516332"/>
            <a:ext cx="1238671" cy="0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3AD18F01-748E-8F52-59E5-3F8C19EB10A0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244761" cy="576064"/>
          </a:xfrm>
          <a:prstGeom prst="straightConnector1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90C521B5-8AC1-932A-5606-5D64E10866A0}"/>
              </a:ext>
            </a:extLst>
          </p:cNvPr>
          <p:cNvCxnSpPr>
            <a:cxnSpLocks/>
          </p:cNvCxnSpPr>
          <p:nvPr/>
        </p:nvCxnSpPr>
        <p:spPr bwMode="auto">
          <a:xfrm>
            <a:off x="7884367" y="2516332"/>
            <a:ext cx="489522" cy="432048"/>
          </a:xfrm>
          <a:prstGeom prst="straightConnector1">
            <a:avLst/>
          </a:prstGeom>
          <a:noFill/>
          <a:ln w="38100" cap="flat" cmpd="sng" algn="ctr">
            <a:solidFill>
              <a:srgbClr val="01990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7" name="弧形 16">
            <a:extLst>
              <a:ext uri="{FF2B5EF4-FFF2-40B4-BE49-F238E27FC236}">
                <a16:creationId xmlns:a16="http://schemas.microsoft.com/office/drawing/2014/main" id="{994FAA5A-CA10-53F6-8BAC-1A1416FFB442}"/>
              </a:ext>
            </a:extLst>
          </p:cNvPr>
          <p:cNvSpPr/>
          <p:nvPr/>
        </p:nvSpPr>
        <p:spPr bwMode="auto">
          <a:xfrm>
            <a:off x="7524328" y="2156293"/>
            <a:ext cx="720078" cy="720070"/>
          </a:xfrm>
          <a:prstGeom prst="arc">
            <a:avLst>
              <a:gd name="adj1" fmla="val 17651008"/>
              <a:gd name="adj2" fmla="val 2571149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/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d>
                        <m:dPr>
                          <m:ctrlPr>
                            <a:rPr lang="en-US" altLang="zh-TW" sz="12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  <m:r>
                            <a:rPr lang="en-US" altLang="zh-TW" sz="1200" b="1" i="1"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弧形 20">
            <a:extLst>
              <a:ext uri="{FF2B5EF4-FFF2-40B4-BE49-F238E27FC236}">
                <a16:creationId xmlns:a16="http://schemas.microsoft.com/office/drawing/2014/main" id="{8BB9DA77-6018-AD6F-7308-6FBE3483CE11}"/>
              </a:ext>
            </a:extLst>
          </p:cNvPr>
          <p:cNvSpPr/>
          <p:nvPr/>
        </p:nvSpPr>
        <p:spPr bwMode="auto">
          <a:xfrm>
            <a:off x="7668340" y="2290570"/>
            <a:ext cx="432052" cy="432048"/>
          </a:xfrm>
          <a:prstGeom prst="arc">
            <a:avLst>
              <a:gd name="adj1" fmla="val 2879305"/>
              <a:gd name="adj2" fmla="val 17699858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/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𝝅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2548AAC7-D8AA-CEF9-AD02-74A458E32731}"/>
              </a:ext>
            </a:extLst>
          </p:cNvPr>
          <p:cNvGrpSpPr/>
          <p:nvPr/>
        </p:nvGrpSpPr>
        <p:grpSpPr>
          <a:xfrm>
            <a:off x="1920600" y="2891119"/>
            <a:ext cx="3228507" cy="511435"/>
            <a:chOff x="1616375" y="2217419"/>
            <a:chExt cx="4064736" cy="511435"/>
          </a:xfrm>
        </p:grpSpPr>
        <p:sp>
          <p:nvSpPr>
            <p:cNvPr id="32" name="左大括弧 31">
              <a:extLst>
                <a:ext uri="{FF2B5EF4-FFF2-40B4-BE49-F238E27FC236}">
                  <a16:creationId xmlns:a16="http://schemas.microsoft.com/office/drawing/2014/main" id="{0506EDED-6AB2-B27E-C5FF-5B7C96D1C3E1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259A532-E2A6-8DAB-8D70-FBBC19ACD24A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5" name="左大括弧 34">
            <a:extLst>
              <a:ext uri="{FF2B5EF4-FFF2-40B4-BE49-F238E27FC236}">
                <a16:creationId xmlns:a16="http://schemas.microsoft.com/office/drawing/2014/main" id="{1FF1B083-18F8-3602-316A-03AA1982B7F6}"/>
              </a:ext>
            </a:extLst>
          </p:cNvPr>
          <p:cNvSpPr/>
          <p:nvPr/>
        </p:nvSpPr>
        <p:spPr>
          <a:xfrm rot="16200000">
            <a:off x="5980501" y="2448837"/>
            <a:ext cx="348314" cy="1232880"/>
          </a:xfrm>
          <a:prstGeom prst="leftBrace">
            <a:avLst>
              <a:gd name="adj1" fmla="val 41199"/>
              <a:gd name="adj2" fmla="val 5000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6F21711-AB13-AB2E-A199-AB5EC0FCC7E8}"/>
              </a:ext>
            </a:extLst>
          </p:cNvPr>
          <p:cNvSpPr/>
          <p:nvPr/>
        </p:nvSpPr>
        <p:spPr>
          <a:xfrm>
            <a:off x="3139962" y="3193490"/>
            <a:ext cx="7280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B3050E6-16D8-C27D-E4E5-E134B09A2FAF}"/>
              </a:ext>
            </a:extLst>
          </p:cNvPr>
          <p:cNvSpPr/>
          <p:nvPr/>
        </p:nvSpPr>
        <p:spPr>
          <a:xfrm>
            <a:off x="5570489" y="3189541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/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 [0, 2]=[1−1, 1+1]</m:t>
                      </m:r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blipFill>
                <a:blip r:embed="rId5"/>
                <a:stretch>
                  <a:fillRect r="-145"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/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1, 5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3−2, 3+2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blipFill>
                <a:blip r:embed="rId6"/>
                <a:stretch>
                  <a:fillRect r="-145" b="-147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/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𝑑</m:t>
                      </m:r>
                      <m:d>
                        <m:d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0,2</m:t>
                              </m:r>
                            </m:e>
                          </m:d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1,5</m:t>
                              </m:r>
                            </m:e>
                          </m:d>
                        </m:e>
                      </m:d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min</m:t>
                              </m:r>
                            </m:e>
                            <m:lim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𝑚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0,1,2</m:t>
                                  </m:r>
                                </m:e>
                              </m:d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 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𝑛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∈{1,2,3,4,5}</m:t>
                              </m:r>
                            </m:lim>
                          </m:limLow>
                        </m:fName>
                        <m:e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𝑚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𝑛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blipFill>
                <a:blip r:embed="rId7"/>
                <a:stretch>
                  <a:fillRect t="-1538" b="-18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文字方塊 42">
            <a:extLst>
              <a:ext uri="{FF2B5EF4-FFF2-40B4-BE49-F238E27FC236}">
                <a16:creationId xmlns:a16="http://schemas.microsoft.com/office/drawing/2014/main" id="{FC07244D-B500-3A77-0A2A-138E560ED2AD}"/>
              </a:ext>
            </a:extLst>
          </p:cNvPr>
          <p:cNvSpPr txBox="1"/>
          <p:nvPr/>
        </p:nvSpPr>
        <p:spPr>
          <a:xfrm>
            <a:off x="107504" y="5723242"/>
            <a:ext cx="3312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r>
              <a:rPr kumimoji="0" lang="zh-TW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terms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centers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1DBEB7D-5055-59E4-BCBB-8E38CF638DF0}"/>
              </a:ext>
            </a:extLst>
          </p:cNvPr>
          <p:cNvSpPr txBox="1"/>
          <p:nvPr/>
        </p:nvSpPr>
        <p:spPr>
          <a:xfrm>
            <a:off x="107503" y="6121791"/>
            <a:ext cx="4069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 terms</a:t>
            </a:r>
            <a:r>
              <a:rPr kumimoji="0" lang="en-US" altLang="zh-TW" b="1" i="0" u="none" strike="noStrike" kern="1200" cap="none" spc="0" normalizeH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half-lengths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/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a:rPr kumimoji="0" lang="en-US" altLang="zh-TW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𝐦𝐚𝐱</m:t>
                          </m:r>
                        </m:fName>
                        <m:e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kumimoji="0" lang="en-US" altLang="zh-TW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𝟐</m:t>
                                  </m:r>
                                </m:sub>
                              </m:sSub>
                            </m:e>
                          </m:d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𝟏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𝟐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𝟎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kumimoji="0" lang="zh-TW" altLang="en-US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B22AB0EF-8A3E-6EBD-BF0F-96619DE62824}"/>
              </a:ext>
            </a:extLst>
          </p:cNvPr>
          <p:cNvGrpSpPr/>
          <p:nvPr/>
        </p:nvGrpSpPr>
        <p:grpSpPr>
          <a:xfrm>
            <a:off x="5199635" y="3714388"/>
            <a:ext cx="3519797" cy="2277741"/>
            <a:chOff x="5073368" y="3868123"/>
            <a:chExt cx="3519797" cy="2175223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4F800A01-19E6-2FE7-5766-ADC056371E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14294" y="4304683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19BC3B7-8CAB-A15A-DA75-565562F7A7E0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C4CE66E7-307A-876E-4B06-0C419821ABF7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74F7F74-0446-E71C-85EC-822E48067482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386EBD91-6B9C-E37A-A091-4156271BF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15540" y="4311877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85620AEF-B057-7292-1666-827B7A17D7D8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831ABD6C-3255-E85B-0568-CAF737B58DE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3CD867EC-33CA-3D03-D4B4-C45A180F11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EBC115C5-E76F-8934-6AF5-55D27B7032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17838" y="4283514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9B94D5C5-1E24-B003-3611-F9A5B113408F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EE43E29B-EC76-4408-14CC-830413C021B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4EE69226-459B-686C-315C-B56EE2C5CD1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F137AEDD-02C7-6F55-3FF6-2FB1FD693E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5852" y="4357256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72B3E4E2-5D4C-E20F-C7AD-62070E1EFBED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852027F8-CCFF-EA83-160F-937239A2E70D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F3E0815-036B-217B-EF83-0B8DA83C503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A5032E8A-6473-ECBC-5C2B-804588257F8E}"/>
                </a:ext>
              </a:extLst>
            </p:cNvPr>
            <p:cNvSpPr/>
            <p:nvPr/>
          </p:nvSpPr>
          <p:spPr>
            <a:xfrm>
              <a:off x="5311374" y="4974328"/>
              <a:ext cx="1204531" cy="13610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62" name="直線接點 61">
              <a:extLst>
                <a:ext uri="{FF2B5EF4-FFF2-40B4-BE49-F238E27FC236}">
                  <a16:creationId xmlns:a16="http://schemas.microsoft.com/office/drawing/2014/main" id="{3CD66389-8175-E082-CE7B-16901A08D1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16286" y="4351408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D186C2BD-2A44-3053-6C34-24D6C56E54F2}"/>
                </a:ext>
              </a:extLst>
            </p:cNvPr>
            <p:cNvGrpSpPr/>
            <p:nvPr/>
          </p:nvGrpSpPr>
          <p:grpSpPr>
            <a:xfrm>
              <a:off x="7473424" y="3868123"/>
              <a:ext cx="485725" cy="442796"/>
              <a:chOff x="152643" y="5432675"/>
              <a:chExt cx="725956" cy="661795"/>
            </a:xfrm>
          </p:grpSpPr>
          <p:sp>
            <p:nvSpPr>
              <p:cNvPr id="64" name="橢圓 63">
                <a:extLst>
                  <a:ext uri="{FF2B5EF4-FFF2-40B4-BE49-F238E27FC236}">
                    <a16:creationId xmlns:a16="http://schemas.microsoft.com/office/drawing/2014/main" id="{8475E7BA-91D6-0905-5CBE-67BAF60A4B6E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257EA3E7-1D1D-5AF1-9115-7D8B5A6A1B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4</a:t>
                </a:r>
              </a:p>
            </p:txBody>
          </p:sp>
        </p:grpSp>
        <p:cxnSp>
          <p:nvCxnSpPr>
            <p:cNvPr id="66" name="直線接點 65">
              <a:extLst>
                <a:ext uri="{FF2B5EF4-FFF2-40B4-BE49-F238E27FC236}">
                  <a16:creationId xmlns:a16="http://schemas.microsoft.com/office/drawing/2014/main" id="{66B7C5D5-C1E4-3F27-7465-4A563E76EA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49225" y="4338741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群組 66">
              <a:extLst>
                <a:ext uri="{FF2B5EF4-FFF2-40B4-BE49-F238E27FC236}">
                  <a16:creationId xmlns:a16="http://schemas.microsoft.com/office/drawing/2014/main" id="{280431BF-D6CD-1DCC-5C60-4405E6D4C7BE}"/>
                </a:ext>
              </a:extLst>
            </p:cNvPr>
            <p:cNvGrpSpPr/>
            <p:nvPr/>
          </p:nvGrpSpPr>
          <p:grpSpPr>
            <a:xfrm>
              <a:off x="8107440" y="3869081"/>
              <a:ext cx="485725" cy="442796"/>
              <a:chOff x="152643" y="5432675"/>
              <a:chExt cx="725956" cy="661795"/>
            </a:xfrm>
          </p:grpSpPr>
          <p:sp>
            <p:nvSpPr>
              <p:cNvPr id="68" name="橢圓 67">
                <a:extLst>
                  <a:ext uri="{FF2B5EF4-FFF2-40B4-BE49-F238E27FC236}">
                    <a16:creationId xmlns:a16="http://schemas.microsoft.com/office/drawing/2014/main" id="{D9166A43-7FA0-9690-830D-563F2BF1512C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B2E8F2-7857-7B2E-E881-0B67DFD0D90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5</a:t>
                </a:r>
              </a:p>
            </p:txBody>
          </p:sp>
        </p:grp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C6315FEE-6E8D-E14E-4D33-24AF6304257B}"/>
                </a:ext>
              </a:extLst>
            </p:cNvPr>
            <p:cNvSpPr/>
            <p:nvPr/>
          </p:nvSpPr>
          <p:spPr>
            <a:xfrm>
              <a:off x="5924624" y="5507194"/>
              <a:ext cx="2412439" cy="1150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/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[0, 2]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  <a:blipFill>
                  <a:blip r:embed="rId9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/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[1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, </m:t>
                        </m:r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5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4" name="直線單箭頭接點 73">
              <a:extLst>
                <a:ext uri="{FF2B5EF4-FFF2-40B4-BE49-F238E27FC236}">
                  <a16:creationId xmlns:a16="http://schemas.microsoft.com/office/drawing/2014/main" id="{00D1F9AA-464B-D6F2-3286-3ACCFA69DD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16724" y="5221669"/>
              <a:ext cx="599181" cy="3334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/>
                <p:nvPr/>
              </p:nvSpPr>
              <p:spPr>
                <a:xfrm>
                  <a:off x="6000850" y="5162331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0850" y="5162331"/>
                  <a:ext cx="486042" cy="32331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直線單箭頭接點 75">
              <a:extLst>
                <a:ext uri="{FF2B5EF4-FFF2-40B4-BE49-F238E27FC236}">
                  <a16:creationId xmlns:a16="http://schemas.microsoft.com/office/drawing/2014/main" id="{2A96733D-7DBC-C0E1-D028-8D6EF97D5419}"/>
                </a:ext>
              </a:extLst>
            </p:cNvPr>
            <p:cNvCxnSpPr>
              <a:cxnSpLocks/>
            </p:cNvCxnSpPr>
            <p:nvPr/>
          </p:nvCxnSpPr>
          <p:spPr>
            <a:xfrm>
              <a:off x="5914530" y="5719226"/>
              <a:ext cx="1168386" cy="5677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/>
                <p:nvPr/>
              </p:nvSpPr>
              <p:spPr>
                <a:xfrm>
                  <a:off x="6303341" y="5681462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3341" y="5681462"/>
                  <a:ext cx="486042" cy="32331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/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/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04753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41" grpId="0"/>
      <p:bldP spid="43" grpId="0"/>
      <p:bldP spid="44" grpId="0"/>
      <p:bldP spid="7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7CF1F-9A6F-6860-8CC7-68F864343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20B32-1E14-C0F6-DCA1-97C313CD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Codeword Generation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Möbius Encoding (Codeword length: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dirty="0"/>
                  <a:t>)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DF4D0C0E-7E9E-48F7-6B31-1F0E2A467B97}"/>
              </a:ext>
            </a:extLst>
          </p:cNvPr>
          <p:cNvGrpSpPr/>
          <p:nvPr/>
        </p:nvGrpSpPr>
        <p:grpSpPr>
          <a:xfrm>
            <a:off x="611560" y="2204861"/>
            <a:ext cx="2271924" cy="1871837"/>
            <a:chOff x="5073368" y="3868123"/>
            <a:chExt cx="2271924" cy="1787589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D6D6B1A0-33E8-0BEF-8DFE-F6A43BEB844E}"/>
                </a:ext>
              </a:extLst>
            </p:cNvPr>
            <p:cNvCxnSpPr>
              <a:cxnSpLocks/>
            </p:cNvCxnSpPr>
            <p:nvPr/>
          </p:nvCxnSpPr>
          <p:spPr>
            <a:xfrm>
              <a:off x="5314294" y="4772758"/>
              <a:ext cx="0" cy="882954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586D04B-F1D0-A963-9C77-E4BCC15C8DEB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AC638236-A48E-056D-962E-97EA317A209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3D559BB3-35B1-0FCF-C0EB-6EA3D1183A76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1290762C-B1F2-B54C-3DC2-24EEA19DDF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01013" y="4765871"/>
              <a:ext cx="14527" cy="85612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D9871D8A-8055-ECAA-AA5D-CA759BF88986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E5EF0402-0C6A-9744-C862-293EBCE59FC9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8F88889-5E61-DD8D-968E-3A53EF1759D5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572AD682-E086-7823-6C60-C674AA0483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04974" y="4770373"/>
              <a:ext cx="12864" cy="88533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FA823895-A383-A2E5-619B-0F0FEBCB059D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A999CD68-8A52-1758-77C1-15F974F3833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739C01E0-0FF4-FAF1-D13D-F4005B4B82F0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610CA809-B4DA-70B4-462D-4915734C2E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2428" y="4759454"/>
              <a:ext cx="1" cy="89625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835243B0-2633-8EAA-C3C9-532907B60929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E261F162-5915-27ED-8910-DC4A71DC2A5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B54F17C3-A8C5-F03F-D75C-8A773A393A0D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</p:grpSp>
      <p:sp>
        <p:nvSpPr>
          <p:cNvPr id="5" name="文字方塊 4">
            <a:extLst>
              <a:ext uri="{FF2B5EF4-FFF2-40B4-BE49-F238E27FC236}">
                <a16:creationId xmlns:a16="http://schemas.microsoft.com/office/drawing/2014/main" id="{FEBBCA69-2665-C804-2C5B-B720815962FB}"/>
              </a:ext>
            </a:extLst>
          </p:cNvPr>
          <p:cNvSpPr txBox="1"/>
          <p:nvPr/>
        </p:nvSpPr>
        <p:spPr>
          <a:xfrm>
            <a:off x="6096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00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DE212981-79D4-A3F6-6FAD-7FC1D599DDAA}"/>
              </a:ext>
            </a:extLst>
          </p:cNvPr>
          <p:cNvSpPr txBox="1"/>
          <p:nvPr/>
        </p:nvSpPr>
        <p:spPr>
          <a:xfrm>
            <a:off x="119634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01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60B1248F-ED73-70AC-23E0-195DD13724AA}"/>
              </a:ext>
            </a:extLst>
          </p:cNvPr>
          <p:cNvSpPr txBox="1"/>
          <p:nvPr/>
        </p:nvSpPr>
        <p:spPr>
          <a:xfrm>
            <a:off x="18191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11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D83F0BA-78CF-3A41-E4EE-56F237DF3052}"/>
              </a:ext>
            </a:extLst>
          </p:cNvPr>
          <p:cNvSpPr txBox="1"/>
          <p:nvPr/>
        </p:nvSpPr>
        <p:spPr>
          <a:xfrm>
            <a:off x="2397758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10</a:t>
            </a:r>
          </a:p>
        </p:txBody>
      </p: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FFA56799-323E-E46F-8F68-6648ABB02591}"/>
              </a:ext>
            </a:extLst>
          </p:cNvPr>
          <p:cNvCxnSpPr>
            <a:cxnSpLocks/>
          </p:cNvCxnSpPr>
          <p:nvPr/>
        </p:nvCxnSpPr>
        <p:spPr>
          <a:xfrm>
            <a:off x="852485" y="3284984"/>
            <a:ext cx="1190681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F5B7A622-5887-455E-A516-333816AD6FB4}"/>
              </a:ext>
            </a:extLst>
          </p:cNvPr>
          <p:cNvSpPr txBox="1"/>
          <p:nvPr/>
        </p:nvSpPr>
        <p:spPr>
          <a:xfrm>
            <a:off x="683286" y="3329250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2-bit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8EFA6C31-944C-3119-51C8-DC85EBC472F1}"/>
              </a:ext>
            </a:extLst>
          </p:cNvPr>
          <p:cNvCxnSpPr>
            <a:cxnSpLocks/>
          </p:cNvCxnSpPr>
          <p:nvPr/>
        </p:nvCxnSpPr>
        <p:spPr>
          <a:xfrm>
            <a:off x="2068895" y="3696138"/>
            <a:ext cx="582476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5499F306-6EF3-76BC-0AAA-641C93EF0DB2}"/>
              </a:ext>
            </a:extLst>
          </p:cNvPr>
          <p:cNvSpPr txBox="1"/>
          <p:nvPr/>
        </p:nvSpPr>
        <p:spPr>
          <a:xfrm>
            <a:off x="1633219" y="3733621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1-bit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243E8328-1465-AEED-DEF0-4FB1311D48F8}"/>
              </a:ext>
            </a:extLst>
          </p:cNvPr>
          <p:cNvSpPr txBox="1"/>
          <p:nvPr/>
        </p:nvSpPr>
        <p:spPr>
          <a:xfrm>
            <a:off x="1002327" y="301091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[0,2]: XX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2331925A-6B60-97BC-7733-C512212C3B7B}"/>
              </a:ext>
            </a:extLst>
          </p:cNvPr>
          <p:cNvSpPr txBox="1"/>
          <p:nvPr/>
        </p:nvSpPr>
        <p:spPr>
          <a:xfrm>
            <a:off x="1913749" y="337754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[2,3]: 1X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/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en-US" altLang="zh-TW" sz="1600" dirty="0">
                    <a:solidFill>
                      <a:prstClr val="black"/>
                    </a:solidFill>
                    <a:latin typeface="Calibri" panose="020F0502020204030204"/>
                    <a:cs typeface="Arial"/>
                    <a:sym typeface="Arial"/>
                  </a:rPr>
                  <a:t>Limitation: Range &lt;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TW" sz="1600" i="0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N</m:t>
                        </m:r>
                      </m:num>
                      <m:den>
                        <m: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den>
                    </m:f>
                  </m:oMath>
                </a14:m>
                <a:endParaRPr lang="zh-TW" altLang="en-US" sz="1600" dirty="0">
                  <a:solidFill>
                    <a:prstClr val="black"/>
                  </a:solidFill>
                  <a:latin typeface="Calibri" panose="020F0502020204030204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blipFill>
                <a:blip r:embed="rId3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675B9765-327C-376E-A9C2-379F5177E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932563"/>
              </p:ext>
            </p:extLst>
          </p:nvPr>
        </p:nvGraphicFramePr>
        <p:xfrm>
          <a:off x="3463745" y="353352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86D50995-CF49-F32E-2EF8-4B3B435B58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161425"/>
              </p:ext>
            </p:extLst>
          </p:nvPr>
        </p:nvGraphicFramePr>
        <p:xfrm>
          <a:off x="4451880" y="2824373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535E6641-88FE-4375-90EC-587CF43E3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264451"/>
              </p:ext>
            </p:extLst>
          </p:nvPr>
        </p:nvGraphicFramePr>
        <p:xfrm>
          <a:off x="4458768" y="3547077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7" name="表格 106">
            <a:extLst>
              <a:ext uri="{FF2B5EF4-FFF2-40B4-BE49-F238E27FC236}">
                <a16:creationId xmlns:a16="http://schemas.microsoft.com/office/drawing/2014/main" id="{490FF250-D5E0-BB6A-1A74-7B8F5B729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36474"/>
              </p:ext>
            </p:extLst>
          </p:nvPr>
        </p:nvGraphicFramePr>
        <p:xfrm>
          <a:off x="4458768" y="427265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8" name="表格 107">
            <a:extLst>
              <a:ext uri="{FF2B5EF4-FFF2-40B4-BE49-F238E27FC236}">
                <a16:creationId xmlns:a16="http://schemas.microsoft.com/office/drawing/2014/main" id="{753BCCBF-B5A5-0227-CFB2-B22FB11104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642528"/>
              </p:ext>
            </p:extLst>
          </p:nvPr>
        </p:nvGraphicFramePr>
        <p:xfrm>
          <a:off x="4458768" y="499248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cxnSp>
        <p:nvCxnSpPr>
          <p:cNvPr id="109" name="直線單箭頭接點 108">
            <a:extLst>
              <a:ext uri="{FF2B5EF4-FFF2-40B4-BE49-F238E27FC236}">
                <a16:creationId xmlns:a16="http://schemas.microsoft.com/office/drawing/2014/main" id="{91FFBCEC-9A2C-D6AF-2929-7EBE3FAC889E}"/>
              </a:ext>
            </a:extLst>
          </p:cNvPr>
          <p:cNvCxnSpPr>
            <a:cxnSpLocks/>
            <a:stCxn id="104" idx="3"/>
            <a:endCxn id="105" idx="1"/>
          </p:cNvCxnSpPr>
          <p:nvPr/>
        </p:nvCxnSpPr>
        <p:spPr>
          <a:xfrm flipV="1">
            <a:off x="3823745" y="3162948"/>
            <a:ext cx="628135" cy="1106833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E418D2C9-BF7F-A272-726E-114326552431}"/>
              </a:ext>
            </a:extLst>
          </p:cNvPr>
          <p:cNvCxnSpPr>
            <a:cxnSpLocks/>
            <a:stCxn id="104" idx="3"/>
            <a:endCxn id="106" idx="1"/>
          </p:cNvCxnSpPr>
          <p:nvPr/>
        </p:nvCxnSpPr>
        <p:spPr>
          <a:xfrm flipV="1">
            <a:off x="3823745" y="3885652"/>
            <a:ext cx="635023" cy="38412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2D6EC5E-3EBD-251F-509E-A4D331E4E1C5}"/>
              </a:ext>
            </a:extLst>
          </p:cNvPr>
          <p:cNvCxnSpPr>
            <a:cxnSpLocks/>
            <a:stCxn id="104" idx="3"/>
            <a:endCxn id="107" idx="1"/>
          </p:cNvCxnSpPr>
          <p:nvPr/>
        </p:nvCxnSpPr>
        <p:spPr>
          <a:xfrm>
            <a:off x="3823745" y="4269781"/>
            <a:ext cx="635023" cy="34144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9" name="直線單箭頭接點 118">
            <a:extLst>
              <a:ext uri="{FF2B5EF4-FFF2-40B4-BE49-F238E27FC236}">
                <a16:creationId xmlns:a16="http://schemas.microsoft.com/office/drawing/2014/main" id="{301F01EB-8110-FEB9-80C7-5D63A8384F1B}"/>
              </a:ext>
            </a:extLst>
          </p:cNvPr>
          <p:cNvCxnSpPr>
            <a:cxnSpLocks/>
            <a:stCxn id="104" idx="3"/>
            <a:endCxn id="108" idx="1"/>
          </p:cNvCxnSpPr>
          <p:nvPr/>
        </p:nvCxnSpPr>
        <p:spPr>
          <a:xfrm>
            <a:off x="3823745" y="4269781"/>
            <a:ext cx="635023" cy="106127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pic>
        <p:nvPicPr>
          <p:cNvPr id="182" name="圖片 181">
            <a:extLst>
              <a:ext uri="{FF2B5EF4-FFF2-40B4-BE49-F238E27FC236}">
                <a16:creationId xmlns:a16="http://schemas.microsoft.com/office/drawing/2014/main" id="{39B947F1-0B5D-6E46-717F-357675002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314" y="4394345"/>
            <a:ext cx="2932965" cy="2269383"/>
          </a:xfrm>
          <a:prstGeom prst="rect">
            <a:avLst/>
          </a:prstGeom>
        </p:spPr>
      </p:pic>
      <p:grpSp>
        <p:nvGrpSpPr>
          <p:cNvPr id="183" name="群組 182">
            <a:extLst>
              <a:ext uri="{FF2B5EF4-FFF2-40B4-BE49-F238E27FC236}">
                <a16:creationId xmlns:a16="http://schemas.microsoft.com/office/drawing/2014/main" id="{0C0DB2B9-B441-968D-2704-A96B350FFFAA}"/>
              </a:ext>
            </a:extLst>
          </p:cNvPr>
          <p:cNvGrpSpPr/>
          <p:nvPr/>
        </p:nvGrpSpPr>
        <p:grpSpPr>
          <a:xfrm>
            <a:off x="5041073" y="3386590"/>
            <a:ext cx="1656184" cy="1625303"/>
            <a:chOff x="4860032" y="2852936"/>
            <a:chExt cx="1656184" cy="1625303"/>
          </a:xfrm>
        </p:grpSpPr>
        <p:cxnSp>
          <p:nvCxnSpPr>
            <p:cNvPr id="184" name="直線單箭頭接點 183">
              <a:extLst>
                <a:ext uri="{FF2B5EF4-FFF2-40B4-BE49-F238E27FC236}">
                  <a16:creationId xmlns:a16="http://schemas.microsoft.com/office/drawing/2014/main" id="{8FFF55F0-3D60-D933-389E-AD699F9DE38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60032" y="3705103"/>
              <a:ext cx="1656184" cy="14345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直線單箭頭接點 184">
              <a:extLst>
                <a:ext uri="{FF2B5EF4-FFF2-40B4-BE49-F238E27FC236}">
                  <a16:creationId xmlns:a16="http://schemas.microsoft.com/office/drawing/2014/main" id="{E821F392-3E00-FED4-948B-3D3E4EB8A4F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652120" y="2852936"/>
              <a:ext cx="0" cy="1596240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6" name="弧形 185">
              <a:extLst>
                <a:ext uri="{FF2B5EF4-FFF2-40B4-BE49-F238E27FC236}">
                  <a16:creationId xmlns:a16="http://schemas.microsoft.com/office/drawing/2014/main" id="{7290AF0C-B9D1-E64E-D624-C3537896E2B8}"/>
                </a:ext>
              </a:extLst>
            </p:cNvPr>
            <p:cNvSpPr/>
            <p:nvPr/>
          </p:nvSpPr>
          <p:spPr bwMode="auto">
            <a:xfrm>
              <a:off x="4995887" y="3086830"/>
              <a:ext cx="1299060" cy="1221282"/>
            </a:xfrm>
            <a:prstGeom prst="arc">
              <a:avLst>
                <a:gd name="adj1" fmla="val 12270218"/>
                <a:gd name="adj2" fmla="val 14899981"/>
              </a:avLst>
            </a:prstGeom>
            <a:noFill/>
            <a:ln w="76200" cap="flat" cmpd="sng" algn="ctr">
              <a:solidFill>
                <a:schemeClr val="accent6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7" name="弧形 186">
              <a:extLst>
                <a:ext uri="{FF2B5EF4-FFF2-40B4-BE49-F238E27FC236}">
                  <a16:creationId xmlns:a16="http://schemas.microsoft.com/office/drawing/2014/main" id="{2D565E9D-6703-3AFA-BE13-B2940075399C}"/>
                </a:ext>
              </a:extLst>
            </p:cNvPr>
            <p:cNvSpPr/>
            <p:nvPr/>
          </p:nvSpPr>
          <p:spPr bwMode="auto">
            <a:xfrm>
              <a:off x="5155143" y="3237200"/>
              <a:ext cx="979168" cy="920542"/>
            </a:xfrm>
            <a:prstGeom prst="arc">
              <a:avLst>
                <a:gd name="adj1" fmla="val 1688301"/>
                <a:gd name="adj2" fmla="val 4293416"/>
              </a:avLst>
            </a:prstGeom>
            <a:noFill/>
            <a:ln w="76200" cap="flat" cmpd="sng" algn="ctr">
              <a:solidFill>
                <a:schemeClr val="accent3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8" name="弧形 187">
              <a:extLst>
                <a:ext uri="{FF2B5EF4-FFF2-40B4-BE49-F238E27FC236}">
                  <a16:creationId xmlns:a16="http://schemas.microsoft.com/office/drawing/2014/main" id="{03CD1339-6F03-7542-2AD1-DA827811EDD4}"/>
                </a:ext>
              </a:extLst>
            </p:cNvPr>
            <p:cNvSpPr/>
            <p:nvPr/>
          </p:nvSpPr>
          <p:spPr bwMode="auto">
            <a:xfrm>
              <a:off x="5186096" y="3270012"/>
              <a:ext cx="909364" cy="854918"/>
            </a:xfrm>
            <a:prstGeom prst="arc">
              <a:avLst>
                <a:gd name="adj1" fmla="val 12270218"/>
                <a:gd name="adj2" fmla="val 20029210"/>
              </a:avLst>
            </a:prstGeom>
            <a:noFill/>
            <a:ln w="762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9" name="弧形 188">
              <a:extLst>
                <a:ext uri="{FF2B5EF4-FFF2-40B4-BE49-F238E27FC236}">
                  <a16:creationId xmlns:a16="http://schemas.microsoft.com/office/drawing/2014/main" id="{1683C9AB-E4CB-6236-94AD-295773592682}"/>
                </a:ext>
              </a:extLst>
            </p:cNvPr>
            <p:cNvSpPr/>
            <p:nvPr/>
          </p:nvSpPr>
          <p:spPr bwMode="auto">
            <a:xfrm>
              <a:off x="4947075" y="3051096"/>
              <a:ext cx="1394100" cy="1310632"/>
            </a:xfrm>
            <a:prstGeom prst="arc">
              <a:avLst>
                <a:gd name="adj1" fmla="val 17611275"/>
                <a:gd name="adj2" fmla="val 4289767"/>
              </a:avLst>
            </a:prstGeom>
            <a:noFill/>
            <a:ln w="76200" cap="flat" cmpd="sng" algn="ctr">
              <a:solidFill>
                <a:schemeClr val="accent2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90" name="直線接點 189">
              <a:extLst>
                <a:ext uri="{FF2B5EF4-FFF2-40B4-BE49-F238E27FC236}">
                  <a16:creationId xmlns:a16="http://schemas.microsoft.com/office/drawing/2014/main" id="{6FB1F03F-5988-7CA9-F115-4582FD0B8BFD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327222" y="2995307"/>
              <a:ext cx="627113" cy="1448282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1" name="直線接點 190">
              <a:extLst>
                <a:ext uri="{FF2B5EF4-FFF2-40B4-BE49-F238E27FC236}">
                  <a16:creationId xmlns:a16="http://schemas.microsoft.com/office/drawing/2014/main" id="{AEDBBF5D-EC9F-6A67-A298-56E21AD0D024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5368961" y="2964764"/>
              <a:ext cx="543636" cy="151347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2" name="直線接點 191">
              <a:extLst>
                <a:ext uri="{FF2B5EF4-FFF2-40B4-BE49-F238E27FC236}">
                  <a16:creationId xmlns:a16="http://schemas.microsoft.com/office/drawing/2014/main" id="{F5AF0241-4B1F-5A9C-17B2-00C1317E265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878752" y="3307188"/>
              <a:ext cx="1565456" cy="780074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3" name="直線接點 192">
              <a:extLst>
                <a:ext uri="{FF2B5EF4-FFF2-40B4-BE49-F238E27FC236}">
                  <a16:creationId xmlns:a16="http://schemas.microsoft.com/office/drawing/2014/main" id="{DDDC50B1-AF8D-3D3C-4096-1005EE136232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860032" y="3329250"/>
              <a:ext cx="1551407" cy="74560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4" name="橢圓 193">
              <a:extLst>
                <a:ext uri="{FF2B5EF4-FFF2-40B4-BE49-F238E27FC236}">
                  <a16:creationId xmlns:a16="http://schemas.microsoft.com/office/drawing/2014/main" id="{9B496376-F415-978B-0DE3-45227ACAA01A}"/>
                </a:ext>
              </a:extLst>
            </p:cNvPr>
            <p:cNvSpPr/>
            <p:nvPr/>
          </p:nvSpPr>
          <p:spPr>
            <a:xfrm>
              <a:off x="6265006" y="3466371"/>
              <a:ext cx="97038" cy="10161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5" name="橢圓 194">
              <a:extLst>
                <a:ext uri="{FF2B5EF4-FFF2-40B4-BE49-F238E27FC236}">
                  <a16:creationId xmlns:a16="http://schemas.microsoft.com/office/drawing/2014/main" id="{B4595D6D-6A20-FAA4-0671-2507234C67E2}"/>
                </a:ext>
              </a:extLst>
            </p:cNvPr>
            <p:cNvSpPr/>
            <p:nvPr/>
          </p:nvSpPr>
          <p:spPr>
            <a:xfrm>
              <a:off x="5696209" y="3220032"/>
              <a:ext cx="97038" cy="101611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6" name="橢圓 195">
              <a:extLst>
                <a:ext uri="{FF2B5EF4-FFF2-40B4-BE49-F238E27FC236}">
                  <a16:creationId xmlns:a16="http://schemas.microsoft.com/office/drawing/2014/main" id="{FE4A28E4-F39C-3F35-BA3F-7F93F3D02C84}"/>
                </a:ext>
              </a:extLst>
            </p:cNvPr>
            <p:cNvSpPr/>
            <p:nvPr/>
          </p:nvSpPr>
          <p:spPr>
            <a:xfrm>
              <a:off x="5925266" y="3969691"/>
              <a:ext cx="97038" cy="101611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7" name="橢圓 196">
              <a:extLst>
                <a:ext uri="{FF2B5EF4-FFF2-40B4-BE49-F238E27FC236}">
                  <a16:creationId xmlns:a16="http://schemas.microsoft.com/office/drawing/2014/main" id="{0C7C2FE0-B6B1-6870-F61B-E25DBC78C879}"/>
                </a:ext>
              </a:extLst>
            </p:cNvPr>
            <p:cNvSpPr/>
            <p:nvPr/>
          </p:nvSpPr>
          <p:spPr>
            <a:xfrm>
              <a:off x="5243601" y="3125538"/>
              <a:ext cx="97038" cy="101611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98" name="矩形 197">
            <a:extLst>
              <a:ext uri="{FF2B5EF4-FFF2-40B4-BE49-F238E27FC236}">
                <a16:creationId xmlns:a16="http://schemas.microsoft.com/office/drawing/2014/main" id="{5989E71F-24DE-C061-30EF-CCF51FE8E85C}"/>
              </a:ext>
            </a:extLst>
          </p:cNvPr>
          <p:cNvSpPr/>
          <p:nvPr/>
        </p:nvSpPr>
        <p:spPr>
          <a:xfrm>
            <a:off x="3241872" y="6016366"/>
            <a:ext cx="8037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Vector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A7A326CF-DFA9-E06A-46D5-314822503628}"/>
              </a:ext>
            </a:extLst>
          </p:cNvPr>
          <p:cNvSpPr/>
          <p:nvPr/>
        </p:nvSpPr>
        <p:spPr>
          <a:xfrm>
            <a:off x="5226081" y="5865909"/>
            <a:ext cx="12328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1" dirty="0">
                <a:latin typeface="Calibri" panose="020F0502020204030204"/>
                <a:ea typeface="新細明體" panose="02020500000000000000" pitchFamily="18" charset="-120"/>
              </a:rPr>
              <a:t>Range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129E632B-FF1A-1D6B-821B-D461D5C106C8}"/>
              </a:ext>
            </a:extLst>
          </p:cNvPr>
          <p:cNvSpPr/>
          <p:nvPr/>
        </p:nvSpPr>
        <p:spPr>
          <a:xfrm>
            <a:off x="4093380" y="6016366"/>
            <a:ext cx="10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Segment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05" name="表格 204">
            <a:extLst>
              <a:ext uri="{FF2B5EF4-FFF2-40B4-BE49-F238E27FC236}">
                <a16:creationId xmlns:a16="http://schemas.microsoft.com/office/drawing/2014/main" id="{CC2C569A-078D-AF03-32A0-22707B0757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556476"/>
              </p:ext>
            </p:extLst>
          </p:nvPr>
        </p:nvGraphicFramePr>
        <p:xfrm>
          <a:off x="7070536" y="1419396"/>
          <a:ext cx="360000" cy="536448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24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0992439"/>
                  </a:ext>
                </a:extLst>
              </a:tr>
              <a:tr h="15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899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44461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64945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731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868860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7908542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84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256786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2722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0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165992"/>
                  </a:ext>
                </a:extLst>
              </a:tr>
            </a:tbl>
          </a:graphicData>
        </a:graphic>
      </p:graphicFrame>
      <p:sp>
        <p:nvSpPr>
          <p:cNvPr id="206" name="矩形 205">
            <a:extLst>
              <a:ext uri="{FF2B5EF4-FFF2-40B4-BE49-F238E27FC236}">
                <a16:creationId xmlns:a16="http://schemas.microsoft.com/office/drawing/2014/main" id="{F3C5A005-A8AE-536F-24EC-6CBDCBC3E92D}"/>
              </a:ext>
            </a:extLst>
          </p:cNvPr>
          <p:cNvSpPr/>
          <p:nvPr/>
        </p:nvSpPr>
        <p:spPr>
          <a:xfrm>
            <a:off x="7435031" y="6016366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Codeword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8051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EADC5-29B2-29CC-D7E9-E44CF2D2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16028B-A4A8-64C0-9F61-13E209FB1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DDE848F-5BD9-13AA-5DDD-3F205E3504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Recall of hamming distance / segmented cosine increases as dimension grows </a:t>
            </a:r>
          </a:p>
          <a:p>
            <a:r>
              <a:rPr lang="en-US" altLang="zh-TW" dirty="0"/>
              <a:t>Complementary estimates perform better recall rate than individual estimates</a:t>
            </a:r>
            <a:endParaRPr lang="zh-TW" altLang="en-US" dirty="0"/>
          </a:p>
          <a:p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06DB975D-2B81-C172-F039-747B4C0B5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9520497"/>
                  </p:ext>
                </p:extLst>
              </p:nvPr>
            </p:nvGraphicFramePr>
            <p:xfrm>
              <a:off x="1432950" y="3362478"/>
              <a:ext cx="7578587" cy="2987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01323">
                      <a:extLst>
                        <a:ext uri="{9D8B030D-6E8A-4147-A177-3AD203B41FA5}">
                          <a16:colId xmlns:a16="http://schemas.microsoft.com/office/drawing/2014/main" val="2507763368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2177352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83137380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1475083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55769511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18898445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935944"/>
                        </a:ext>
                      </a:extLst>
                    </a:gridCol>
                  </a:tblGrid>
                  <a:tr h="294668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GloVe25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GloVe50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GloVe100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NYTimes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COCO-T2I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4974959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Dimension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100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256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859956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Hamming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Distance 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25.76%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33.69%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39.86%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46.55%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62.97%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82.69%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8372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e>
                                <m:sub>
                                  <m: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oMath>
                          </a14:m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Norm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92.53%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86.02%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73.99%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38.43%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83.60%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94.71%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880717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79.74%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84.45%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88.06%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91.63%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95.14%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99.17%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497845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𝑼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95.27%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(+2.74%)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95.71%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(+9.69%)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95.90%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(+21.91%)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96.13%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(+57.70%)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98.19%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(+14.59%)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(+4.49%)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890247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97.42%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(+4.89%)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98.67%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(+12.65%)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(+25.21%)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(+60.99%)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99.85%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(+16.25%)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99.86%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(+5.15%)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245783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06DB975D-2B81-C172-F039-747B4C0B5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9520497"/>
                  </p:ext>
                </p:extLst>
              </p:nvPr>
            </p:nvGraphicFramePr>
            <p:xfrm>
              <a:off x="1432950" y="3362478"/>
              <a:ext cx="7578587" cy="2987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01323">
                      <a:extLst>
                        <a:ext uri="{9D8B030D-6E8A-4147-A177-3AD203B41FA5}">
                          <a16:colId xmlns:a16="http://schemas.microsoft.com/office/drawing/2014/main" val="2507763368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2177352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83137380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1475083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55769511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18898445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935944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GloVe25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GloVe50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GloVe100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NYTimes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COCO-T2I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497495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Dimension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100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256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859956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Hamming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Distance 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25.76%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33.69%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39.86%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46.55%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62.97%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82.69%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83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433333" r="-441739" b="-450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92.53%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86.02%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73.99%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38.43%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83.60%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94.71%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88071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544000" r="-441739" b="-36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79.74%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84.45%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88.06%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91.63%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95.14%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99.17%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497845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378824" r="-441739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95.27%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(+2.74%)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95.71%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(+9.69%)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95.90%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(+21.91%)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96.13%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(+57.70%)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98.19%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(+14.59%)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(+4.49%)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89024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478824" r="-441739" b="-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97.42%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(+4.89%)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98.67%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(+12.65%)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(+25.21%)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(+60.99%)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99.85%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(+16.25%)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99.86%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(+5.15%)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245783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左大括弧 8">
            <a:extLst>
              <a:ext uri="{FF2B5EF4-FFF2-40B4-BE49-F238E27FC236}">
                <a16:creationId xmlns:a16="http://schemas.microsoft.com/office/drawing/2014/main" id="{3579392C-C480-BB17-FE7A-7FC923FBA184}"/>
              </a:ext>
            </a:extLst>
          </p:cNvPr>
          <p:cNvSpPr/>
          <p:nvPr/>
        </p:nvSpPr>
        <p:spPr bwMode="auto">
          <a:xfrm>
            <a:off x="1158801" y="4725144"/>
            <a:ext cx="172840" cy="1053539"/>
          </a:xfrm>
          <a:prstGeom prst="leftBrace">
            <a:avLst>
              <a:gd name="adj1" fmla="val 28751"/>
              <a:gd name="adj2" fmla="val 5000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AE4740B-4E80-A833-5CD9-F0179F3C91DD}"/>
              </a:ext>
            </a:extLst>
          </p:cNvPr>
          <p:cNvSpPr txBox="1"/>
          <p:nvPr/>
        </p:nvSpPr>
        <p:spPr>
          <a:xfrm>
            <a:off x="-72652" y="4967456"/>
            <a:ext cx="13323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400" dirty="0"/>
              <a:t>Extension of</a:t>
            </a:r>
          </a:p>
          <a:p>
            <a:pPr algn="ctr"/>
            <a:r>
              <a:rPr lang="en-US" altLang="zh-TW" sz="1400" dirty="0"/>
              <a:t>Ham. Dist.</a:t>
            </a:r>
            <a:endParaRPr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058DF11-0A7C-FB4E-0C9C-30A762B71391}"/>
                  </a:ext>
                </a:extLst>
              </p:cNvPr>
              <p:cNvSpPr txBox="1"/>
              <p:nvPr/>
            </p:nvSpPr>
            <p:spPr>
              <a:xfrm>
                <a:off x="-108520" y="5854883"/>
                <a:ext cx="162220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sz="1400" b="1" i="1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en-US" altLang="zh-TW" sz="1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sz="14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  <a:p>
                <a:pPr algn="ctr"/>
                <a:r>
                  <a:rPr lang="en-US" altLang="zh-TW" sz="1400" dirty="0"/>
                  <a:t>(Complementary)</a:t>
                </a:r>
                <a:endParaRPr lang="zh-TW" altLang="en-US" sz="14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058DF11-0A7C-FB4E-0C9C-30A762B71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8520" y="5854883"/>
                <a:ext cx="1622202" cy="523220"/>
              </a:xfrm>
              <a:prstGeom prst="rect">
                <a:avLst/>
              </a:prstGeom>
              <a:blipFill>
                <a:blip r:embed="rId3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921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98A1AF4-6929-422D-2ACB-8E550C7E1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1"/>
                <a:ext cx="8382000" cy="960512"/>
              </a:xfrm>
            </p:spPr>
            <p:txBody>
              <a:bodyPr/>
              <a:lstStyle/>
              <a:p>
                <a:r>
                  <a:rPr lang="en-US" altLang="zh-TW" dirty="0"/>
                  <a:t>Increasing dimensions can enhance the benefits of Seg-Cos compared with LSH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altLang="zh-TW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b="1" dirty="0">
                    <a:solidFill>
                      <a:schemeClr val="tx1"/>
                    </a:solidFill>
                  </a:rPr>
                  <a:t>(Complementary) </a:t>
                </a:r>
                <a:r>
                  <a:rPr lang="en-US" altLang="zh-TW" dirty="0">
                    <a:solidFill>
                      <a:schemeClr val="tx1"/>
                    </a:solidFill>
                  </a:rPr>
                  <a:t>outperforms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𝑼</m:t>
                        </m:r>
                      </m:sub>
                    </m:sSub>
                  </m:oMath>
                </a14:m>
                <a:r>
                  <a:rPr lang="zh-TW" altLang="en-US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b="1" dirty="0">
                    <a:solidFill>
                      <a:schemeClr val="tx1"/>
                    </a:solidFill>
                  </a:rPr>
                  <a:t>(Upper)</a:t>
                </a:r>
                <a:r>
                  <a:rPr lang="zh-TW" altLang="en-US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dirty="0"/>
                  <a:t>when codeword is sufficiently long</a:t>
                </a:r>
                <a:endParaRPr lang="zh-TW" altLang="en-US" dirty="0"/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98A1AF4-6929-422D-2ACB-8E550C7E1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1"/>
                <a:ext cx="8382000" cy="960512"/>
              </a:xfrm>
              <a:blipFill>
                <a:blip r:embed="rId2"/>
                <a:stretch>
                  <a:fillRect l="-727" t="-3165" b="-544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>
            <a:extLst>
              <a:ext uri="{FF2B5EF4-FFF2-40B4-BE49-F238E27FC236}">
                <a16:creationId xmlns:a16="http://schemas.microsoft.com/office/drawing/2014/main" id="{78280015-D58A-1410-D6BC-4049250A9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3445748"/>
            <a:ext cx="3931332" cy="288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434E1198-329A-1E74-F88A-006F6C560B32}"/>
              </a:ext>
            </a:extLst>
          </p:cNvPr>
          <p:cNvSpPr txBox="1"/>
          <p:nvPr/>
        </p:nvSpPr>
        <p:spPr>
          <a:xfrm>
            <a:off x="310679" y="313542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269CB02-AD11-9057-9781-4EFC1C43E5A9}"/>
              </a:ext>
            </a:extLst>
          </p:cNvPr>
          <p:cNvSpPr txBox="1"/>
          <p:nvPr/>
        </p:nvSpPr>
        <p:spPr>
          <a:xfrm>
            <a:off x="1475656" y="314361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7C68C515-CBBB-6CEB-454D-0AD22EADB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(</a:t>
            </a:r>
            <a:r>
              <a:rPr lang="en-US" altLang="zh-TW" dirty="0" err="1"/>
              <a:t>GloVe</a:t>
            </a:r>
            <a:r>
              <a:rPr lang="en-US" altLang="zh-TW" dirty="0"/>
              <a:t>)</a:t>
            </a:r>
            <a:endParaRPr lang="zh-TW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71A75314-7A24-8203-6E14-0C77B8406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4116" y="3445748"/>
            <a:ext cx="3931332" cy="288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DAA6C720-5E25-9FD4-3DEC-144D4D4A726B}"/>
              </a:ext>
            </a:extLst>
          </p:cNvPr>
          <p:cNvCxnSpPr>
            <a:cxnSpLocks/>
          </p:cNvCxnSpPr>
          <p:nvPr/>
        </p:nvCxnSpPr>
        <p:spPr>
          <a:xfrm>
            <a:off x="1816577" y="3573016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60AD1287-C243-F33A-56BE-CA43A0A0AF78}"/>
              </a:ext>
            </a:extLst>
          </p:cNvPr>
          <p:cNvCxnSpPr>
            <a:cxnSpLocks/>
          </p:cNvCxnSpPr>
          <p:nvPr/>
        </p:nvCxnSpPr>
        <p:spPr>
          <a:xfrm>
            <a:off x="899592" y="3429000"/>
            <a:ext cx="939845" cy="118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4C5BE9DF-2B24-BA55-BDC2-823539785681}"/>
              </a:ext>
            </a:extLst>
          </p:cNvPr>
          <p:cNvCxnSpPr>
            <a:cxnSpLocks/>
          </p:cNvCxnSpPr>
          <p:nvPr/>
        </p:nvCxnSpPr>
        <p:spPr>
          <a:xfrm>
            <a:off x="1816577" y="3430187"/>
            <a:ext cx="2611407" cy="15561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3187CD09-6614-C50F-4B19-C3EBBD004F51}"/>
              </a:ext>
            </a:extLst>
          </p:cNvPr>
          <p:cNvCxnSpPr>
            <a:cxnSpLocks/>
          </p:cNvCxnSpPr>
          <p:nvPr/>
        </p:nvCxnSpPr>
        <p:spPr bwMode="auto">
          <a:xfrm flipH="1">
            <a:off x="1922241" y="3865240"/>
            <a:ext cx="767638" cy="56443"/>
          </a:xfrm>
          <a:prstGeom prst="line">
            <a:avLst/>
          </a:prstGeom>
          <a:noFill/>
          <a:ln w="28575" cap="flat" cmpd="sng" algn="ctr">
            <a:solidFill>
              <a:srgbClr val="9D60AB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8517BEF2-999A-2C9E-CEDF-FA52D147F939}"/>
              </a:ext>
            </a:extLst>
          </p:cNvPr>
          <p:cNvSpPr txBox="1"/>
          <p:nvPr/>
        </p:nvSpPr>
        <p:spPr>
          <a:xfrm>
            <a:off x="4329527" y="3119864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B5F90AB-214D-EEED-33C0-A0BF21A871B1}"/>
              </a:ext>
            </a:extLst>
          </p:cNvPr>
          <p:cNvSpPr txBox="1"/>
          <p:nvPr/>
        </p:nvSpPr>
        <p:spPr>
          <a:xfrm>
            <a:off x="5674438" y="314361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F7F17A3C-2F09-EA26-433E-B8FCE437A765}"/>
              </a:ext>
            </a:extLst>
          </p:cNvPr>
          <p:cNvCxnSpPr>
            <a:cxnSpLocks/>
          </p:cNvCxnSpPr>
          <p:nvPr/>
        </p:nvCxnSpPr>
        <p:spPr>
          <a:xfrm>
            <a:off x="5796136" y="3573016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B228992A-E4F7-52E4-7435-9F539F929FEA}"/>
              </a:ext>
            </a:extLst>
          </p:cNvPr>
          <p:cNvCxnSpPr>
            <a:cxnSpLocks/>
          </p:cNvCxnSpPr>
          <p:nvPr/>
        </p:nvCxnSpPr>
        <p:spPr>
          <a:xfrm>
            <a:off x="5006350" y="3429000"/>
            <a:ext cx="789786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DE73A810-D2BD-E2CF-6AA4-3F8E37A1AA25}"/>
              </a:ext>
            </a:extLst>
          </p:cNvPr>
          <p:cNvCxnSpPr>
            <a:cxnSpLocks/>
          </p:cNvCxnSpPr>
          <p:nvPr/>
        </p:nvCxnSpPr>
        <p:spPr>
          <a:xfrm>
            <a:off x="5796136" y="3429000"/>
            <a:ext cx="2830630" cy="16748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1661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3CFBF-AB67-D16E-CC33-426B174B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>
            <a:extLst>
              <a:ext uri="{FF2B5EF4-FFF2-40B4-BE49-F238E27FC236}">
                <a16:creationId xmlns:a16="http://schemas.microsoft.com/office/drawing/2014/main" id="{51E445E7-3586-BC77-50A8-C83935697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2819" y="3573008"/>
            <a:ext cx="3960437" cy="290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7E88E86-BE78-9853-FCE7-298DF13C84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07" y="3645024"/>
            <a:ext cx="3960437" cy="290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66899B-E8F7-153F-CF99-059C995832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1"/>
            <a:ext cx="8382000" cy="960512"/>
          </a:xfrm>
        </p:spPr>
        <p:txBody>
          <a:bodyPr/>
          <a:lstStyle/>
          <a:p>
            <a:r>
              <a:rPr lang="en-US" altLang="zh-TW" dirty="0"/>
              <a:t>Seg-Cos can preserve higher recall rates in the short-codeword length scenarios</a:t>
            </a:r>
          </a:p>
          <a:p>
            <a:pPr lvl="1"/>
            <a:r>
              <a:rPr lang="en-US" altLang="zh-TW" dirty="0"/>
              <a:t>Approx. 100% recall rates in the high-dimensional vector database</a:t>
            </a:r>
          </a:p>
          <a:p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378C890-CDC3-EB52-FD84-B4E5E2CA9461}"/>
              </a:ext>
            </a:extLst>
          </p:cNvPr>
          <p:cNvSpPr txBox="1"/>
          <p:nvPr/>
        </p:nvSpPr>
        <p:spPr>
          <a:xfrm>
            <a:off x="42455" y="3117137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72E6015-D21E-C114-FD5B-41243F3A6A88}"/>
              </a:ext>
            </a:extLst>
          </p:cNvPr>
          <p:cNvSpPr txBox="1"/>
          <p:nvPr/>
        </p:nvSpPr>
        <p:spPr>
          <a:xfrm>
            <a:off x="1252800" y="3125407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E78E52B-4CC8-413A-EDF2-A1B3C96A0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(NYTimes &amp; COCO-T2I)</a:t>
            </a:r>
            <a:endParaRPr lang="zh-TW" altLang="en-US" dirty="0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237C483-09DB-1664-1A62-93314108A0B1}"/>
              </a:ext>
            </a:extLst>
          </p:cNvPr>
          <p:cNvCxnSpPr>
            <a:cxnSpLocks/>
          </p:cNvCxnSpPr>
          <p:nvPr/>
        </p:nvCxnSpPr>
        <p:spPr>
          <a:xfrm>
            <a:off x="1403648" y="3836797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245685DE-5294-8AD4-C53E-18F144F56F2C}"/>
              </a:ext>
            </a:extLst>
          </p:cNvPr>
          <p:cNvCxnSpPr>
            <a:cxnSpLocks/>
          </p:cNvCxnSpPr>
          <p:nvPr/>
        </p:nvCxnSpPr>
        <p:spPr>
          <a:xfrm>
            <a:off x="899592" y="3429000"/>
            <a:ext cx="504056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E54837B-51DC-E047-E318-E2BECA2E792B}"/>
              </a:ext>
            </a:extLst>
          </p:cNvPr>
          <p:cNvCxnSpPr>
            <a:cxnSpLocks/>
          </p:cNvCxnSpPr>
          <p:nvPr/>
        </p:nvCxnSpPr>
        <p:spPr>
          <a:xfrm>
            <a:off x="1417970" y="3427812"/>
            <a:ext cx="3010014" cy="17936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15083F8-D5F9-17F0-9CB5-5D194CB0ACC7}"/>
              </a:ext>
            </a:extLst>
          </p:cNvPr>
          <p:cNvSpPr txBox="1"/>
          <p:nvPr/>
        </p:nvSpPr>
        <p:spPr>
          <a:xfrm>
            <a:off x="4259742" y="319100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C36B5023-DC7C-7B87-5C16-1AA60D3B97C9}"/>
              </a:ext>
            </a:extLst>
          </p:cNvPr>
          <p:cNvSpPr txBox="1"/>
          <p:nvPr/>
        </p:nvSpPr>
        <p:spPr>
          <a:xfrm>
            <a:off x="5424719" y="319919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E4631B03-0548-4A06-9225-603A13E33267}"/>
              </a:ext>
            </a:extLst>
          </p:cNvPr>
          <p:cNvCxnSpPr>
            <a:cxnSpLocks/>
          </p:cNvCxnSpPr>
          <p:nvPr/>
        </p:nvCxnSpPr>
        <p:spPr>
          <a:xfrm>
            <a:off x="5508104" y="3720200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AF02DCFE-66E9-F531-C9BA-C8E118170C33}"/>
              </a:ext>
            </a:extLst>
          </p:cNvPr>
          <p:cNvCxnSpPr>
            <a:cxnSpLocks/>
          </p:cNvCxnSpPr>
          <p:nvPr/>
        </p:nvCxnSpPr>
        <p:spPr>
          <a:xfrm>
            <a:off x="5148064" y="3498819"/>
            <a:ext cx="432048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78D5B997-E551-8117-C2A8-373ECC0474B1}"/>
              </a:ext>
            </a:extLst>
          </p:cNvPr>
          <p:cNvCxnSpPr>
            <a:cxnSpLocks/>
          </p:cNvCxnSpPr>
          <p:nvPr/>
        </p:nvCxnSpPr>
        <p:spPr>
          <a:xfrm>
            <a:off x="5580112" y="3498819"/>
            <a:ext cx="2796935" cy="2509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2049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970D2C-297D-30EA-4484-763C802DA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6BB62D-7E93-6F36-DFA2-2726E9463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63000" cy="4800600"/>
          </a:xfrm>
        </p:spPr>
        <p:txBody>
          <a:bodyPr/>
          <a:lstStyle/>
          <a:p>
            <a:r>
              <a:rPr lang="en-US" altLang="zh-TW" dirty="0"/>
              <a:t>Hamming Distance &amp; Cosine Distance</a:t>
            </a:r>
          </a:p>
          <a:p>
            <a:pPr lvl="1"/>
            <a:r>
              <a:rPr lang="en-US" altLang="zh-TW" dirty="0"/>
              <a:t>Hamming distance can be viewed as an unweighted cosine distance</a:t>
            </a:r>
          </a:p>
          <a:p>
            <a:pPr lvl="1"/>
            <a:r>
              <a:rPr lang="en-US" altLang="zh-TW" dirty="0"/>
              <a:t>As long as we can estimate the weight, we can be closer to cosine distance</a:t>
            </a:r>
          </a:p>
          <a:p>
            <a:r>
              <a:rPr lang="en-US" altLang="zh-TW" dirty="0"/>
              <a:t>Estimation of Weights</a:t>
            </a:r>
          </a:p>
          <a:p>
            <a:pPr lvl="1"/>
            <a:r>
              <a:rPr lang="en-US" altLang="zh-TW" dirty="0"/>
              <a:t>Using logarithmic functions to form upper/lower bound</a:t>
            </a:r>
          </a:p>
          <a:p>
            <a:pPr lvl="1"/>
            <a:r>
              <a:rPr lang="en-US" altLang="zh-TW" dirty="0"/>
              <a:t>Apply Taylor Expansion and clamping skill to simplify computation</a:t>
            </a:r>
          </a:p>
          <a:p>
            <a:r>
              <a:rPr lang="en-US" altLang="zh-TW" dirty="0"/>
              <a:t>Preprocessing for Encoding</a:t>
            </a:r>
          </a:p>
          <a:p>
            <a:pPr lvl="1"/>
            <a:r>
              <a:rPr lang="en-US" altLang="zh-TW" dirty="0"/>
              <a:t>Segmentize, Quantize </a:t>
            </a:r>
            <a:r>
              <a:rPr lang="en-US" altLang="zh-TW" dirty="0" err="1"/>
              <a:t>centerpoint</a:t>
            </a:r>
            <a:r>
              <a:rPr lang="en-US" altLang="zh-TW" dirty="0"/>
              <a:t> &amp; range</a:t>
            </a:r>
          </a:p>
          <a:p>
            <a:r>
              <a:rPr lang="en-US" altLang="zh-TW" dirty="0"/>
              <a:t>Codeword Generation</a:t>
            </a:r>
          </a:p>
          <a:p>
            <a:pPr lvl="1"/>
            <a:r>
              <a:rPr lang="en-US" altLang="zh-TW" dirty="0"/>
              <a:t>Ring Encoding</a:t>
            </a:r>
          </a:p>
          <a:p>
            <a:r>
              <a:rPr lang="en-US" altLang="zh-TW" dirty="0"/>
              <a:t>Experiment Results</a:t>
            </a:r>
          </a:p>
          <a:p>
            <a:pPr lvl="1"/>
            <a:r>
              <a:rPr lang="en-US" altLang="zh-TW" dirty="0"/>
              <a:t>Complementary estimates perform better recall rate than individual estimates</a:t>
            </a:r>
            <a:endParaRPr lang="zh-TW" altLang="en-US" dirty="0"/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5672885"/>
      </p:ext>
    </p:extLst>
  </p:cSld>
  <p:clrMapOvr>
    <a:masterClrMapping/>
  </p:clrMapOvr>
</p:sld>
</file>

<file path=ppt/theme/theme1.xml><?xml version="1.0" encoding="utf-8"?>
<a:theme xmlns:a="http://schemas.openxmlformats.org/drawingml/2006/main" name="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佈景主題1" id="{84499EF8-B3CF-49EF-8C27-588E979EA3AC}" vid="{185E0B34-4C48-479A-A23B-D0210B66C092}"/>
    </a:ext>
  </a:extLst>
</a:theme>
</file>

<file path=ppt/theme/theme3.xml><?xml version="1.0" encoding="utf-8"?>
<a:theme xmlns:a="http://schemas.openxmlformats.org/drawingml/2006/main" name="1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_Blends">
  <a:themeElements>
    <a:clrScheme name="1_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1_Blend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1_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Access2">
  <a:themeElements>
    <a:clrScheme name="自然力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1_Acces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solidFill>
            <a:schemeClr val="accent6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1_Acces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Access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_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20140724_James_IC Training Final Project_v2</Template>
  <TotalTime>166552</TotalTime>
  <Words>1114</Words>
  <Application>Microsoft Office PowerPoint</Application>
  <PresentationFormat>如螢幕大小 (4:3)</PresentationFormat>
  <Paragraphs>404</Paragraphs>
  <Slides>16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7</vt:i4>
      </vt:variant>
      <vt:variant>
        <vt:lpstr>投影片標題</vt:lpstr>
      </vt:variant>
      <vt:variant>
        <vt:i4>16</vt:i4>
      </vt:variant>
    </vt:vector>
  </HeadingPairs>
  <TitlesOfParts>
    <vt:vector size="32" baseType="lpstr">
      <vt:lpstr>標楷體</vt:lpstr>
      <vt:lpstr>新細明體</vt:lpstr>
      <vt:lpstr>Arial</vt:lpstr>
      <vt:lpstr>Arial Black</vt:lpstr>
      <vt:lpstr>Calibri</vt:lpstr>
      <vt:lpstr>Cambria Math</vt:lpstr>
      <vt:lpstr>Symbol</vt:lpstr>
      <vt:lpstr>Tahoma</vt:lpstr>
      <vt:lpstr>Wingdings</vt:lpstr>
      <vt:lpstr>20140724_James_IC Training Final Project_v2</vt:lpstr>
      <vt:lpstr>佈景主題1</vt:lpstr>
      <vt:lpstr>1_Access Lab</vt:lpstr>
      <vt:lpstr>2_Access Lab</vt:lpstr>
      <vt:lpstr>1_Blends</vt:lpstr>
      <vt:lpstr>Access2</vt:lpstr>
      <vt:lpstr>2_20140724_James_IC Training Final Project_v2</vt:lpstr>
      <vt:lpstr>Segmented Angular Pre-Processing for Accurate and Efficient In-Memory VSS</vt:lpstr>
      <vt:lpstr>Outline</vt:lpstr>
      <vt:lpstr>Observation of Hamming Distance</vt:lpstr>
      <vt:lpstr>Hamming Distance &amp; Cosine Distance</vt:lpstr>
      <vt:lpstr>Hamming Distance &amp; Cosine Distance</vt:lpstr>
      <vt:lpstr>Hamming Distance &amp; Cosine Distance</vt:lpstr>
      <vt:lpstr>Estimation of Weights</vt:lpstr>
      <vt:lpstr>Estimation of Weights</vt:lpstr>
      <vt:lpstr>Estimation of Weights</vt:lpstr>
      <vt:lpstr>Estimation of Weights</vt:lpstr>
      <vt:lpstr>Preprocessing with Angle &amp; Range</vt:lpstr>
      <vt:lpstr>Codeword Generation</vt:lpstr>
      <vt:lpstr>Results</vt:lpstr>
      <vt:lpstr>Results (GloVe)</vt:lpstr>
      <vt:lpstr>Results (NYTimes &amp; COCO-T2I)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Training  Final Project</dc:title>
  <dc:creator>user</dc:creator>
  <cp:lastModifiedBy>access</cp:lastModifiedBy>
  <cp:revision>1884</cp:revision>
  <cp:lastPrinted>2025-05-02T08:25:41Z</cp:lastPrinted>
  <dcterms:created xsi:type="dcterms:W3CDTF">2014-07-23T04:37:50Z</dcterms:created>
  <dcterms:modified xsi:type="dcterms:W3CDTF">2026-03-02T05:13:05Z</dcterms:modified>
</cp:coreProperties>
</file>